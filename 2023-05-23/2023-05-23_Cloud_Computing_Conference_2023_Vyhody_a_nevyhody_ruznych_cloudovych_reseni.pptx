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y="5143500" cx="9144000"/>
  <p:notesSz cx="6858000" cy="9144000"/>
  <p:embeddedFontLst>
    <p:embeddedFont>
      <p:font typeface="IBM Plex Sans"/>
      <p:regular r:id="rId38"/>
      <p:bold r:id="rId39"/>
      <p:italic r:id="rId40"/>
      <p:boldItalic r:id="rId41"/>
    </p:embeddedFont>
    <p:embeddedFont>
      <p:font typeface="Overpass"/>
      <p:regular r:id="rId42"/>
      <p:bold r:id="rId43"/>
      <p:italic r:id="rId44"/>
      <p:boldItalic r:id="rId45"/>
    </p:embeddedFont>
    <p:embeddedFont>
      <p:font typeface="IBM Plex Mono SemiBold"/>
      <p:regular r:id="rId46"/>
      <p:bold r:id="rId47"/>
      <p:italic r:id="rId48"/>
      <p:boldItalic r:id="rId49"/>
    </p:embeddedFont>
    <p:embeddedFont>
      <p:font typeface="Overpass SemiBold"/>
      <p:regular r:id="rId50"/>
      <p:bold r:id="rId51"/>
      <p:italic r:id="rId52"/>
      <p:boldItalic r:id="rId53"/>
    </p:embeddedFont>
    <p:embeddedFont>
      <p:font typeface="IBM Plex Mon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BMPlexSans-italic.fntdata"/><Relationship Id="rId42" Type="http://schemas.openxmlformats.org/officeDocument/2006/relationships/font" Target="fonts/Overpass-regular.fntdata"/><Relationship Id="rId41" Type="http://schemas.openxmlformats.org/officeDocument/2006/relationships/font" Target="fonts/IBMPlexSans-boldItalic.fntdata"/><Relationship Id="rId44" Type="http://schemas.openxmlformats.org/officeDocument/2006/relationships/font" Target="fonts/Overpass-italic.fntdata"/><Relationship Id="rId43" Type="http://schemas.openxmlformats.org/officeDocument/2006/relationships/font" Target="fonts/Overpass-bold.fntdata"/><Relationship Id="rId46" Type="http://schemas.openxmlformats.org/officeDocument/2006/relationships/font" Target="fonts/IBMPlexMonoSemiBold-regular.fntdata"/><Relationship Id="rId45" Type="http://schemas.openxmlformats.org/officeDocument/2006/relationships/font" Target="fonts/Overpas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IBMPlexMonoSemiBold-italic.fntdata"/><Relationship Id="rId47" Type="http://schemas.openxmlformats.org/officeDocument/2006/relationships/font" Target="fonts/IBMPlexMonoSemiBold-bold.fntdata"/><Relationship Id="rId49" Type="http://schemas.openxmlformats.org/officeDocument/2006/relationships/font" Target="fonts/IBMPlexMonoSemiBold-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font" Target="fonts/IBMPlexSans-bold.fntdata"/><Relationship Id="rId38" Type="http://schemas.openxmlformats.org/officeDocument/2006/relationships/font" Target="fonts/IBMPlexSans-regular.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OverpassSemiBold-bold.fntdata"/><Relationship Id="rId50" Type="http://schemas.openxmlformats.org/officeDocument/2006/relationships/font" Target="fonts/OverpassSemiBold-regular.fntdata"/><Relationship Id="rId53" Type="http://schemas.openxmlformats.org/officeDocument/2006/relationships/font" Target="fonts/OverpassSemiBold-boldItalic.fntdata"/><Relationship Id="rId52" Type="http://schemas.openxmlformats.org/officeDocument/2006/relationships/font" Target="fonts/OverpassSemiBold-italic.fntdata"/><Relationship Id="rId11" Type="http://schemas.openxmlformats.org/officeDocument/2006/relationships/slide" Target="slides/slide7.xml"/><Relationship Id="rId55" Type="http://schemas.openxmlformats.org/officeDocument/2006/relationships/font" Target="fonts/IBMPlexMono-bold.fntdata"/><Relationship Id="rId10" Type="http://schemas.openxmlformats.org/officeDocument/2006/relationships/slide" Target="slides/slide6.xml"/><Relationship Id="rId54" Type="http://schemas.openxmlformats.org/officeDocument/2006/relationships/font" Target="fonts/IBMPlexMono-regular.fntdata"/><Relationship Id="rId13" Type="http://schemas.openxmlformats.org/officeDocument/2006/relationships/slide" Target="slides/slide9.xml"/><Relationship Id="rId57" Type="http://schemas.openxmlformats.org/officeDocument/2006/relationships/font" Target="fonts/IBMPlexMono-boldItalic.fntdata"/><Relationship Id="rId12" Type="http://schemas.openxmlformats.org/officeDocument/2006/relationships/slide" Target="slides/slide8.xml"/><Relationship Id="rId56" Type="http://schemas.openxmlformats.org/officeDocument/2006/relationships/font" Target="fonts/IBMPlexMono-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4855d5c3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24855d5c3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1602946da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1602946da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4855d5c306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4855d5c306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4855d5c306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4855d5c306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4855d5c306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4855d5c306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4855d5c306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4855d5c306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4855d5c306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4855d5c306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4855d5c306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4855d5c306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4855d5c306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4855d5c306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4855d5c306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4855d5c306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4855d5c306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4855d5c306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4855d5c306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4855d5c306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4855d5c306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4855d5c306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4855d5c306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4855d5c306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4855d5c306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4855d5c306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4855d5c306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4855d5c306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4855d5c306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4855d5c306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4855d5c306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4855d5c306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4855d5c30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4855d5c30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4855d5c306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4855d5c306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4855d5c306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4855d5c306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4855d5c306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4855d5c306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4855d5c306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4855d5c306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4855d5c306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4855d5c306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4855d5c306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4855d5c306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4855d5c306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4855d5c306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4855d5c306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4855d5c306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4855d5c306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4855d5c306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4855d5c306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4855d5c306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4855d5c306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4855d5c306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4855d5c306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4855d5c306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10e1a2473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10e1a2473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602946da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1602946da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Font typeface="Overpass"/>
              <a:buNone/>
              <a:defRPr sz="2800">
                <a:latin typeface="Overpass"/>
                <a:ea typeface="Overpass"/>
                <a:cs typeface="Overpass"/>
                <a:sym typeface="Overpas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lvl1pPr indent="-368300" lvl="0" marL="457200" rtl="0">
              <a:spcBef>
                <a:spcPts val="0"/>
              </a:spcBef>
              <a:spcAft>
                <a:spcPts val="0"/>
              </a:spcAft>
              <a:buSzPts val="2200"/>
              <a:buChar char="■"/>
              <a:defRPr sz="2200"/>
            </a:lvl1pPr>
            <a:lvl2pPr indent="-342900" lvl="1" marL="914400" rtl="0">
              <a:spcBef>
                <a:spcPts val="1600"/>
              </a:spcBef>
              <a:spcAft>
                <a:spcPts val="0"/>
              </a:spcAft>
              <a:buSzPts val="1800"/>
              <a:buChar char="◻"/>
              <a:defRPr sz="1800"/>
            </a:lvl2pPr>
            <a:lvl3pPr indent="-330200" lvl="2" marL="1371600" rtl="0">
              <a:spcBef>
                <a:spcPts val="1600"/>
              </a:spcBef>
              <a:spcAft>
                <a:spcPts val="0"/>
              </a:spcAft>
              <a:buSzPts val="1600"/>
              <a:buChar char="▫"/>
              <a:defRPr sz="1600"/>
            </a:lvl3pPr>
            <a:lvl4pPr indent="-330200" lvl="3" marL="1828800" rtl="0">
              <a:spcBef>
                <a:spcPts val="1600"/>
              </a:spcBef>
              <a:spcAft>
                <a:spcPts val="0"/>
              </a:spcAft>
              <a:buSzPts val="1600"/>
              <a:buChar char="▫"/>
              <a:defRPr sz="1600"/>
            </a:lvl4pPr>
            <a:lvl5pPr indent="-330200" lvl="4" marL="2286000" rtl="0">
              <a:spcBef>
                <a:spcPts val="1600"/>
              </a:spcBef>
              <a:spcAft>
                <a:spcPts val="0"/>
              </a:spcAft>
              <a:buSzPts val="1600"/>
              <a:buChar char="▫"/>
              <a:defRPr sz="1600"/>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147950"/>
            <a:ext cx="58749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82485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Font typeface="Overpass SemiBold"/>
              <a:buNone/>
              <a:defRPr sz="2100">
                <a:latin typeface="Overpass SemiBold"/>
                <a:ea typeface="Overpass SemiBold"/>
                <a:cs typeface="Overpass SemiBold"/>
                <a:sym typeface="Overpass SemiBold"/>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Font typeface="Overpass"/>
              <a:buNone/>
              <a:defRPr>
                <a:latin typeface="Overpass"/>
                <a:ea typeface="Overpass"/>
                <a:cs typeface="Overpass"/>
                <a:sym typeface="Overpass"/>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0.jpg"/><Relationship Id="rId2" Type="http://schemas.openxmlformats.org/officeDocument/2006/relationships/hyperlink" Target="mailto:hi@sikalabs.com" TargetMode="External"/><Relationship Id="rId3" Type="http://schemas.openxmlformats.org/officeDocument/2006/relationships/hyperlink" Target="https://sikalabs.com" TargetMode="External"/><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05250"/>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E1E1E1"/>
              </a:buClr>
              <a:buSzPts val="2500"/>
              <a:buFont typeface="IBM Plex Mono"/>
              <a:buNone/>
              <a:defRPr b="1" sz="2500">
                <a:solidFill>
                  <a:srgbClr val="E1E1E1"/>
                </a:solidFill>
                <a:latin typeface="IBM Plex Mono"/>
                <a:ea typeface="IBM Plex Mono"/>
                <a:cs typeface="IBM Plex Mono"/>
                <a:sym typeface="IBM Plex Mon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250138"/>
            <a:ext cx="7929000" cy="29409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rgbClr val="C8BFB0"/>
              </a:buClr>
              <a:buSzPts val="1800"/>
              <a:buFont typeface="IBM Plex Sans"/>
              <a:buChar char="■"/>
              <a:defRPr sz="1800">
                <a:solidFill>
                  <a:srgbClr val="E1E1E1"/>
                </a:solidFill>
                <a:latin typeface="IBM Plex Sans"/>
                <a:ea typeface="IBM Plex Sans"/>
                <a:cs typeface="IBM Plex Sans"/>
                <a:sym typeface="IBM Plex Sans"/>
              </a:defRPr>
            </a:lvl1pPr>
            <a:lvl2pPr indent="-317500" lvl="1" marL="9144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2pPr>
            <a:lvl3pPr indent="-317500" lvl="2" marL="13716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3pPr>
            <a:lvl4pPr indent="-317500" lvl="3" marL="1828800" rtl="0">
              <a:lnSpc>
                <a:spcPct val="115000"/>
              </a:lnSpc>
              <a:spcBef>
                <a:spcPts val="1600"/>
              </a:spcBef>
              <a:spcAft>
                <a:spcPts val="0"/>
              </a:spcAft>
              <a:buClr>
                <a:srgbClr val="E1E1E1"/>
              </a:buClr>
              <a:buSzPts val="1400"/>
              <a:buFont typeface="IBM Plex Sans"/>
              <a:buChar char="▫"/>
              <a:defRPr>
                <a:solidFill>
                  <a:srgbClr val="E1E1E1"/>
                </a:solidFill>
                <a:latin typeface="IBM Plex Sans"/>
                <a:ea typeface="IBM Plex Sans"/>
                <a:cs typeface="IBM Plex Sans"/>
                <a:sym typeface="IBM Plex Sans"/>
              </a:defRPr>
            </a:lvl4pPr>
            <a:lvl5pPr indent="-317500" lvl="4" marL="22860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5pPr>
            <a:lvl6pPr indent="-317500" lvl="5" marL="27432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6pPr>
            <a:lvl7pPr indent="-317500" lvl="6" marL="32004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7pPr>
            <a:lvl8pPr indent="-317500" lvl="7" marL="36576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8pPr>
            <a:lvl9pPr indent="-317500" lvl="8" marL="4114800" rtl="0">
              <a:lnSpc>
                <a:spcPct val="115000"/>
              </a:lnSpc>
              <a:spcBef>
                <a:spcPts val="1600"/>
              </a:spcBef>
              <a:spcAft>
                <a:spcPts val="1600"/>
              </a:spcAft>
              <a:buClr>
                <a:srgbClr val="C8BFB0"/>
              </a:buClr>
              <a:buSzPts val="1400"/>
              <a:buFont typeface="IBM Plex Sans"/>
              <a:buChar char="▫"/>
              <a:defRPr>
                <a:solidFill>
                  <a:srgbClr val="E1E1E1"/>
                </a:solidFill>
                <a:latin typeface="IBM Plex Sans"/>
                <a:ea typeface="IBM Plex Sans"/>
                <a:cs typeface="IBM Plex Sans"/>
                <a:sym typeface="IBM Plex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311700" y="703375"/>
            <a:ext cx="7033800" cy="567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rgbClr val="808080"/>
                </a:solidFill>
                <a:latin typeface="IBM Plex Mono SemiBold"/>
                <a:ea typeface="IBM Plex Mono SemiBold"/>
                <a:cs typeface="IBM Plex Mono SemiBold"/>
                <a:sym typeface="IBM Plex Mono SemiBold"/>
              </a:defRPr>
            </a:lvl1pPr>
            <a:lvl2pPr lvl="1" rtl="0">
              <a:spcBef>
                <a:spcPts val="0"/>
              </a:spcBef>
              <a:spcAft>
                <a:spcPts val="0"/>
              </a:spcAft>
              <a:buNone/>
              <a:defRPr>
                <a:latin typeface="Arial"/>
                <a:ea typeface="Arial"/>
                <a:cs typeface="Arial"/>
                <a:sym typeface="Arial"/>
              </a:defRPr>
            </a:lvl2pPr>
            <a:lvl3pPr lvl="2" rtl="0">
              <a:spcBef>
                <a:spcPts val="0"/>
              </a:spcBef>
              <a:spcAft>
                <a:spcPts val="0"/>
              </a:spcAft>
              <a:buNone/>
              <a:defRPr>
                <a:latin typeface="Arial"/>
                <a:ea typeface="Arial"/>
                <a:cs typeface="Arial"/>
                <a:sym typeface="Arial"/>
              </a:defRPr>
            </a:lvl3pPr>
            <a:lvl4pPr lvl="3" rtl="0">
              <a:spcBef>
                <a:spcPts val="0"/>
              </a:spcBef>
              <a:spcAft>
                <a:spcPts val="0"/>
              </a:spcAft>
              <a:buNone/>
              <a:defRPr>
                <a:latin typeface="Arial"/>
                <a:ea typeface="Arial"/>
                <a:cs typeface="Arial"/>
                <a:sym typeface="Arial"/>
              </a:defRPr>
            </a:lvl4pPr>
            <a:lvl5pPr lvl="4" rtl="0">
              <a:spcBef>
                <a:spcPts val="0"/>
              </a:spcBef>
              <a:spcAft>
                <a:spcPts val="0"/>
              </a:spcAft>
              <a:buNone/>
              <a:defRPr>
                <a:latin typeface="Arial"/>
                <a:ea typeface="Arial"/>
                <a:cs typeface="Arial"/>
                <a:sym typeface="Arial"/>
              </a:defRPr>
            </a:lvl5pPr>
            <a:lvl6pPr lvl="5" rtl="0">
              <a:spcBef>
                <a:spcPts val="0"/>
              </a:spcBef>
              <a:spcAft>
                <a:spcPts val="0"/>
              </a:spcAft>
              <a:buNone/>
              <a:defRPr>
                <a:latin typeface="Arial"/>
                <a:ea typeface="Arial"/>
                <a:cs typeface="Arial"/>
                <a:sym typeface="Arial"/>
              </a:defRPr>
            </a:lvl6pPr>
            <a:lvl7pPr lvl="6" rtl="0">
              <a:spcBef>
                <a:spcPts val="0"/>
              </a:spcBef>
              <a:spcAft>
                <a:spcPts val="0"/>
              </a:spcAft>
              <a:buNone/>
              <a:defRPr>
                <a:latin typeface="Arial"/>
                <a:ea typeface="Arial"/>
                <a:cs typeface="Arial"/>
                <a:sym typeface="Arial"/>
              </a:defRPr>
            </a:lvl7pPr>
            <a:lvl8pPr lvl="7" rtl="0">
              <a:spcBef>
                <a:spcPts val="0"/>
              </a:spcBef>
              <a:spcAft>
                <a:spcPts val="0"/>
              </a:spcAft>
              <a:buNone/>
              <a:defRPr>
                <a:latin typeface="Arial"/>
                <a:ea typeface="Arial"/>
                <a:cs typeface="Arial"/>
                <a:sym typeface="Arial"/>
              </a:defRPr>
            </a:lvl8pPr>
            <a:lvl9pPr lvl="8" rtl="0">
              <a:spcBef>
                <a:spcPts val="0"/>
              </a:spcBef>
              <a:spcAft>
                <a:spcPts val="0"/>
              </a:spcAft>
              <a:buNone/>
              <a:defRPr>
                <a:latin typeface="Arial"/>
                <a:ea typeface="Arial"/>
                <a:cs typeface="Arial"/>
                <a:sym typeface="Arial"/>
              </a:defRPr>
            </a:lvl9pPr>
          </a:lstStyle>
          <a:p/>
        </p:txBody>
      </p:sp>
      <p:sp>
        <p:nvSpPr>
          <p:cNvPr id="10" name="Google Shape;10;p1"/>
          <p:cNvSpPr txBox="1"/>
          <p:nvPr/>
        </p:nvSpPr>
        <p:spPr>
          <a:xfrm>
            <a:off x="311700" y="4663225"/>
            <a:ext cx="61497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1E1E1"/>
                </a:solidFill>
                <a:latin typeface="IBM Plex Sans"/>
                <a:ea typeface="IBM Plex Sans"/>
                <a:cs typeface="IBM Plex Sans"/>
                <a:sym typeface="IBM Plex Sans"/>
              </a:rPr>
              <a:t>SikaLabs s.r.o.          </a:t>
            </a:r>
            <a:r>
              <a:rPr b="1" lang="en" sz="1200">
                <a:solidFill>
                  <a:schemeClr val="hlink"/>
                </a:solidFill>
                <a:uFill>
                  <a:noFill/>
                </a:uFill>
                <a:latin typeface="IBM Plex Sans"/>
                <a:ea typeface="IBM Plex Sans"/>
                <a:cs typeface="IBM Plex Sans"/>
                <a:sym typeface="IBM Plex Sans"/>
                <a:hlinkClick r:id="rId2"/>
              </a:rPr>
              <a:t>hi@sikalabs.com</a:t>
            </a:r>
            <a:r>
              <a:rPr b="1" lang="en" sz="1200">
                <a:latin typeface="IBM Plex Sans"/>
                <a:ea typeface="IBM Plex Sans"/>
                <a:cs typeface="IBM Plex Sans"/>
                <a:sym typeface="IBM Plex Sans"/>
              </a:rPr>
              <a:t>          </a:t>
            </a:r>
            <a:r>
              <a:rPr b="1" lang="en" sz="1200">
                <a:solidFill>
                  <a:schemeClr val="hlink"/>
                </a:solidFill>
                <a:uFill>
                  <a:noFill/>
                </a:uFill>
                <a:latin typeface="IBM Plex Sans"/>
                <a:ea typeface="IBM Plex Sans"/>
                <a:cs typeface="IBM Plex Sans"/>
                <a:sym typeface="IBM Plex Sans"/>
                <a:hlinkClick r:id="rId3"/>
              </a:rPr>
              <a:t>sikalabs.com</a:t>
            </a:r>
            <a:endParaRPr b="1" sz="1200">
              <a:solidFill>
                <a:srgbClr val="E1E1E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ondrej@sika.io" TargetMode="External"/><Relationship Id="rId4" Type="http://schemas.openxmlformats.org/officeDocument/2006/relationships/image" Target="../media/image8.png"/><Relationship Id="rId9" Type="http://schemas.openxmlformats.org/officeDocument/2006/relationships/image" Target="../media/image21.png"/><Relationship Id="rId5" Type="http://schemas.openxmlformats.org/officeDocument/2006/relationships/image" Target="../media/image9.png"/><Relationship Id="rId6" Type="http://schemas.openxmlformats.org/officeDocument/2006/relationships/image" Target="../media/image2.png"/><Relationship Id="rId7" Type="http://schemas.openxmlformats.org/officeDocument/2006/relationships/image" Target="../media/image7.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21.png"/><Relationship Id="rId7"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idx="1" type="subTitle"/>
          </p:nvPr>
        </p:nvSpPr>
        <p:spPr>
          <a:xfrm>
            <a:off x="311700" y="3023225"/>
            <a:ext cx="8520600" cy="160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rgbClr val="FFFFFF"/>
                </a:solidFill>
              </a:rPr>
              <a:t>Ondřej Šika</a:t>
            </a:r>
            <a:endParaRPr sz="2400">
              <a:solidFill>
                <a:srgbClr val="FFFFFF"/>
              </a:solidFill>
            </a:endParaRPr>
          </a:p>
          <a:p>
            <a:pPr indent="0" lvl="0" marL="0" rtl="0" algn="l">
              <a:spcBef>
                <a:spcPts val="0"/>
              </a:spcBef>
              <a:spcAft>
                <a:spcPts val="0"/>
              </a:spcAft>
              <a:buClr>
                <a:schemeClr val="dk1"/>
              </a:buClr>
              <a:buSzPts val="1100"/>
              <a:buFont typeface="Arial"/>
              <a:buNone/>
            </a:pPr>
            <a:r>
              <a:rPr lang="en" sz="1200">
                <a:solidFill>
                  <a:srgbClr val="FFFFFF"/>
                </a:solidFill>
              </a:rPr>
              <a:t>Freelance &amp; SikaLabs s.r.o.</a:t>
            </a:r>
            <a:endParaRPr sz="1200">
              <a:solidFill>
                <a:srgbClr val="FFFFFF"/>
              </a:solidFill>
            </a:endParaRPr>
          </a:p>
          <a:p>
            <a:pPr indent="0" lvl="0" marL="0" rtl="0" algn="l">
              <a:spcBef>
                <a:spcPts val="0"/>
              </a:spcBef>
              <a:spcAft>
                <a:spcPts val="0"/>
              </a:spcAft>
              <a:buClr>
                <a:schemeClr val="dk1"/>
              </a:buClr>
              <a:buSzPts val="1100"/>
              <a:buFont typeface="Arial"/>
              <a:buNone/>
            </a:pPr>
            <a:r>
              <a:t/>
            </a:r>
            <a:endParaRPr sz="800">
              <a:solidFill>
                <a:srgbClr val="FFFFFF"/>
              </a:solidFill>
            </a:endParaRPr>
          </a:p>
          <a:p>
            <a:pPr indent="0" lvl="0" marL="0" rtl="0" algn="l">
              <a:spcBef>
                <a:spcPts val="0"/>
              </a:spcBef>
              <a:spcAft>
                <a:spcPts val="0"/>
              </a:spcAft>
              <a:buClr>
                <a:schemeClr val="dk1"/>
              </a:buClr>
              <a:buSzPts val="1100"/>
              <a:buFont typeface="Arial"/>
              <a:buNone/>
            </a:pPr>
            <a:r>
              <a:rPr lang="en" sz="1600">
                <a:solidFill>
                  <a:srgbClr val="FFFFFF"/>
                </a:solidFill>
                <a:uFill>
                  <a:noFill/>
                </a:uFill>
                <a:hlinkClick r:id="rId3">
                  <a:extLst>
                    <a:ext uri="{A12FA001-AC4F-418D-AE19-62706E023703}">
                      <ahyp:hlinkClr val="tx"/>
                    </a:ext>
                  </a:extLst>
                </a:hlinkClick>
              </a:rPr>
              <a:t>ondrej@sika.io</a:t>
            </a:r>
            <a:endParaRPr sz="1600">
              <a:solidFill>
                <a:srgbClr val="FFFFFF"/>
              </a:solidFill>
            </a:endParaRPr>
          </a:p>
          <a:p>
            <a:pPr indent="0" lvl="0" marL="0" rtl="0" algn="l">
              <a:spcBef>
                <a:spcPts val="0"/>
              </a:spcBef>
              <a:spcAft>
                <a:spcPts val="0"/>
              </a:spcAft>
              <a:buClr>
                <a:schemeClr val="dk1"/>
              </a:buClr>
              <a:buSzPts val="1100"/>
              <a:buFont typeface="Arial"/>
              <a:buNone/>
            </a:pPr>
            <a:r>
              <a:rPr lang="en" sz="1600">
                <a:solidFill>
                  <a:srgbClr val="FFFFFF"/>
                </a:solidFill>
              </a:rPr>
              <a:t>@ondrejsika</a:t>
            </a:r>
            <a:endParaRPr sz="1600">
              <a:solidFill>
                <a:srgbClr val="FFFFFF"/>
              </a:solidFill>
            </a:endParaRPr>
          </a:p>
          <a:p>
            <a:pPr indent="0" lvl="0" marL="0" rtl="0" algn="l">
              <a:spcBef>
                <a:spcPts val="0"/>
              </a:spcBef>
              <a:spcAft>
                <a:spcPts val="0"/>
              </a:spcAft>
              <a:buClr>
                <a:schemeClr val="dk1"/>
              </a:buClr>
              <a:buSzPts val="1100"/>
              <a:buFont typeface="Arial"/>
              <a:buNone/>
            </a:pPr>
            <a:r>
              <a:t/>
            </a:r>
            <a:endParaRPr sz="800">
              <a:solidFill>
                <a:srgbClr val="FFFFFF"/>
              </a:solidFill>
            </a:endParaRPr>
          </a:p>
          <a:p>
            <a:pPr indent="0" lvl="0" marL="0" rtl="0" algn="l">
              <a:spcBef>
                <a:spcPts val="0"/>
              </a:spcBef>
              <a:spcAft>
                <a:spcPts val="0"/>
              </a:spcAft>
              <a:buClr>
                <a:schemeClr val="dk1"/>
              </a:buClr>
              <a:buSzPts val="1100"/>
              <a:buFont typeface="Arial"/>
              <a:buNone/>
            </a:pPr>
            <a:r>
              <a:t/>
            </a:r>
            <a:endParaRPr sz="1200">
              <a:solidFill>
                <a:srgbClr val="FFFFFF"/>
              </a:solidFill>
            </a:endParaRPr>
          </a:p>
          <a:p>
            <a:pPr indent="0" lvl="0" marL="0" rtl="0" algn="l">
              <a:spcBef>
                <a:spcPts val="0"/>
              </a:spcBef>
              <a:spcAft>
                <a:spcPts val="0"/>
              </a:spcAft>
              <a:buClr>
                <a:schemeClr val="dk1"/>
              </a:buClr>
              <a:buSzPts val="1100"/>
              <a:buFont typeface="Arial"/>
              <a:buNone/>
            </a:pPr>
            <a:r>
              <a:rPr lang="en" sz="1200">
                <a:solidFill>
                  <a:srgbClr val="FFFFFF"/>
                </a:solidFill>
              </a:rPr>
              <a:t>Cloud Computing Conference</a:t>
            </a:r>
            <a:r>
              <a:rPr lang="en" sz="1200">
                <a:solidFill>
                  <a:srgbClr val="FFFFFF"/>
                </a:solidFill>
              </a:rPr>
              <a:t> 2023, Praha</a:t>
            </a:r>
            <a:r>
              <a:rPr lang="en" sz="1100">
                <a:solidFill>
                  <a:srgbClr val="FFFFFF"/>
                </a:solidFill>
              </a:rPr>
              <a:t>, 23. 5. 2023</a:t>
            </a:r>
            <a:endParaRPr sz="1100">
              <a:solidFill>
                <a:srgbClr val="FFFFFF"/>
              </a:solidFill>
            </a:endParaRPr>
          </a:p>
        </p:txBody>
      </p:sp>
      <p:sp>
        <p:nvSpPr>
          <p:cNvPr id="57" name="Google Shape;57;p13"/>
          <p:cNvSpPr txBox="1"/>
          <p:nvPr>
            <p:ph type="ctrTitle"/>
          </p:nvPr>
        </p:nvSpPr>
        <p:spPr>
          <a:xfrm>
            <a:off x="311700" y="469250"/>
            <a:ext cx="8520600" cy="232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100">
                <a:solidFill>
                  <a:schemeClr val="lt1"/>
                </a:solidFill>
              </a:rPr>
              <a:t>Výhody a nevýhody</a:t>
            </a:r>
            <a:endParaRPr sz="4100">
              <a:solidFill>
                <a:schemeClr val="lt1"/>
              </a:solidFill>
            </a:endParaRPr>
          </a:p>
          <a:p>
            <a:pPr indent="0" lvl="0" marL="0" rtl="0" algn="l">
              <a:spcBef>
                <a:spcPts val="0"/>
              </a:spcBef>
              <a:spcAft>
                <a:spcPts val="0"/>
              </a:spcAft>
              <a:buClr>
                <a:schemeClr val="dk1"/>
              </a:buClr>
              <a:buSzPts val="1100"/>
              <a:buFont typeface="Arial"/>
              <a:buNone/>
            </a:pPr>
            <a:r>
              <a:rPr lang="en" sz="4100">
                <a:solidFill>
                  <a:schemeClr val="lt1"/>
                </a:solidFill>
              </a:rPr>
              <a:t>různých cloudových</a:t>
            </a:r>
            <a:endParaRPr sz="4100">
              <a:solidFill>
                <a:schemeClr val="lt1"/>
              </a:solidFill>
            </a:endParaRPr>
          </a:p>
          <a:p>
            <a:pPr indent="0" lvl="0" marL="0" rtl="0" algn="l">
              <a:spcBef>
                <a:spcPts val="0"/>
              </a:spcBef>
              <a:spcAft>
                <a:spcPts val="0"/>
              </a:spcAft>
              <a:buClr>
                <a:schemeClr val="dk1"/>
              </a:buClr>
              <a:buSzPts val="1100"/>
              <a:buFont typeface="Arial"/>
              <a:buNone/>
            </a:pPr>
            <a:r>
              <a:rPr lang="en" sz="4100">
                <a:solidFill>
                  <a:schemeClr val="lt1"/>
                </a:solidFill>
              </a:rPr>
              <a:t>řešení</a:t>
            </a:r>
            <a:endParaRPr sz="4100">
              <a:solidFill>
                <a:schemeClr val="lt1"/>
              </a:solidFill>
            </a:endParaRPr>
          </a:p>
        </p:txBody>
      </p:sp>
      <p:pic>
        <p:nvPicPr>
          <p:cNvPr id="58" name="Google Shape;58;p13"/>
          <p:cNvPicPr preferRelativeResize="0"/>
          <p:nvPr/>
        </p:nvPicPr>
        <p:blipFill>
          <a:blip r:embed="rId4">
            <a:alphaModFix/>
          </a:blip>
          <a:stretch>
            <a:fillRect/>
          </a:stretch>
        </p:blipFill>
        <p:spPr>
          <a:xfrm>
            <a:off x="5782375" y="1152850"/>
            <a:ext cx="3895025" cy="3990650"/>
          </a:xfrm>
          <a:prstGeom prst="rect">
            <a:avLst/>
          </a:prstGeom>
          <a:noFill/>
          <a:ln>
            <a:noFill/>
          </a:ln>
        </p:spPr>
      </p:pic>
      <p:pic>
        <p:nvPicPr>
          <p:cNvPr id="59" name="Google Shape;59;p13"/>
          <p:cNvPicPr preferRelativeResize="0"/>
          <p:nvPr/>
        </p:nvPicPr>
        <p:blipFill>
          <a:blip r:embed="rId5">
            <a:alphaModFix/>
          </a:blip>
          <a:stretch>
            <a:fillRect/>
          </a:stretch>
        </p:blipFill>
        <p:spPr>
          <a:xfrm>
            <a:off x="5325004" y="2151312"/>
            <a:ext cx="731131" cy="566198"/>
          </a:xfrm>
          <a:prstGeom prst="rect">
            <a:avLst/>
          </a:prstGeom>
          <a:noFill/>
          <a:ln>
            <a:noFill/>
          </a:ln>
        </p:spPr>
      </p:pic>
      <p:pic>
        <p:nvPicPr>
          <p:cNvPr id="60" name="Google Shape;60;p13"/>
          <p:cNvPicPr preferRelativeResize="0"/>
          <p:nvPr/>
        </p:nvPicPr>
        <p:blipFill>
          <a:blip r:embed="rId6">
            <a:alphaModFix/>
          </a:blip>
          <a:stretch>
            <a:fillRect/>
          </a:stretch>
        </p:blipFill>
        <p:spPr>
          <a:xfrm>
            <a:off x="7726300" y="531144"/>
            <a:ext cx="843300" cy="504305"/>
          </a:xfrm>
          <a:prstGeom prst="rect">
            <a:avLst/>
          </a:prstGeom>
          <a:noFill/>
          <a:ln>
            <a:noFill/>
          </a:ln>
        </p:spPr>
      </p:pic>
      <p:pic>
        <p:nvPicPr>
          <p:cNvPr id="61" name="Google Shape;61;p13"/>
          <p:cNvPicPr preferRelativeResize="0"/>
          <p:nvPr/>
        </p:nvPicPr>
        <p:blipFill>
          <a:blip r:embed="rId7">
            <a:alphaModFix/>
          </a:blip>
          <a:stretch>
            <a:fillRect/>
          </a:stretch>
        </p:blipFill>
        <p:spPr>
          <a:xfrm>
            <a:off x="4206437" y="2394014"/>
            <a:ext cx="731126" cy="629211"/>
          </a:xfrm>
          <a:prstGeom prst="rect">
            <a:avLst/>
          </a:prstGeom>
          <a:noFill/>
          <a:ln>
            <a:noFill/>
          </a:ln>
        </p:spPr>
      </p:pic>
      <p:pic>
        <p:nvPicPr>
          <p:cNvPr id="62" name="Google Shape;62;p13"/>
          <p:cNvPicPr preferRelativeResize="0"/>
          <p:nvPr/>
        </p:nvPicPr>
        <p:blipFill>
          <a:blip r:embed="rId8">
            <a:alphaModFix/>
          </a:blip>
          <a:stretch>
            <a:fillRect/>
          </a:stretch>
        </p:blipFill>
        <p:spPr>
          <a:xfrm>
            <a:off x="3972325" y="3395750"/>
            <a:ext cx="1639851" cy="250850"/>
          </a:xfrm>
          <a:prstGeom prst="rect">
            <a:avLst/>
          </a:prstGeom>
          <a:noFill/>
          <a:ln>
            <a:noFill/>
          </a:ln>
        </p:spPr>
      </p:pic>
      <p:pic>
        <p:nvPicPr>
          <p:cNvPr id="63" name="Google Shape;63;p13"/>
          <p:cNvPicPr preferRelativeResize="0"/>
          <p:nvPr/>
        </p:nvPicPr>
        <p:blipFill>
          <a:blip r:embed="rId9">
            <a:alphaModFix/>
          </a:blip>
          <a:stretch>
            <a:fillRect/>
          </a:stretch>
        </p:blipFill>
        <p:spPr>
          <a:xfrm>
            <a:off x="4847025" y="3768122"/>
            <a:ext cx="1052151" cy="1052130"/>
          </a:xfrm>
          <a:prstGeom prst="rect">
            <a:avLst/>
          </a:prstGeom>
          <a:noFill/>
          <a:ln>
            <a:noFill/>
          </a:ln>
        </p:spPr>
      </p:pic>
      <p:pic>
        <p:nvPicPr>
          <p:cNvPr id="64" name="Google Shape;64;p13"/>
          <p:cNvPicPr preferRelativeResize="0"/>
          <p:nvPr/>
        </p:nvPicPr>
        <p:blipFill>
          <a:blip r:embed="rId10">
            <a:alphaModFix/>
          </a:blip>
          <a:stretch>
            <a:fillRect/>
          </a:stretch>
        </p:blipFill>
        <p:spPr>
          <a:xfrm>
            <a:off x="6128575" y="600250"/>
            <a:ext cx="1052150" cy="1052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txBox="1"/>
          <p:nvPr>
            <p:ph idx="1" type="body"/>
          </p:nvPr>
        </p:nvSpPr>
        <p:spPr>
          <a:xfrm>
            <a:off x="311700" y="1250138"/>
            <a:ext cx="7929000" cy="29409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6000"/>
              <a:t>Co je to cloud?</a:t>
            </a:r>
            <a:endParaRPr b="1" sz="6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 je to cloud?</a:t>
            </a:r>
            <a:endParaRPr/>
          </a:p>
        </p:txBody>
      </p:sp>
      <p:sp>
        <p:nvSpPr>
          <p:cNvPr id="76" name="Google Shape;76;p15"/>
          <p:cNvSpPr txBox="1"/>
          <p:nvPr>
            <p:ph idx="1" type="body"/>
          </p:nvPr>
        </p:nvSpPr>
        <p:spPr>
          <a:xfrm>
            <a:off x="311700" y="1152475"/>
            <a:ext cx="5646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Cloud computing is the on-demand availability of computer system resources, especially data storage and computing power, without direct active management by the user.</a:t>
            </a:r>
            <a:endParaRPr sz="2200"/>
          </a:p>
          <a:p>
            <a:pPr indent="0" lvl="0" marL="0" rtl="0" algn="r">
              <a:spcBef>
                <a:spcPts val="1600"/>
              </a:spcBef>
              <a:spcAft>
                <a:spcPts val="1600"/>
              </a:spcAft>
              <a:buNone/>
            </a:pPr>
            <a:r>
              <a:rPr lang="en"/>
              <a:t>– </a:t>
            </a:r>
            <a:r>
              <a:rPr lang="en"/>
              <a:t>https://en.wikipedia.org/wiki/Cloud_computing</a:t>
            </a:r>
            <a:endParaRPr/>
          </a:p>
        </p:txBody>
      </p:sp>
      <p:pic>
        <p:nvPicPr>
          <p:cNvPr id="77" name="Google Shape;77;p15"/>
          <p:cNvPicPr preferRelativeResize="0"/>
          <p:nvPr/>
        </p:nvPicPr>
        <p:blipFill>
          <a:blip r:embed="rId3">
            <a:alphaModFix/>
          </a:blip>
          <a:stretch>
            <a:fillRect/>
          </a:stretch>
        </p:blipFill>
        <p:spPr>
          <a:xfrm>
            <a:off x="6157725" y="603700"/>
            <a:ext cx="2734950" cy="2734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 od cloudu požadujeme?</a:t>
            </a:r>
            <a:endParaRPr/>
          </a:p>
        </p:txBody>
      </p:sp>
      <p:sp>
        <p:nvSpPr>
          <p:cNvPr id="83" name="Google Shape;83;p16"/>
          <p:cNvSpPr txBox="1"/>
          <p:nvPr>
            <p:ph idx="1" type="body"/>
          </p:nvPr>
        </p:nvSpPr>
        <p:spPr>
          <a:xfrm>
            <a:off x="311700" y="1152475"/>
            <a:ext cx="56460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2200"/>
              <a:t>Škálovatelnost</a:t>
            </a:r>
            <a:endParaRPr sz="2200"/>
          </a:p>
          <a:p>
            <a:pPr indent="-368300" lvl="0" marL="457200" rtl="0" algn="l">
              <a:spcBef>
                <a:spcPts val="0"/>
              </a:spcBef>
              <a:spcAft>
                <a:spcPts val="0"/>
              </a:spcAft>
              <a:buSzPts val="2200"/>
              <a:buChar char="-"/>
            </a:pPr>
            <a:r>
              <a:rPr lang="en" sz="2200"/>
              <a:t>Flexibilita</a:t>
            </a:r>
            <a:endParaRPr sz="2200"/>
          </a:p>
          <a:p>
            <a:pPr indent="-368300" lvl="0" marL="457200" rtl="0" algn="l">
              <a:spcBef>
                <a:spcPts val="0"/>
              </a:spcBef>
              <a:spcAft>
                <a:spcPts val="0"/>
              </a:spcAft>
              <a:buSzPts val="2200"/>
              <a:buChar char="-"/>
            </a:pPr>
            <a:r>
              <a:rPr lang="en" sz="2200"/>
              <a:t>Jednoduchá správa</a:t>
            </a:r>
            <a:endParaRPr sz="2200"/>
          </a:p>
          <a:p>
            <a:pPr indent="-368300" lvl="0" marL="457200" rtl="0" algn="l">
              <a:spcBef>
                <a:spcPts val="0"/>
              </a:spcBef>
              <a:spcAft>
                <a:spcPts val="0"/>
              </a:spcAft>
              <a:buSzPts val="2200"/>
              <a:buChar char="-"/>
            </a:pPr>
            <a:r>
              <a:rPr lang="en" sz="2200"/>
              <a:t>Terraform a IaC</a:t>
            </a:r>
            <a:endParaRPr sz="2200"/>
          </a:p>
        </p:txBody>
      </p:sp>
      <p:pic>
        <p:nvPicPr>
          <p:cNvPr id="84" name="Google Shape;84;p16"/>
          <p:cNvPicPr preferRelativeResize="0"/>
          <p:nvPr/>
        </p:nvPicPr>
        <p:blipFill>
          <a:blip r:embed="rId3">
            <a:alphaModFix/>
          </a:blip>
          <a:stretch>
            <a:fillRect/>
          </a:stretch>
        </p:blipFill>
        <p:spPr>
          <a:xfrm>
            <a:off x="6157725" y="603700"/>
            <a:ext cx="2734950" cy="2734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txBox="1"/>
          <p:nvPr>
            <p:ph idx="1" type="body"/>
          </p:nvPr>
        </p:nvSpPr>
        <p:spPr>
          <a:xfrm>
            <a:off x="311700" y="1250138"/>
            <a:ext cx="7929000" cy="29409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6000"/>
              <a:t>Dělení cloudu</a:t>
            </a:r>
            <a:endParaRPr b="1" sz="6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Dělení cloudu</a:t>
            </a:r>
            <a:endParaRPr/>
          </a:p>
        </p:txBody>
      </p:sp>
      <p:sp>
        <p:nvSpPr>
          <p:cNvPr id="96" name="Google Shape;96;p18"/>
          <p:cNvSpPr txBox="1"/>
          <p:nvPr>
            <p:ph idx="1" type="body"/>
          </p:nvPr>
        </p:nvSpPr>
        <p:spPr>
          <a:xfrm>
            <a:off x="311700" y="1250150"/>
            <a:ext cx="86694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Veřejný (public) a soukromý (private) cloud</a:t>
            </a:r>
            <a:endParaRPr/>
          </a:p>
          <a:p>
            <a:pPr indent="-368300" lvl="0" marL="457200" rtl="0" algn="l">
              <a:spcBef>
                <a:spcPts val="0"/>
              </a:spcBef>
              <a:spcAft>
                <a:spcPts val="0"/>
              </a:spcAft>
              <a:buSzPts val="2200"/>
              <a:buChar char="-"/>
            </a:pPr>
            <a:r>
              <a:rPr lang="en"/>
              <a:t>Podle velikosti</a:t>
            </a:r>
            <a:endParaRPr/>
          </a:p>
          <a:p>
            <a:pPr indent="-342900" lvl="1" marL="914400" rtl="0" algn="l">
              <a:spcBef>
                <a:spcPts val="0"/>
              </a:spcBef>
              <a:spcAft>
                <a:spcPts val="0"/>
              </a:spcAft>
              <a:buSzPts val="1800"/>
              <a:buChar char="-"/>
            </a:pPr>
            <a:r>
              <a:rPr lang="en"/>
              <a:t>velká trojka, menší cloudy, lokální poskytovatelé</a:t>
            </a:r>
            <a:endParaRPr/>
          </a:p>
          <a:p>
            <a:pPr indent="-368300" lvl="0" marL="457200" rtl="0" algn="l">
              <a:spcBef>
                <a:spcPts val="0"/>
              </a:spcBef>
              <a:spcAft>
                <a:spcPts val="0"/>
              </a:spcAft>
              <a:buSzPts val="2200"/>
              <a:buChar char="-"/>
            </a:pPr>
            <a:r>
              <a:rPr lang="en"/>
              <a:t>Podle rozsahu poskytovaných služeb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9"/>
          <p:cNvSpPr txBox="1"/>
          <p:nvPr>
            <p:ph idx="1" type="body"/>
          </p:nvPr>
        </p:nvSpPr>
        <p:spPr>
          <a:xfrm>
            <a:off x="311700" y="1250150"/>
            <a:ext cx="8443500" cy="29409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6000"/>
              <a:t>Veřejný vs privátní</a:t>
            </a:r>
            <a:endParaRPr b="1" sz="6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Public cloud</a:t>
            </a:r>
            <a:endParaRPr/>
          </a:p>
        </p:txBody>
      </p:sp>
      <p:sp>
        <p:nvSpPr>
          <p:cNvPr id="108" name="Google Shape;108;p20"/>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Public cloud is a type of computing where resources are offered by a third-party provider via the internet and shared by organizations and individuals who want to use or purchase them. Some public cloud computing resources are available for free, while customers may pay for other resources through subscription or pay-per-usage pricing models. </a:t>
            </a:r>
            <a:endParaRPr/>
          </a:p>
          <a:p>
            <a:pPr indent="0" lvl="0" marL="0" rtl="0" algn="l">
              <a:spcBef>
                <a:spcPts val="1600"/>
              </a:spcBef>
              <a:spcAft>
                <a:spcPts val="1600"/>
              </a:spcAft>
              <a:buNone/>
            </a:pPr>
            <a:r>
              <a:rPr lang="en" sz="1800"/>
              <a:t>             – https://cloud.google.com/learn/what-is-public-cloud</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Private</a:t>
            </a:r>
            <a:r>
              <a:rPr lang="en"/>
              <a:t> cloud</a:t>
            </a:r>
            <a:endParaRPr/>
          </a:p>
        </p:txBody>
      </p:sp>
      <p:sp>
        <p:nvSpPr>
          <p:cNvPr id="114" name="Google Shape;114;p21"/>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private cloud is a cloud computing environment dedicated to a single organization. Any cloud infrastructure has underlying compute resources like CPU and storage that you provision on demand through a self-service portal. In a private cloud, all resources are isolated and in the control of one organization. </a:t>
            </a:r>
            <a:endParaRPr/>
          </a:p>
          <a:p>
            <a:pPr indent="0" lvl="0" marL="0" rtl="0" algn="r">
              <a:spcBef>
                <a:spcPts val="1600"/>
              </a:spcBef>
              <a:spcAft>
                <a:spcPts val="1600"/>
              </a:spcAft>
              <a:buNone/>
            </a:pPr>
            <a:r>
              <a:rPr lang="en" sz="1800"/>
              <a:t>               	 – </a:t>
            </a:r>
            <a:r>
              <a:rPr lang="en" sz="1800"/>
              <a:t>https://aws.amazon.com/what-is/private-cloud</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Výhody public cloudu</a:t>
            </a:r>
            <a:endParaRPr/>
          </a:p>
        </p:txBody>
      </p:sp>
      <p:sp>
        <p:nvSpPr>
          <p:cNvPr id="120" name="Google Shape;120;p22"/>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Flexibilita a škálovatelnost</a:t>
            </a:r>
            <a:endParaRPr/>
          </a:p>
          <a:p>
            <a:pPr indent="-368300" lvl="0" marL="457200" rtl="0" algn="l">
              <a:spcBef>
                <a:spcPts val="0"/>
              </a:spcBef>
              <a:spcAft>
                <a:spcPts val="0"/>
              </a:spcAft>
              <a:buSzPts val="2200"/>
              <a:buChar char="-"/>
            </a:pPr>
            <a:r>
              <a:rPr lang="en"/>
              <a:t>Nízké náklady na počáteční investici</a:t>
            </a:r>
            <a:endParaRPr/>
          </a:p>
          <a:p>
            <a:pPr indent="-368300" lvl="0" marL="457200" rtl="0" algn="l">
              <a:spcBef>
                <a:spcPts val="0"/>
              </a:spcBef>
              <a:spcAft>
                <a:spcPts val="0"/>
              </a:spcAft>
              <a:buSzPts val="2200"/>
              <a:buChar char="-"/>
            </a:pPr>
            <a:r>
              <a:rPr lang="en"/>
              <a:t>Globální dostupnost</a:t>
            </a:r>
            <a:endParaRPr/>
          </a:p>
          <a:p>
            <a:pPr indent="-368300" lvl="0" marL="457200" rtl="0" algn="l">
              <a:spcBef>
                <a:spcPts val="0"/>
              </a:spcBef>
              <a:spcAft>
                <a:spcPts val="0"/>
              </a:spcAft>
              <a:buSzPts val="2200"/>
              <a:buChar char="-"/>
            </a:pPr>
            <a:r>
              <a:rPr lang="en"/>
              <a:t>Snadná správa</a:t>
            </a:r>
            <a:endParaRPr/>
          </a:p>
          <a:p>
            <a:pPr indent="-368300" lvl="0" marL="457200" rtl="0" algn="l">
              <a:spcBef>
                <a:spcPts val="0"/>
              </a:spcBef>
              <a:spcAft>
                <a:spcPts val="0"/>
              </a:spcAft>
              <a:buSzPts val="2200"/>
              <a:buChar char="-"/>
            </a:pPr>
            <a:r>
              <a:rPr lang="en"/>
              <a:t>Široká nabídka služeb</a:t>
            </a:r>
            <a:endParaRPr/>
          </a:p>
          <a:p>
            <a:pPr indent="-368300" lvl="0" marL="457200" rtl="0" algn="l">
              <a:spcBef>
                <a:spcPts val="0"/>
              </a:spcBef>
              <a:spcAft>
                <a:spcPts val="0"/>
              </a:spcAft>
              <a:buSzPts val="2200"/>
              <a:buChar char="-"/>
            </a:pPr>
            <a:r>
              <a:rPr lang="en"/>
              <a:t>Cena</a:t>
            </a:r>
            <a:endParaRPr/>
          </a:p>
        </p:txBody>
      </p:sp>
      <p:pic>
        <p:nvPicPr>
          <p:cNvPr id="121" name="Google Shape;121;p22"/>
          <p:cNvPicPr preferRelativeResize="0"/>
          <p:nvPr/>
        </p:nvPicPr>
        <p:blipFill>
          <a:blip r:embed="rId3">
            <a:alphaModFix/>
          </a:blip>
          <a:stretch>
            <a:fillRect/>
          </a:stretch>
        </p:blipFill>
        <p:spPr>
          <a:xfrm>
            <a:off x="6145975" y="777950"/>
            <a:ext cx="2609225" cy="1943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Nevýhody</a:t>
            </a:r>
            <a:r>
              <a:rPr lang="en"/>
              <a:t> public cloudu</a:t>
            </a:r>
            <a:endParaRPr/>
          </a:p>
        </p:txBody>
      </p:sp>
      <p:sp>
        <p:nvSpPr>
          <p:cNvPr id="127" name="Google Shape;127;p23"/>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Cena</a:t>
            </a:r>
            <a:endParaRPr/>
          </a:p>
          <a:p>
            <a:pPr indent="-342900" lvl="1" marL="914400" rtl="0" algn="l">
              <a:spcBef>
                <a:spcPts val="0"/>
              </a:spcBef>
              <a:spcAft>
                <a:spcPts val="0"/>
              </a:spcAft>
              <a:buSzPts val="1800"/>
              <a:buChar char="-"/>
            </a:pPr>
            <a:r>
              <a:rPr lang="en"/>
              <a:t>Celková cena</a:t>
            </a:r>
            <a:endParaRPr/>
          </a:p>
          <a:p>
            <a:pPr indent="-342900" lvl="1" marL="914400" rtl="0" algn="l">
              <a:spcBef>
                <a:spcPts val="0"/>
              </a:spcBef>
              <a:spcAft>
                <a:spcPts val="0"/>
              </a:spcAft>
              <a:buSzPts val="1800"/>
              <a:buChar char="-"/>
            </a:pPr>
            <a:r>
              <a:rPr lang="en"/>
              <a:t>Schopnost predikovat cenu</a:t>
            </a:r>
            <a:endParaRPr/>
          </a:p>
          <a:p>
            <a:pPr indent="-368300" lvl="0" marL="457200" rtl="0" algn="l">
              <a:spcBef>
                <a:spcPts val="0"/>
              </a:spcBef>
              <a:spcAft>
                <a:spcPts val="0"/>
              </a:spcAft>
              <a:buSzPts val="2200"/>
              <a:buChar char="-"/>
            </a:pPr>
            <a:r>
              <a:rPr lang="en"/>
              <a:t>Lokální dostupnost</a:t>
            </a:r>
            <a:endParaRPr/>
          </a:p>
          <a:p>
            <a:pPr indent="-368300" lvl="0" marL="457200" rtl="0" algn="l">
              <a:spcBef>
                <a:spcPts val="0"/>
              </a:spcBef>
              <a:spcAft>
                <a:spcPts val="0"/>
              </a:spcAft>
              <a:buSzPts val="2200"/>
              <a:buChar char="-"/>
            </a:pPr>
            <a:r>
              <a:rPr lang="en"/>
              <a:t>Kontrola nad daty</a:t>
            </a:r>
            <a:endParaRPr/>
          </a:p>
          <a:p>
            <a:pPr indent="-368300" lvl="0" marL="457200" rtl="0" algn="l">
              <a:spcBef>
                <a:spcPts val="0"/>
              </a:spcBef>
              <a:spcAft>
                <a:spcPts val="0"/>
              </a:spcAft>
              <a:buSzPts val="2200"/>
              <a:buChar char="-"/>
            </a:pPr>
            <a:r>
              <a:rPr lang="en"/>
              <a:t>Regulace (kde leží data)</a:t>
            </a:r>
            <a:endParaRPr/>
          </a:p>
          <a:p>
            <a:pPr indent="-368300" lvl="0" marL="457200" rtl="0" algn="l">
              <a:spcBef>
                <a:spcPts val="0"/>
              </a:spcBef>
              <a:spcAft>
                <a:spcPts val="0"/>
              </a:spcAft>
              <a:buSzPts val="2200"/>
              <a:buChar char="-"/>
            </a:pPr>
            <a:r>
              <a:rPr lang="en"/>
              <a:t>Vendor lock</a:t>
            </a:r>
            <a:endParaRPr/>
          </a:p>
        </p:txBody>
      </p:sp>
      <p:pic>
        <p:nvPicPr>
          <p:cNvPr id="128" name="Google Shape;128;p23"/>
          <p:cNvPicPr preferRelativeResize="0"/>
          <p:nvPr/>
        </p:nvPicPr>
        <p:blipFill>
          <a:blip r:embed="rId3">
            <a:alphaModFix/>
          </a:blip>
          <a:stretch>
            <a:fillRect/>
          </a:stretch>
        </p:blipFill>
        <p:spPr>
          <a:xfrm>
            <a:off x="6145975" y="777950"/>
            <a:ext cx="2609225" cy="1943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Výhody</a:t>
            </a:r>
            <a:r>
              <a:rPr lang="en"/>
              <a:t> private </a:t>
            </a:r>
            <a:r>
              <a:rPr lang="en"/>
              <a:t>cloudu</a:t>
            </a:r>
            <a:endParaRPr/>
          </a:p>
        </p:txBody>
      </p:sp>
      <p:sp>
        <p:nvSpPr>
          <p:cNvPr id="134" name="Google Shape;134;p24"/>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Cena</a:t>
            </a:r>
            <a:endParaRPr/>
          </a:p>
          <a:p>
            <a:pPr indent="-368300" lvl="0" marL="457200" rtl="0" algn="l">
              <a:spcBef>
                <a:spcPts val="0"/>
              </a:spcBef>
              <a:spcAft>
                <a:spcPts val="0"/>
              </a:spcAft>
              <a:buSzPts val="2200"/>
              <a:buChar char="-"/>
            </a:pPr>
            <a:r>
              <a:rPr lang="en"/>
              <a:t>Nezávislost - celé řešení pod kontrolou</a:t>
            </a:r>
            <a:endParaRPr/>
          </a:p>
          <a:p>
            <a:pPr indent="-368300" lvl="0" marL="457200" rtl="0" algn="l">
              <a:spcBef>
                <a:spcPts val="0"/>
              </a:spcBef>
              <a:spcAft>
                <a:spcPts val="0"/>
              </a:spcAft>
              <a:buSzPts val="2200"/>
              <a:buChar char="-"/>
            </a:pPr>
            <a:r>
              <a:rPr lang="en"/>
              <a:t>Lokální dostupnost</a:t>
            </a:r>
            <a:endParaRPr/>
          </a:p>
          <a:p>
            <a:pPr indent="-368300" lvl="0" marL="457200" rtl="0" algn="l">
              <a:spcBef>
                <a:spcPts val="0"/>
              </a:spcBef>
              <a:spcAft>
                <a:spcPts val="0"/>
              </a:spcAft>
              <a:buSzPts val="2200"/>
              <a:buChar char="-"/>
            </a:pPr>
            <a:r>
              <a:rPr lang="en"/>
              <a:t>Kontrola nad daty, data leží ve firmě</a:t>
            </a:r>
            <a:endParaRPr/>
          </a:p>
        </p:txBody>
      </p:sp>
      <p:pic>
        <p:nvPicPr>
          <p:cNvPr id="135" name="Google Shape;135;p24"/>
          <p:cNvPicPr preferRelativeResize="0"/>
          <p:nvPr/>
        </p:nvPicPr>
        <p:blipFill>
          <a:blip r:embed="rId3">
            <a:alphaModFix/>
          </a:blip>
          <a:stretch>
            <a:fillRect/>
          </a:stretch>
        </p:blipFill>
        <p:spPr>
          <a:xfrm>
            <a:off x="6251225" y="777950"/>
            <a:ext cx="2581074" cy="17215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Nevýhody</a:t>
            </a:r>
            <a:r>
              <a:rPr lang="en"/>
              <a:t> private </a:t>
            </a:r>
            <a:r>
              <a:rPr lang="en"/>
              <a:t>cloudu</a:t>
            </a:r>
            <a:endParaRPr/>
          </a:p>
        </p:txBody>
      </p:sp>
      <p:sp>
        <p:nvSpPr>
          <p:cNvPr id="141" name="Google Shape;141;p25"/>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Náročnější správa, potřeba team který</a:t>
            </a:r>
            <a:br>
              <a:rPr lang="en"/>
            </a:br>
            <a:r>
              <a:rPr lang="en"/>
              <a:t>se o cloud stará (to v public cloudu není)</a:t>
            </a:r>
            <a:endParaRPr/>
          </a:p>
          <a:p>
            <a:pPr indent="-368300" lvl="0" marL="457200" rtl="0" algn="l">
              <a:spcBef>
                <a:spcPts val="0"/>
              </a:spcBef>
              <a:spcAft>
                <a:spcPts val="0"/>
              </a:spcAft>
              <a:buSzPts val="2200"/>
              <a:buChar char="-"/>
            </a:pPr>
            <a:r>
              <a:rPr lang="en"/>
              <a:t>Velká počáteční investice</a:t>
            </a:r>
            <a:endParaRPr/>
          </a:p>
          <a:p>
            <a:pPr indent="-368300" lvl="0" marL="457200" rtl="0" algn="l">
              <a:spcBef>
                <a:spcPts val="0"/>
              </a:spcBef>
              <a:spcAft>
                <a:spcPts val="0"/>
              </a:spcAft>
              <a:buSzPts val="2200"/>
              <a:buChar char="-"/>
            </a:pPr>
            <a:r>
              <a:rPr lang="en"/>
              <a:t>Limitované škálování</a:t>
            </a:r>
            <a:endParaRPr/>
          </a:p>
        </p:txBody>
      </p:sp>
      <p:pic>
        <p:nvPicPr>
          <p:cNvPr id="142" name="Google Shape;142;p25"/>
          <p:cNvPicPr preferRelativeResize="0"/>
          <p:nvPr/>
        </p:nvPicPr>
        <p:blipFill>
          <a:blip r:embed="rId3">
            <a:alphaModFix/>
          </a:blip>
          <a:stretch>
            <a:fillRect/>
          </a:stretch>
        </p:blipFill>
        <p:spPr>
          <a:xfrm>
            <a:off x="6251225" y="777950"/>
            <a:ext cx="2581074" cy="17215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Druhy veřejných cloudů</a:t>
            </a:r>
            <a:endParaRPr/>
          </a:p>
        </p:txBody>
      </p:sp>
      <p:sp>
        <p:nvSpPr>
          <p:cNvPr id="148" name="Google Shape;148;p26"/>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Velká trojka</a:t>
            </a:r>
            <a:endParaRPr/>
          </a:p>
          <a:p>
            <a:pPr indent="-342900" lvl="1" marL="914400" rtl="0" algn="l">
              <a:spcBef>
                <a:spcPts val="0"/>
              </a:spcBef>
              <a:spcAft>
                <a:spcPts val="0"/>
              </a:spcAft>
              <a:buSzPts val="1800"/>
              <a:buChar char="-"/>
            </a:pPr>
            <a:r>
              <a:rPr lang="en"/>
              <a:t>- AWS, Azure a GCP</a:t>
            </a:r>
            <a:endParaRPr/>
          </a:p>
          <a:p>
            <a:pPr indent="-368300" lvl="0" marL="457200" rtl="0" algn="l">
              <a:spcBef>
                <a:spcPts val="0"/>
              </a:spcBef>
              <a:spcAft>
                <a:spcPts val="0"/>
              </a:spcAft>
              <a:buSzPts val="2200"/>
              <a:buChar char="-"/>
            </a:pPr>
            <a:r>
              <a:rPr lang="en"/>
              <a:t>"Menší" cloudy</a:t>
            </a:r>
            <a:endParaRPr/>
          </a:p>
          <a:p>
            <a:pPr indent="-342900" lvl="1" marL="914400" rtl="0" algn="l">
              <a:spcBef>
                <a:spcPts val="0"/>
              </a:spcBef>
              <a:spcAft>
                <a:spcPts val="0"/>
              </a:spcAft>
              <a:buSzPts val="1800"/>
              <a:buChar char="-"/>
            </a:pPr>
            <a:r>
              <a:rPr lang="en"/>
              <a:t>- Digital Ocean, Linode (Akamai), Hetzner, …</a:t>
            </a:r>
            <a:endParaRPr/>
          </a:p>
          <a:p>
            <a:pPr indent="-368300" lvl="0" marL="457200" rtl="0" algn="l">
              <a:spcBef>
                <a:spcPts val="0"/>
              </a:spcBef>
              <a:spcAft>
                <a:spcPts val="0"/>
              </a:spcAft>
              <a:buSzPts val="2200"/>
              <a:buChar char="-"/>
            </a:pPr>
            <a:r>
              <a:rPr lang="en"/>
              <a:t>Lokální poskytovatelé</a:t>
            </a:r>
            <a:endParaRPr/>
          </a:p>
          <a:p>
            <a:pPr indent="-342900" lvl="1" marL="914400" rtl="0" algn="l">
              <a:spcBef>
                <a:spcPts val="0"/>
              </a:spcBef>
              <a:spcAft>
                <a:spcPts val="0"/>
              </a:spcAft>
              <a:buSzPts val="1800"/>
              <a:buChar char="-"/>
            </a:pPr>
            <a:r>
              <a:rPr lang="en"/>
              <a:t>CRA, </a:t>
            </a:r>
            <a:r>
              <a:rPr lang="en"/>
              <a:t>HomeAtCloud</a:t>
            </a:r>
            <a:r>
              <a:rPr lang="en"/>
              <a:t>, WebSupport, …</a:t>
            </a:r>
            <a:endParaRPr/>
          </a:p>
        </p:txBody>
      </p:sp>
      <p:pic>
        <p:nvPicPr>
          <p:cNvPr id="149" name="Google Shape;149;p26"/>
          <p:cNvPicPr preferRelativeResize="0"/>
          <p:nvPr/>
        </p:nvPicPr>
        <p:blipFill>
          <a:blip r:embed="rId3">
            <a:alphaModFix/>
          </a:blip>
          <a:stretch>
            <a:fillRect/>
          </a:stretch>
        </p:blipFill>
        <p:spPr>
          <a:xfrm>
            <a:off x="7755525" y="1433675"/>
            <a:ext cx="1232000" cy="1232000"/>
          </a:xfrm>
          <a:prstGeom prst="rect">
            <a:avLst/>
          </a:prstGeom>
          <a:noFill/>
          <a:ln>
            <a:noFill/>
          </a:ln>
        </p:spPr>
      </p:pic>
      <p:pic>
        <p:nvPicPr>
          <p:cNvPr id="150" name="Google Shape;150;p26"/>
          <p:cNvPicPr preferRelativeResize="0"/>
          <p:nvPr/>
        </p:nvPicPr>
        <p:blipFill>
          <a:blip r:embed="rId4">
            <a:alphaModFix/>
          </a:blip>
          <a:stretch>
            <a:fillRect/>
          </a:stretch>
        </p:blipFill>
        <p:spPr>
          <a:xfrm>
            <a:off x="6433400" y="961039"/>
            <a:ext cx="1144775" cy="684575"/>
          </a:xfrm>
          <a:prstGeom prst="rect">
            <a:avLst/>
          </a:prstGeom>
          <a:noFill/>
          <a:ln>
            <a:noFill/>
          </a:ln>
        </p:spPr>
      </p:pic>
      <p:pic>
        <p:nvPicPr>
          <p:cNvPr id="151" name="Google Shape;151;p26"/>
          <p:cNvPicPr preferRelativeResize="0"/>
          <p:nvPr/>
        </p:nvPicPr>
        <p:blipFill>
          <a:blip r:embed="rId5">
            <a:alphaModFix/>
          </a:blip>
          <a:stretch>
            <a:fillRect/>
          </a:stretch>
        </p:blipFill>
        <p:spPr>
          <a:xfrm>
            <a:off x="6484410" y="2263319"/>
            <a:ext cx="1180974" cy="914551"/>
          </a:xfrm>
          <a:prstGeom prst="rect">
            <a:avLst/>
          </a:prstGeom>
          <a:noFill/>
          <a:ln>
            <a:noFill/>
          </a:ln>
        </p:spPr>
      </p:pic>
      <p:pic>
        <p:nvPicPr>
          <p:cNvPr id="152" name="Google Shape;152;p26"/>
          <p:cNvPicPr preferRelativeResize="0"/>
          <p:nvPr/>
        </p:nvPicPr>
        <p:blipFill>
          <a:blip r:embed="rId6">
            <a:alphaModFix/>
          </a:blip>
          <a:stretch>
            <a:fillRect/>
          </a:stretch>
        </p:blipFill>
        <p:spPr>
          <a:xfrm>
            <a:off x="4814775" y="3782522"/>
            <a:ext cx="1052151" cy="1052130"/>
          </a:xfrm>
          <a:prstGeom prst="rect">
            <a:avLst/>
          </a:prstGeom>
          <a:noFill/>
          <a:ln>
            <a:noFill/>
          </a:ln>
        </p:spPr>
      </p:pic>
      <p:pic>
        <p:nvPicPr>
          <p:cNvPr id="153" name="Google Shape;153;p26"/>
          <p:cNvPicPr preferRelativeResize="0"/>
          <p:nvPr/>
        </p:nvPicPr>
        <p:blipFill>
          <a:blip r:embed="rId7">
            <a:alphaModFix/>
          </a:blip>
          <a:stretch>
            <a:fillRect/>
          </a:stretch>
        </p:blipFill>
        <p:spPr>
          <a:xfrm>
            <a:off x="5381250" y="2885075"/>
            <a:ext cx="1052150" cy="1052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59" name="Google Shape;159;p27"/>
          <p:cNvPicPr preferRelativeResize="0"/>
          <p:nvPr/>
        </p:nvPicPr>
        <p:blipFill>
          <a:blip r:embed="rId3">
            <a:alphaModFix/>
          </a:blip>
          <a:stretch>
            <a:fillRect/>
          </a:stretch>
        </p:blipFill>
        <p:spPr>
          <a:xfrm>
            <a:off x="6288300" y="1149650"/>
            <a:ext cx="2668475" cy="2668475"/>
          </a:xfrm>
          <a:prstGeom prst="rect">
            <a:avLst/>
          </a:prstGeom>
          <a:noFill/>
          <a:ln>
            <a:noFill/>
          </a:ln>
        </p:spPr>
      </p:pic>
      <p:pic>
        <p:nvPicPr>
          <p:cNvPr id="160" name="Google Shape;160;p27"/>
          <p:cNvPicPr preferRelativeResize="0"/>
          <p:nvPr/>
        </p:nvPicPr>
        <p:blipFill>
          <a:blip r:embed="rId4">
            <a:alphaModFix/>
          </a:blip>
          <a:stretch>
            <a:fillRect/>
          </a:stretch>
        </p:blipFill>
        <p:spPr>
          <a:xfrm>
            <a:off x="674000" y="1763318"/>
            <a:ext cx="2703848" cy="1616900"/>
          </a:xfrm>
          <a:prstGeom prst="rect">
            <a:avLst/>
          </a:prstGeom>
          <a:noFill/>
          <a:ln>
            <a:noFill/>
          </a:ln>
        </p:spPr>
      </p:pic>
      <p:pic>
        <p:nvPicPr>
          <p:cNvPr id="161" name="Google Shape;161;p27"/>
          <p:cNvPicPr preferRelativeResize="0"/>
          <p:nvPr/>
        </p:nvPicPr>
        <p:blipFill>
          <a:blip r:embed="rId5">
            <a:alphaModFix/>
          </a:blip>
          <a:stretch>
            <a:fillRect/>
          </a:stretch>
        </p:blipFill>
        <p:spPr>
          <a:xfrm>
            <a:off x="3884674" y="1587550"/>
            <a:ext cx="2314926" cy="17926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Výhody velké trojky</a:t>
            </a:r>
            <a:endParaRPr/>
          </a:p>
        </p:txBody>
      </p:sp>
      <p:sp>
        <p:nvSpPr>
          <p:cNvPr id="167" name="Google Shape;167;p28"/>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Největší škála poskytovaných služeb</a:t>
            </a:r>
            <a:endParaRPr/>
          </a:p>
          <a:p>
            <a:pPr indent="-368300" lvl="0" marL="457200" rtl="0" algn="l">
              <a:spcBef>
                <a:spcPts val="0"/>
              </a:spcBef>
              <a:spcAft>
                <a:spcPts val="0"/>
              </a:spcAft>
              <a:buSzPts val="2200"/>
              <a:buChar char="-"/>
            </a:pPr>
            <a:r>
              <a:rPr lang="en"/>
              <a:t>Nejlepší globální dostupnost</a:t>
            </a:r>
            <a:endParaRPr/>
          </a:p>
          <a:p>
            <a:pPr indent="-368300" lvl="0" marL="457200" rtl="0" algn="l">
              <a:spcBef>
                <a:spcPts val="0"/>
              </a:spcBef>
              <a:spcAft>
                <a:spcPts val="0"/>
              </a:spcAft>
              <a:buSzPts val="2200"/>
              <a:buChar char="-"/>
            </a:pPr>
            <a:r>
              <a:rPr lang="en"/>
              <a:t>Vysoká dostupnost v rámci regionu</a:t>
            </a:r>
            <a:endParaRPr/>
          </a:p>
          <a:p>
            <a:pPr indent="-368300" lvl="0" marL="457200" rtl="0" algn="l">
              <a:spcBef>
                <a:spcPts val="0"/>
              </a:spcBef>
              <a:spcAft>
                <a:spcPts val="0"/>
              </a:spcAft>
              <a:buSzPts val="2200"/>
              <a:buChar char="-"/>
            </a:pPr>
            <a:r>
              <a:rPr lang="en"/>
              <a:t>Enterprise ready</a:t>
            </a:r>
            <a:endParaRPr/>
          </a:p>
          <a:p>
            <a:pPr indent="-368300" lvl="0" marL="457200" rtl="0" algn="l">
              <a:spcBef>
                <a:spcPts val="0"/>
              </a:spcBef>
              <a:spcAft>
                <a:spcPts val="0"/>
              </a:spcAft>
              <a:buSzPts val="2200"/>
              <a:buChar char="-"/>
            </a:pPr>
            <a:r>
              <a:rPr lang="en"/>
              <a:t>IaC a Terraform support</a:t>
            </a:r>
            <a:endParaRPr/>
          </a:p>
        </p:txBody>
      </p:sp>
      <p:pic>
        <p:nvPicPr>
          <p:cNvPr id="168" name="Google Shape;168;p28"/>
          <p:cNvPicPr preferRelativeResize="0"/>
          <p:nvPr/>
        </p:nvPicPr>
        <p:blipFill>
          <a:blip r:embed="rId3">
            <a:alphaModFix/>
          </a:blip>
          <a:stretch>
            <a:fillRect/>
          </a:stretch>
        </p:blipFill>
        <p:spPr>
          <a:xfrm>
            <a:off x="7400825" y="1763300"/>
            <a:ext cx="1616900" cy="1616900"/>
          </a:xfrm>
          <a:prstGeom prst="rect">
            <a:avLst/>
          </a:prstGeom>
          <a:noFill/>
          <a:ln>
            <a:noFill/>
          </a:ln>
        </p:spPr>
      </p:pic>
      <p:pic>
        <p:nvPicPr>
          <p:cNvPr id="169" name="Google Shape;169;p28"/>
          <p:cNvPicPr preferRelativeResize="0"/>
          <p:nvPr/>
        </p:nvPicPr>
        <p:blipFill>
          <a:blip r:embed="rId4">
            <a:alphaModFix/>
          </a:blip>
          <a:stretch>
            <a:fillRect/>
          </a:stretch>
        </p:blipFill>
        <p:spPr>
          <a:xfrm>
            <a:off x="6454400" y="645877"/>
            <a:ext cx="1684575" cy="1007363"/>
          </a:xfrm>
          <a:prstGeom prst="rect">
            <a:avLst/>
          </a:prstGeom>
          <a:noFill/>
          <a:ln>
            <a:noFill/>
          </a:ln>
        </p:spPr>
      </p:pic>
      <p:pic>
        <p:nvPicPr>
          <p:cNvPr id="170" name="Google Shape;170;p28"/>
          <p:cNvPicPr preferRelativeResize="0"/>
          <p:nvPr/>
        </p:nvPicPr>
        <p:blipFill>
          <a:blip r:embed="rId5">
            <a:alphaModFix/>
          </a:blip>
          <a:stretch>
            <a:fillRect/>
          </a:stretch>
        </p:blipFill>
        <p:spPr>
          <a:xfrm>
            <a:off x="5779252" y="2043763"/>
            <a:ext cx="1363599" cy="1055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Nevýhody velké trojky</a:t>
            </a:r>
            <a:endParaRPr/>
          </a:p>
        </p:txBody>
      </p:sp>
      <p:sp>
        <p:nvSpPr>
          <p:cNvPr id="176" name="Google Shape;176;p29"/>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Jsou nejdražší</a:t>
            </a:r>
            <a:endParaRPr/>
          </a:p>
          <a:p>
            <a:pPr indent="-368300" lvl="0" marL="457200" rtl="0" algn="l">
              <a:spcBef>
                <a:spcPts val="0"/>
              </a:spcBef>
              <a:spcAft>
                <a:spcPts val="0"/>
              </a:spcAft>
              <a:buSzPts val="2200"/>
              <a:buChar char="-"/>
            </a:pPr>
            <a:r>
              <a:rPr lang="en"/>
              <a:t>Lokality - Není v ČR</a:t>
            </a:r>
            <a:endParaRPr/>
          </a:p>
          <a:p>
            <a:pPr indent="-342900" lvl="1" marL="914400" rtl="0" algn="l">
              <a:spcBef>
                <a:spcPts val="0"/>
              </a:spcBef>
              <a:spcAft>
                <a:spcPts val="0"/>
              </a:spcAft>
              <a:buSzPts val="1800"/>
              <a:buChar char="-"/>
            </a:pPr>
            <a:r>
              <a:rPr lang="en"/>
              <a:t>Problém s </a:t>
            </a:r>
            <a:r>
              <a:rPr lang="en"/>
              <a:t>legislativou</a:t>
            </a:r>
            <a:endParaRPr/>
          </a:p>
          <a:p>
            <a:pPr indent="-342900" lvl="1" marL="914400" rtl="0" algn="l">
              <a:spcBef>
                <a:spcPts val="0"/>
              </a:spcBef>
              <a:spcAft>
                <a:spcPts val="0"/>
              </a:spcAft>
              <a:buSzPts val="1800"/>
              <a:buChar char="-"/>
            </a:pPr>
            <a:r>
              <a:rPr lang="en"/>
              <a:t>Problém s latencí (nejbližší je Frankfurt)</a:t>
            </a:r>
            <a:endParaRPr/>
          </a:p>
          <a:p>
            <a:pPr indent="-368300" lvl="0" marL="457200" rtl="0" algn="l">
              <a:spcBef>
                <a:spcPts val="0"/>
              </a:spcBef>
              <a:spcAft>
                <a:spcPts val="0"/>
              </a:spcAft>
              <a:buSzPts val="2200"/>
              <a:buChar char="-"/>
            </a:pPr>
            <a:r>
              <a:rPr lang="en"/>
              <a:t>Support je nic moc</a:t>
            </a:r>
            <a:endParaRPr/>
          </a:p>
        </p:txBody>
      </p:sp>
      <p:pic>
        <p:nvPicPr>
          <p:cNvPr id="177" name="Google Shape;177;p29"/>
          <p:cNvPicPr preferRelativeResize="0"/>
          <p:nvPr/>
        </p:nvPicPr>
        <p:blipFill>
          <a:blip r:embed="rId3">
            <a:alphaModFix/>
          </a:blip>
          <a:stretch>
            <a:fillRect/>
          </a:stretch>
        </p:blipFill>
        <p:spPr>
          <a:xfrm>
            <a:off x="7400825" y="1763300"/>
            <a:ext cx="1616900" cy="1616900"/>
          </a:xfrm>
          <a:prstGeom prst="rect">
            <a:avLst/>
          </a:prstGeom>
          <a:noFill/>
          <a:ln>
            <a:noFill/>
          </a:ln>
        </p:spPr>
      </p:pic>
      <p:pic>
        <p:nvPicPr>
          <p:cNvPr id="178" name="Google Shape;178;p29"/>
          <p:cNvPicPr preferRelativeResize="0"/>
          <p:nvPr/>
        </p:nvPicPr>
        <p:blipFill>
          <a:blip r:embed="rId4">
            <a:alphaModFix/>
          </a:blip>
          <a:stretch>
            <a:fillRect/>
          </a:stretch>
        </p:blipFill>
        <p:spPr>
          <a:xfrm>
            <a:off x="6454400" y="645877"/>
            <a:ext cx="1684575" cy="1007363"/>
          </a:xfrm>
          <a:prstGeom prst="rect">
            <a:avLst/>
          </a:prstGeom>
          <a:noFill/>
          <a:ln>
            <a:noFill/>
          </a:ln>
        </p:spPr>
      </p:pic>
      <p:pic>
        <p:nvPicPr>
          <p:cNvPr id="179" name="Google Shape;179;p29"/>
          <p:cNvPicPr preferRelativeResize="0"/>
          <p:nvPr/>
        </p:nvPicPr>
        <p:blipFill>
          <a:blip r:embed="rId5">
            <a:alphaModFix/>
          </a:blip>
          <a:stretch>
            <a:fillRect/>
          </a:stretch>
        </p:blipFill>
        <p:spPr>
          <a:xfrm>
            <a:off x="5779252" y="2043763"/>
            <a:ext cx="1363599" cy="1055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Výhody a nevýhody "menších" cloudů</a:t>
            </a:r>
            <a:endParaRPr/>
          </a:p>
        </p:txBody>
      </p:sp>
      <p:sp>
        <p:nvSpPr>
          <p:cNvPr id="185" name="Google Shape;185;p30"/>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Výhody	</a:t>
            </a:r>
            <a:endParaRPr/>
          </a:p>
          <a:p>
            <a:pPr indent="-368300" lvl="0" marL="457200" rtl="0" algn="l">
              <a:spcBef>
                <a:spcPts val="1600"/>
              </a:spcBef>
              <a:spcAft>
                <a:spcPts val="0"/>
              </a:spcAft>
              <a:buSzPts val="2200"/>
              <a:buChar char="-"/>
            </a:pPr>
            <a:r>
              <a:rPr lang="en"/>
              <a:t>Levnější, než velká trojka</a:t>
            </a:r>
            <a:endParaRPr/>
          </a:p>
          <a:p>
            <a:pPr indent="-368300" lvl="0" marL="457200" rtl="0" algn="l">
              <a:spcBef>
                <a:spcPts val="0"/>
              </a:spcBef>
              <a:spcAft>
                <a:spcPts val="0"/>
              </a:spcAft>
              <a:buSzPts val="2200"/>
              <a:buChar char="-"/>
            </a:pPr>
            <a:r>
              <a:rPr lang="en"/>
              <a:t>Mnohem jednodušší správa</a:t>
            </a:r>
            <a:endParaRPr/>
          </a:p>
          <a:p>
            <a:pPr indent="-368300" lvl="0" marL="457200" rtl="0" algn="l">
              <a:spcBef>
                <a:spcPts val="0"/>
              </a:spcBef>
              <a:spcAft>
                <a:spcPts val="0"/>
              </a:spcAft>
              <a:buSzPts val="2200"/>
              <a:buChar char="-"/>
            </a:pPr>
            <a:r>
              <a:rPr lang="en"/>
              <a:t>Podpora IaC a Terraformu</a:t>
            </a:r>
            <a:endParaRPr/>
          </a:p>
          <a:p>
            <a:pPr indent="-368300" lvl="0" marL="457200" rtl="0" algn="l">
              <a:spcBef>
                <a:spcPts val="0"/>
              </a:spcBef>
              <a:spcAft>
                <a:spcPts val="0"/>
              </a:spcAft>
              <a:buSzPts val="2200"/>
              <a:buChar char="-"/>
            </a:pPr>
            <a:r>
              <a:rPr lang="en"/>
              <a:t>Support je výrazně lepší</a:t>
            </a:r>
            <a:endParaRPr/>
          </a:p>
          <a:p>
            <a:pPr indent="0" lvl="0" marL="0" rtl="0" algn="l">
              <a:spcBef>
                <a:spcPts val="1600"/>
              </a:spcBef>
              <a:spcAft>
                <a:spcPts val="0"/>
              </a:spcAft>
              <a:buNone/>
            </a:pPr>
            <a:r>
              <a:rPr lang="en"/>
              <a:t>Nevýhody</a:t>
            </a:r>
            <a:endParaRPr/>
          </a:p>
          <a:p>
            <a:pPr indent="-368300" lvl="0" marL="457200" rtl="0" algn="l">
              <a:spcBef>
                <a:spcPts val="1600"/>
              </a:spcBef>
              <a:spcAft>
                <a:spcPts val="0"/>
              </a:spcAft>
              <a:buSzPts val="2200"/>
              <a:buChar char="-"/>
            </a:pPr>
            <a:r>
              <a:rPr lang="en">
                <a:solidFill>
                  <a:schemeClr val="hlink"/>
                </a:solidFill>
              </a:rPr>
              <a:t>Výrazně menší nabídka služeb</a:t>
            </a:r>
            <a:r>
              <a:rPr lang="en"/>
              <a:t> </a:t>
            </a:r>
            <a:endParaRPr/>
          </a:p>
        </p:txBody>
      </p:sp>
      <p:pic>
        <p:nvPicPr>
          <p:cNvPr id="186" name="Google Shape;186;p30"/>
          <p:cNvPicPr preferRelativeResize="0"/>
          <p:nvPr/>
        </p:nvPicPr>
        <p:blipFill>
          <a:blip r:embed="rId3">
            <a:alphaModFix/>
          </a:blip>
          <a:stretch>
            <a:fillRect/>
          </a:stretch>
        </p:blipFill>
        <p:spPr>
          <a:xfrm>
            <a:off x="4893550" y="2437725"/>
            <a:ext cx="1644651" cy="1644624"/>
          </a:xfrm>
          <a:prstGeom prst="rect">
            <a:avLst/>
          </a:prstGeom>
          <a:noFill/>
          <a:ln>
            <a:noFill/>
          </a:ln>
        </p:spPr>
      </p:pic>
      <p:pic>
        <p:nvPicPr>
          <p:cNvPr id="187" name="Google Shape;187;p30"/>
          <p:cNvPicPr preferRelativeResize="0"/>
          <p:nvPr/>
        </p:nvPicPr>
        <p:blipFill>
          <a:blip r:embed="rId4">
            <a:alphaModFix/>
          </a:blip>
          <a:stretch>
            <a:fillRect/>
          </a:stretch>
        </p:blipFill>
        <p:spPr>
          <a:xfrm>
            <a:off x="6933650" y="1825975"/>
            <a:ext cx="1898650" cy="1898650"/>
          </a:xfrm>
          <a:prstGeom prst="rect">
            <a:avLst/>
          </a:prstGeom>
          <a:noFill/>
          <a:ln>
            <a:noFill/>
          </a:ln>
        </p:spPr>
      </p:pic>
      <p:pic>
        <p:nvPicPr>
          <p:cNvPr id="188" name="Google Shape;188;p30"/>
          <p:cNvPicPr preferRelativeResize="0"/>
          <p:nvPr/>
        </p:nvPicPr>
        <p:blipFill>
          <a:blip r:embed="rId5">
            <a:alphaModFix/>
          </a:blip>
          <a:stretch>
            <a:fillRect/>
          </a:stretch>
        </p:blipFill>
        <p:spPr>
          <a:xfrm>
            <a:off x="5199943" y="837375"/>
            <a:ext cx="3799200" cy="1141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Lokální cloud poskytovatel musí poskytovat </a:t>
            </a:r>
            <a:r>
              <a:rPr b="1" lang="en"/>
              <a:t>cloud</a:t>
            </a:r>
            <a:r>
              <a:rPr lang="en"/>
              <a:t>.</a:t>
            </a:r>
            <a:endParaRPr/>
          </a:p>
          <a:p>
            <a:pPr indent="0" lvl="0" marL="0" rtl="0" algn="l">
              <a:spcBef>
                <a:spcPts val="1600"/>
              </a:spcBef>
              <a:spcAft>
                <a:spcPts val="0"/>
              </a:spcAft>
              <a:buNone/>
            </a:pPr>
            <a:r>
              <a:rPr lang="en"/>
              <a:t>Na první pohled to vypadá jasně, ale:</a:t>
            </a:r>
            <a:endParaRPr/>
          </a:p>
          <a:p>
            <a:pPr indent="-368300" lvl="0" marL="457200" rtl="0" algn="l">
              <a:spcBef>
                <a:spcPts val="1600"/>
              </a:spcBef>
              <a:spcAft>
                <a:spcPts val="0"/>
              </a:spcAft>
              <a:buSzPts val="2200"/>
              <a:buChar char="-"/>
            </a:pPr>
            <a:r>
              <a:rPr lang="en"/>
              <a:t>Nechceme poskytovat housing ani hardware - chceme cloudové služby - nechceme se starat o HW</a:t>
            </a:r>
            <a:endParaRPr/>
          </a:p>
          <a:p>
            <a:pPr indent="-368300" lvl="0" marL="457200" rtl="0" algn="l">
              <a:spcBef>
                <a:spcPts val="0"/>
              </a:spcBef>
              <a:spcAft>
                <a:spcPts val="0"/>
              </a:spcAft>
              <a:buSzPts val="2200"/>
              <a:buChar char="-"/>
            </a:pPr>
            <a:r>
              <a:rPr lang="en"/>
              <a:t>Chceme mít možnost (automaticky) škálovat</a:t>
            </a:r>
            <a:endParaRPr/>
          </a:p>
          <a:p>
            <a:pPr indent="-368300" lvl="0" marL="457200" rtl="0" algn="l">
              <a:spcBef>
                <a:spcPts val="0"/>
              </a:spcBef>
              <a:spcAft>
                <a:spcPts val="0"/>
              </a:spcAft>
              <a:buSzPts val="2200"/>
              <a:buChar char="-"/>
            </a:pPr>
            <a:r>
              <a:rPr lang="en"/>
              <a:t>Podpora IaC</a:t>
            </a:r>
            <a:endParaRPr/>
          </a:p>
        </p:txBody>
      </p:sp>
      <p:sp>
        <p:nvSpPr>
          <p:cNvPr id="194" name="Google Shape;194;p31"/>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 je lokální cloud provider?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Výhody	</a:t>
            </a:r>
            <a:endParaRPr/>
          </a:p>
          <a:p>
            <a:pPr indent="-368300" lvl="0" marL="457200" rtl="0" algn="l">
              <a:spcBef>
                <a:spcPts val="1600"/>
              </a:spcBef>
              <a:spcAft>
                <a:spcPts val="0"/>
              </a:spcAft>
              <a:buSzPts val="2200"/>
              <a:buChar char="-"/>
            </a:pPr>
            <a:r>
              <a:rPr lang="en"/>
              <a:t>Ceny jsou většinou přívětivé</a:t>
            </a:r>
            <a:endParaRPr/>
          </a:p>
          <a:p>
            <a:pPr indent="-368300" lvl="0" marL="457200" rtl="0" algn="l">
              <a:spcBef>
                <a:spcPts val="0"/>
              </a:spcBef>
              <a:spcAft>
                <a:spcPts val="0"/>
              </a:spcAft>
              <a:buSzPts val="2200"/>
              <a:buChar char="-"/>
            </a:pPr>
            <a:r>
              <a:rPr lang="en"/>
              <a:t>Data jsou v ČR</a:t>
            </a:r>
            <a:endParaRPr/>
          </a:p>
          <a:p>
            <a:pPr indent="-368300" lvl="0" marL="457200" rtl="0" algn="l">
              <a:spcBef>
                <a:spcPts val="0"/>
              </a:spcBef>
              <a:spcAft>
                <a:spcPts val="0"/>
              </a:spcAft>
              <a:buSzPts val="2200"/>
              <a:buChar char="-"/>
            </a:pPr>
            <a:r>
              <a:rPr lang="en"/>
              <a:t>Support je česky</a:t>
            </a:r>
            <a:endParaRPr/>
          </a:p>
          <a:p>
            <a:pPr indent="0" lvl="0" marL="0" rtl="0" algn="l">
              <a:spcBef>
                <a:spcPts val="1600"/>
              </a:spcBef>
              <a:spcAft>
                <a:spcPts val="0"/>
              </a:spcAft>
              <a:buNone/>
            </a:pPr>
            <a:r>
              <a:rPr lang="en"/>
              <a:t>Nevýhody</a:t>
            </a:r>
            <a:endParaRPr/>
          </a:p>
          <a:p>
            <a:pPr indent="-368300" lvl="0" marL="457200" rtl="0" algn="l">
              <a:spcBef>
                <a:spcPts val="1600"/>
              </a:spcBef>
              <a:spcAft>
                <a:spcPts val="0"/>
              </a:spcAft>
              <a:buSzPts val="2200"/>
              <a:buChar char="-"/>
            </a:pPr>
            <a:r>
              <a:rPr lang="en"/>
              <a:t>Menší škálovatelnost</a:t>
            </a:r>
            <a:endParaRPr/>
          </a:p>
          <a:p>
            <a:pPr indent="-368300" lvl="0" marL="457200" rtl="0" algn="l">
              <a:spcBef>
                <a:spcPts val="0"/>
              </a:spcBef>
              <a:spcAft>
                <a:spcPts val="0"/>
              </a:spcAft>
              <a:buSzPts val="2200"/>
              <a:buChar char="-"/>
            </a:pPr>
            <a:r>
              <a:rPr lang="en"/>
              <a:t>Méně služeb než ostatní cloud provideři</a:t>
            </a:r>
            <a:endParaRPr/>
          </a:p>
        </p:txBody>
      </p:sp>
      <p:sp>
        <p:nvSpPr>
          <p:cNvPr id="200" name="Google Shape;200;p32"/>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Výhody a nevýhody lokálních cloudů</a:t>
            </a:r>
            <a:endParaRPr/>
          </a:p>
        </p:txBody>
      </p:sp>
      <p:pic>
        <p:nvPicPr>
          <p:cNvPr id="201" name="Google Shape;201;p32"/>
          <p:cNvPicPr preferRelativeResize="0"/>
          <p:nvPr/>
        </p:nvPicPr>
        <p:blipFill>
          <a:blip r:embed="rId3">
            <a:alphaModFix/>
          </a:blip>
          <a:stretch>
            <a:fillRect/>
          </a:stretch>
        </p:blipFill>
        <p:spPr>
          <a:xfrm>
            <a:off x="6570450" y="205250"/>
            <a:ext cx="2261850" cy="2983725"/>
          </a:xfrm>
          <a:prstGeom prst="rect">
            <a:avLst/>
          </a:prstGeom>
          <a:noFill/>
          <a:ln>
            <a:noFill/>
          </a:ln>
        </p:spPr>
      </p:pic>
      <p:pic>
        <p:nvPicPr>
          <p:cNvPr id="202" name="Google Shape;202;p32"/>
          <p:cNvPicPr preferRelativeResize="0"/>
          <p:nvPr/>
        </p:nvPicPr>
        <p:blipFill>
          <a:blip r:embed="rId4">
            <a:alphaModFix/>
          </a:blip>
          <a:stretch>
            <a:fillRect/>
          </a:stretch>
        </p:blipFill>
        <p:spPr>
          <a:xfrm>
            <a:off x="5024425" y="1880474"/>
            <a:ext cx="3807876" cy="572700"/>
          </a:xfrm>
          <a:prstGeom prst="rect">
            <a:avLst/>
          </a:prstGeom>
          <a:noFill/>
          <a:ln>
            <a:noFill/>
          </a:ln>
        </p:spPr>
      </p:pic>
      <p:pic>
        <p:nvPicPr>
          <p:cNvPr id="203" name="Google Shape;203;p32"/>
          <p:cNvPicPr preferRelativeResize="0"/>
          <p:nvPr/>
        </p:nvPicPr>
        <p:blipFill>
          <a:blip r:embed="rId5">
            <a:alphaModFix/>
          </a:blip>
          <a:stretch>
            <a:fillRect/>
          </a:stretch>
        </p:blipFill>
        <p:spPr>
          <a:xfrm>
            <a:off x="6769075" y="2852000"/>
            <a:ext cx="1986126" cy="647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Pokud chceme stavět privátní cloud, platí to stejné, jako u lokálních cloud providerů - chceme cloud</a:t>
            </a:r>
            <a:endParaRPr/>
          </a:p>
          <a:p>
            <a:pPr indent="-368300" lvl="0" marL="457200" rtl="0" algn="l">
              <a:spcBef>
                <a:spcPts val="0"/>
              </a:spcBef>
              <a:spcAft>
                <a:spcPts val="0"/>
              </a:spcAft>
              <a:buSzPts val="2200"/>
              <a:buChar char="-"/>
            </a:pPr>
            <a:r>
              <a:rPr lang="en"/>
              <a:t>Můžeme stavět i na OpenSource - OpenStack</a:t>
            </a:r>
            <a:endParaRPr/>
          </a:p>
          <a:p>
            <a:pPr indent="-368300" lvl="0" marL="457200" rtl="0" algn="l">
              <a:spcBef>
                <a:spcPts val="0"/>
              </a:spcBef>
              <a:spcAft>
                <a:spcPts val="0"/>
              </a:spcAft>
              <a:buSzPts val="2200"/>
              <a:buChar char="-"/>
            </a:pPr>
            <a:r>
              <a:rPr lang="en"/>
              <a:t>Nejrozšířenější řešení privátních cloudů je VM Ware</a:t>
            </a:r>
            <a:endParaRPr/>
          </a:p>
        </p:txBody>
      </p:sp>
      <p:sp>
        <p:nvSpPr>
          <p:cNvPr id="209" name="Google Shape;209;p33"/>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Privatní cloudy</a:t>
            </a:r>
            <a:endParaRPr/>
          </a:p>
        </p:txBody>
      </p:sp>
      <p:pic>
        <p:nvPicPr>
          <p:cNvPr id="210" name="Google Shape;210;p33"/>
          <p:cNvPicPr preferRelativeResize="0"/>
          <p:nvPr/>
        </p:nvPicPr>
        <p:blipFill>
          <a:blip r:embed="rId3">
            <a:alphaModFix/>
          </a:blip>
          <a:stretch>
            <a:fillRect/>
          </a:stretch>
        </p:blipFill>
        <p:spPr>
          <a:xfrm>
            <a:off x="3907691" y="3121521"/>
            <a:ext cx="1251499" cy="1077025"/>
          </a:xfrm>
          <a:prstGeom prst="rect">
            <a:avLst/>
          </a:prstGeom>
          <a:noFill/>
          <a:ln>
            <a:noFill/>
          </a:ln>
        </p:spPr>
      </p:pic>
      <p:pic>
        <p:nvPicPr>
          <p:cNvPr id="211" name="Google Shape;211;p33"/>
          <p:cNvPicPr preferRelativeResize="0"/>
          <p:nvPr/>
        </p:nvPicPr>
        <p:blipFill>
          <a:blip r:embed="rId4">
            <a:alphaModFix/>
          </a:blip>
          <a:stretch>
            <a:fillRect/>
          </a:stretch>
        </p:blipFill>
        <p:spPr>
          <a:xfrm>
            <a:off x="5630850" y="3424150"/>
            <a:ext cx="3084076" cy="4717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4"/>
          <p:cNvSpPr txBox="1"/>
          <p:nvPr>
            <p:ph idx="1" type="body"/>
          </p:nvPr>
        </p:nvSpPr>
        <p:spPr>
          <a:xfrm>
            <a:off x="311700" y="1250150"/>
            <a:ext cx="8443500" cy="29409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6000"/>
              <a:t>Kombinované řešení</a:t>
            </a:r>
            <a:endParaRPr b="1" sz="6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Velmi často nemáme jen jednoho poskytovatele cloudu</a:t>
            </a:r>
            <a:endParaRPr/>
          </a:p>
          <a:p>
            <a:pPr indent="-368300" lvl="0" marL="457200" rtl="0" algn="l">
              <a:spcBef>
                <a:spcPts val="0"/>
              </a:spcBef>
              <a:spcAft>
                <a:spcPts val="0"/>
              </a:spcAft>
              <a:buSzPts val="2200"/>
              <a:buChar char="-"/>
            </a:pPr>
            <a:r>
              <a:rPr lang="en"/>
              <a:t>Pokud používáme menší cloudy, občas potřebujeme funkcionalitu, kterou poskytuje například jen velká trojka</a:t>
            </a:r>
            <a:endParaRPr/>
          </a:p>
          <a:p>
            <a:pPr indent="-368300" lvl="0" marL="457200" rtl="0" algn="l">
              <a:spcBef>
                <a:spcPts val="0"/>
              </a:spcBef>
              <a:spcAft>
                <a:spcPts val="0"/>
              </a:spcAft>
              <a:buSzPts val="2200"/>
              <a:buChar char="-"/>
            </a:pPr>
            <a:r>
              <a:rPr lang="en"/>
              <a:t>To samé platí pro privátní řešení </a:t>
            </a:r>
            <a:endParaRPr/>
          </a:p>
        </p:txBody>
      </p:sp>
      <p:sp>
        <p:nvSpPr>
          <p:cNvPr id="223" name="Google Shape;223;p35"/>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Kombinované řešení</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6"/>
          <p:cNvSpPr txBox="1"/>
          <p:nvPr>
            <p:ph idx="1" type="body"/>
          </p:nvPr>
        </p:nvSpPr>
        <p:spPr>
          <a:xfrm>
            <a:off x="311700" y="1250150"/>
            <a:ext cx="8443500" cy="29409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6000"/>
              <a:t>Jak si vybrat?</a:t>
            </a:r>
            <a:endParaRPr b="1" sz="6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Cena</a:t>
            </a:r>
            <a:endParaRPr/>
          </a:p>
        </p:txBody>
      </p:sp>
      <p:sp>
        <p:nvSpPr>
          <p:cNvPr id="235" name="Google Shape;235;p37"/>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Cena záleží na mnoha parametrech</a:t>
            </a:r>
            <a:endParaRPr/>
          </a:p>
          <a:p>
            <a:pPr indent="-368300" lvl="1" marL="914400" rtl="0" algn="l">
              <a:spcBef>
                <a:spcPts val="1600"/>
              </a:spcBef>
              <a:spcAft>
                <a:spcPts val="0"/>
              </a:spcAft>
              <a:buSzPts val="2200"/>
              <a:buChar char="-"/>
            </a:pPr>
            <a:r>
              <a:rPr lang="en" sz="2200"/>
              <a:t>Celková velikost řešení</a:t>
            </a:r>
            <a:endParaRPr sz="2200"/>
          </a:p>
          <a:p>
            <a:pPr indent="-368300" lvl="1" marL="914400" rtl="0" algn="l">
              <a:spcBef>
                <a:spcPts val="0"/>
              </a:spcBef>
              <a:spcAft>
                <a:spcPts val="0"/>
              </a:spcAft>
              <a:buSzPts val="2200"/>
              <a:buChar char="-"/>
            </a:pPr>
            <a:r>
              <a:rPr lang="en" sz="2200"/>
              <a:t>Časový horizont</a:t>
            </a:r>
            <a:endParaRPr sz="2200"/>
          </a:p>
          <a:p>
            <a:pPr indent="-368300" lvl="1" marL="914400" rtl="0" algn="l">
              <a:spcBef>
                <a:spcPts val="0"/>
              </a:spcBef>
              <a:spcAft>
                <a:spcPts val="0"/>
              </a:spcAft>
              <a:buSzPts val="2200"/>
              <a:buChar char="-"/>
            </a:pPr>
            <a:r>
              <a:rPr lang="en" sz="2200"/>
              <a:t>Konstantní vs. proměnné požadavky na zdroje</a:t>
            </a:r>
            <a:endParaRPr sz="2200"/>
          </a:p>
          <a:p>
            <a:pPr indent="-368300" lvl="1" marL="914400" rtl="0" algn="l">
              <a:spcBef>
                <a:spcPts val="0"/>
              </a:spcBef>
              <a:spcAft>
                <a:spcPts val="0"/>
              </a:spcAft>
              <a:buSzPts val="2200"/>
              <a:buChar char="-"/>
            </a:pPr>
            <a:r>
              <a:rPr lang="en" sz="2200"/>
              <a:t>Do ceny je nutné započítat i náklady na lidi, kteří se o jednotlivá řešení starají</a:t>
            </a:r>
            <a:endParaRPr sz="2200"/>
          </a:p>
        </p:txBody>
      </p:sp>
      <p:pic>
        <p:nvPicPr>
          <p:cNvPr id="236" name="Google Shape;236;p37"/>
          <p:cNvPicPr preferRelativeResize="0"/>
          <p:nvPr/>
        </p:nvPicPr>
        <p:blipFill>
          <a:blip r:embed="rId3">
            <a:alphaModFix/>
          </a:blip>
          <a:stretch>
            <a:fillRect/>
          </a:stretch>
        </p:blipFill>
        <p:spPr>
          <a:xfrm>
            <a:off x="6766775" y="777950"/>
            <a:ext cx="2065525" cy="1616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Poskytované služby</a:t>
            </a:r>
            <a:endParaRPr/>
          </a:p>
        </p:txBody>
      </p:sp>
      <p:sp>
        <p:nvSpPr>
          <p:cNvPr id="242" name="Google Shape;242;p38"/>
          <p:cNvSpPr txBox="1"/>
          <p:nvPr>
            <p:ph idx="1" type="body"/>
          </p:nvPr>
        </p:nvSpPr>
        <p:spPr>
          <a:xfrm>
            <a:off x="311700" y="1250150"/>
            <a:ext cx="4807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Důležité je zvolit cloud na základě služeb, které budeme využívat</a:t>
            </a:r>
            <a:endParaRPr/>
          </a:p>
          <a:p>
            <a:pPr indent="-368300" lvl="0" marL="457200" rtl="0" algn="l">
              <a:spcBef>
                <a:spcPts val="0"/>
              </a:spcBef>
              <a:spcAft>
                <a:spcPts val="0"/>
              </a:spcAft>
              <a:buSzPts val="2200"/>
              <a:buChar char="-"/>
            </a:pPr>
            <a:r>
              <a:rPr lang="en"/>
              <a:t>Některé služby můžeme provozovat sami (DB, </a:t>
            </a:r>
            <a:r>
              <a:rPr lang="en"/>
              <a:t>Kubernetes</a:t>
            </a:r>
            <a:r>
              <a:rPr lang="en"/>
              <a:t>)</a:t>
            </a:r>
            <a:endParaRPr/>
          </a:p>
          <a:p>
            <a:pPr indent="-368300" lvl="0" marL="457200" rtl="0" algn="l">
              <a:spcBef>
                <a:spcPts val="0"/>
              </a:spcBef>
              <a:spcAft>
                <a:spcPts val="0"/>
              </a:spcAft>
              <a:buSzPts val="2200"/>
              <a:buChar char="-"/>
            </a:pPr>
            <a:r>
              <a:rPr lang="en"/>
              <a:t>Můžeme cloudy kombinovat</a:t>
            </a:r>
            <a:endParaRPr/>
          </a:p>
        </p:txBody>
      </p:sp>
      <p:pic>
        <p:nvPicPr>
          <p:cNvPr id="243" name="Google Shape;243;p38"/>
          <p:cNvPicPr preferRelativeResize="0"/>
          <p:nvPr/>
        </p:nvPicPr>
        <p:blipFill>
          <a:blip r:embed="rId3">
            <a:alphaModFix/>
          </a:blip>
          <a:stretch>
            <a:fillRect/>
          </a:stretch>
        </p:blipFill>
        <p:spPr>
          <a:xfrm>
            <a:off x="5399500" y="1250150"/>
            <a:ext cx="3513450" cy="2087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Lidské zdroje</a:t>
            </a:r>
            <a:endParaRPr/>
          </a:p>
        </p:txBody>
      </p:sp>
      <p:sp>
        <p:nvSpPr>
          <p:cNvPr id="249" name="Google Shape;249;p39"/>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Při výběru řešení je důležité dbát na to,</a:t>
            </a:r>
            <a:br>
              <a:rPr lang="en"/>
            </a:br>
            <a:r>
              <a:rPr lang="en"/>
              <a:t>zda budeme mít dostatek lidi na pokrytí</a:t>
            </a:r>
            <a:br>
              <a:rPr lang="en"/>
            </a:br>
            <a:r>
              <a:rPr lang="en"/>
              <a:t>všech nutných rolí</a:t>
            </a:r>
            <a:endParaRPr/>
          </a:p>
          <a:p>
            <a:pPr indent="0" lvl="0" marL="0" rtl="0" algn="l">
              <a:spcBef>
                <a:spcPts val="1600"/>
              </a:spcBef>
              <a:spcAft>
                <a:spcPts val="1600"/>
              </a:spcAft>
              <a:buNone/>
            </a:pPr>
            <a:r>
              <a:rPr lang="en"/>
              <a:t>Privátní řešení vyžadují mnohem více lidí (a teamů) </a:t>
            </a:r>
            <a:br>
              <a:rPr lang="en"/>
            </a:br>
            <a:r>
              <a:rPr lang="en"/>
              <a:t>s vetěším okruhem nutných znalostí a lidí je na trhu </a:t>
            </a:r>
            <a:br>
              <a:rPr lang="en"/>
            </a:br>
            <a:r>
              <a:rPr lang="en"/>
              <a:t>obecně nedostatek</a:t>
            </a:r>
            <a:endParaRPr/>
          </a:p>
        </p:txBody>
      </p:sp>
      <p:pic>
        <p:nvPicPr>
          <p:cNvPr id="250" name="Google Shape;250;p39"/>
          <p:cNvPicPr preferRelativeResize="0"/>
          <p:nvPr/>
        </p:nvPicPr>
        <p:blipFill>
          <a:blip r:embed="rId3">
            <a:alphaModFix/>
          </a:blip>
          <a:stretch>
            <a:fillRect/>
          </a:stretch>
        </p:blipFill>
        <p:spPr>
          <a:xfrm>
            <a:off x="7171744" y="777950"/>
            <a:ext cx="1660550" cy="1905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0"/>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Bezpečnost</a:t>
            </a:r>
            <a:endParaRPr/>
          </a:p>
        </p:txBody>
      </p:sp>
      <p:sp>
        <p:nvSpPr>
          <p:cNvPr id="256" name="Google Shape;256;p40"/>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 privátní cloud bezpečnější než veřejný?</a:t>
            </a:r>
            <a:endParaRPr/>
          </a:p>
          <a:p>
            <a:pPr indent="-368300" lvl="0" marL="457200" rtl="0" algn="l">
              <a:spcBef>
                <a:spcPts val="1600"/>
              </a:spcBef>
              <a:spcAft>
                <a:spcPts val="0"/>
              </a:spcAft>
              <a:buSzPts val="2200"/>
              <a:buChar char="-"/>
            </a:pPr>
            <a:r>
              <a:rPr b="1" lang="en"/>
              <a:t>Nedá se jednoduše posoudit</a:t>
            </a:r>
            <a:endParaRPr b="1"/>
          </a:p>
          <a:p>
            <a:pPr indent="-368300" lvl="0" marL="457200" rtl="0" algn="l">
              <a:spcBef>
                <a:spcPts val="0"/>
              </a:spcBef>
              <a:spcAft>
                <a:spcPts val="0"/>
              </a:spcAft>
              <a:buSzPts val="2200"/>
              <a:buChar char="-"/>
            </a:pPr>
            <a:r>
              <a:rPr lang="en"/>
              <a:t>Záleží</a:t>
            </a:r>
            <a:r>
              <a:rPr lang="en"/>
              <a:t> na přístupu a práci s oběma typy</a:t>
            </a:r>
            <a:br>
              <a:rPr lang="en"/>
            </a:br>
            <a:r>
              <a:rPr lang="en"/>
              <a:t>cloudu. Obě varianty mohou být velmi</a:t>
            </a:r>
            <a:br>
              <a:rPr lang="en"/>
            </a:br>
            <a:r>
              <a:rPr lang="en"/>
              <a:t>bezpečné, ale i zranitelné různými</a:t>
            </a:r>
            <a:br>
              <a:rPr lang="en"/>
            </a:br>
            <a:r>
              <a:rPr lang="en"/>
              <a:t>vektory útoku</a:t>
            </a:r>
            <a:endParaRPr/>
          </a:p>
        </p:txBody>
      </p:sp>
      <p:pic>
        <p:nvPicPr>
          <p:cNvPr id="257" name="Google Shape;257;p40"/>
          <p:cNvPicPr preferRelativeResize="0"/>
          <p:nvPr/>
        </p:nvPicPr>
        <p:blipFill>
          <a:blip r:embed="rId3">
            <a:alphaModFix/>
          </a:blip>
          <a:stretch>
            <a:fillRect/>
          </a:stretch>
        </p:blipFill>
        <p:spPr>
          <a:xfrm>
            <a:off x="5985021" y="1968800"/>
            <a:ext cx="2770170" cy="29409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1"/>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1"/>
          <p:cNvSpPr txBox="1"/>
          <p:nvPr>
            <p:ph idx="1" type="body"/>
          </p:nvPr>
        </p:nvSpPr>
        <p:spPr>
          <a:xfrm>
            <a:off x="311700" y="1250150"/>
            <a:ext cx="8443500" cy="29409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6000"/>
              <a:t>Shrnutí</a:t>
            </a:r>
            <a:endParaRPr b="1" sz="6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Shrnutí</a:t>
            </a:r>
            <a:endParaRPr/>
          </a:p>
        </p:txBody>
      </p:sp>
      <p:sp>
        <p:nvSpPr>
          <p:cNvPr id="269" name="Google Shape;269;p42"/>
          <p:cNvSpPr txBox="1"/>
          <p:nvPr>
            <p:ph idx="1" type="body"/>
          </p:nvPr>
        </p:nvSpPr>
        <p:spPr>
          <a:xfrm>
            <a:off x="311700" y="1250150"/>
            <a:ext cx="8443500" cy="2940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a:t>Nejde říct, které řešení je lepší - každé má svůj use case</a:t>
            </a:r>
            <a:endParaRPr/>
          </a:p>
          <a:p>
            <a:pPr indent="-368300" lvl="0" marL="457200" rtl="0" algn="l">
              <a:spcBef>
                <a:spcPts val="0"/>
              </a:spcBef>
              <a:spcAft>
                <a:spcPts val="0"/>
              </a:spcAft>
              <a:buSzPts val="2200"/>
              <a:buChar char="-"/>
            </a:pPr>
            <a:r>
              <a:rPr lang="en"/>
              <a:t>Pokud máme malý team a rosteme, public cloud je výborné řešení</a:t>
            </a:r>
            <a:endParaRPr/>
          </a:p>
          <a:p>
            <a:pPr indent="-368300" lvl="0" marL="457200" rtl="0" algn="l">
              <a:spcBef>
                <a:spcPts val="0"/>
              </a:spcBef>
              <a:spcAft>
                <a:spcPts val="0"/>
              </a:spcAft>
              <a:buSzPts val="2200"/>
              <a:buChar char="-"/>
            </a:pPr>
            <a:r>
              <a:rPr lang="en"/>
              <a:t>Pokud máme velké požadavky na zdroje, stabilní a predikovatelnou zátěž, privátní cloud bude lepší řešení</a:t>
            </a:r>
            <a:endParaRPr/>
          </a:p>
          <a:p>
            <a:pPr indent="-368300" lvl="0" marL="457200" rtl="0" algn="l">
              <a:spcBef>
                <a:spcPts val="0"/>
              </a:spcBef>
              <a:spcAft>
                <a:spcPts val="0"/>
              </a:spcAft>
              <a:buSzPts val="2200"/>
              <a:buChar char="-"/>
            </a:pPr>
            <a:r>
              <a:rPr lang="en"/>
              <a:t>Hodně cloudových řešení bude kombinovaných</a:t>
            </a:r>
            <a:endParaRPr/>
          </a:p>
          <a:p>
            <a:pPr indent="-368300" lvl="0" marL="457200" rtl="0" algn="l">
              <a:spcBef>
                <a:spcPts val="0"/>
              </a:spcBef>
              <a:spcAft>
                <a:spcPts val="0"/>
              </a:spcAft>
              <a:buSzPts val="2200"/>
              <a:buChar char="-"/>
            </a:pPr>
            <a:r>
              <a:rPr lang="en"/>
              <a:t>Nezapomínat, že chceme cloud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3"/>
          <p:cNvSpPr txBox="1"/>
          <p:nvPr>
            <p:ph idx="1" type="body"/>
          </p:nvPr>
        </p:nvSpPr>
        <p:spPr>
          <a:xfrm>
            <a:off x="311700" y="1250150"/>
            <a:ext cx="8443500" cy="29409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7500"/>
              <a:t>Díky za pozornost</a:t>
            </a:r>
            <a:endParaRPr b="1" sz="7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4"/>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4"/>
          <p:cNvSpPr txBox="1"/>
          <p:nvPr>
            <p:ph idx="1" type="body"/>
          </p:nvPr>
        </p:nvSpPr>
        <p:spPr>
          <a:xfrm>
            <a:off x="311700" y="1250138"/>
            <a:ext cx="7929000" cy="29409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7500"/>
              <a:t>Otázky?</a:t>
            </a:r>
            <a:endParaRPr b="1" sz="75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ph type="title"/>
          </p:nvPr>
        </p:nvSpPr>
        <p:spPr>
          <a:xfrm>
            <a:off x="283100" y="346650"/>
            <a:ext cx="8518200" cy="420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sz="2200">
                <a:solidFill>
                  <a:srgbClr val="FFFFFF"/>
                </a:solidFill>
              </a:rPr>
              <a:t>Email</a:t>
            </a:r>
            <a:br>
              <a:rPr lang="en">
                <a:solidFill>
                  <a:srgbClr val="FFFFFF"/>
                </a:solidFill>
              </a:rPr>
            </a:br>
            <a:r>
              <a:rPr lang="en" sz="3800">
                <a:solidFill>
                  <a:srgbClr val="FFFFFF"/>
                </a:solidFill>
              </a:rPr>
              <a:t>ondrej</a:t>
            </a:r>
            <a:r>
              <a:rPr lang="en" sz="3800">
                <a:solidFill>
                  <a:srgbClr val="FFFFFF"/>
                </a:solidFill>
              </a:rPr>
              <a:t>@sika.io</a:t>
            </a:r>
            <a:endParaRPr sz="3800">
              <a:solidFill>
                <a:srgbClr val="FFFFFF"/>
              </a:solidFill>
            </a:endParaRPr>
          </a:p>
          <a:p>
            <a:pPr indent="0" lvl="0" marL="0" rtl="0" algn="l">
              <a:spcBef>
                <a:spcPts val="0"/>
              </a:spcBef>
              <a:spcAft>
                <a:spcPts val="0"/>
              </a:spcAft>
              <a:buNone/>
            </a:pPr>
            <a:r>
              <a:t/>
            </a:r>
            <a:endParaRPr sz="1000">
              <a:solidFill>
                <a:srgbClr val="FFFFFF"/>
              </a:solidFill>
            </a:endParaRPr>
          </a:p>
          <a:p>
            <a:pPr indent="0" lvl="0" marL="0" rtl="0" algn="l">
              <a:spcBef>
                <a:spcPts val="0"/>
              </a:spcBef>
              <a:spcAft>
                <a:spcPts val="0"/>
              </a:spcAft>
              <a:buNone/>
            </a:pPr>
            <a:r>
              <a:rPr b="0" lang="en" sz="2200">
                <a:solidFill>
                  <a:schemeClr val="lt1"/>
                </a:solidFill>
              </a:rPr>
              <a:t>Twitter</a:t>
            </a:r>
            <a:endParaRPr b="0" sz="2200">
              <a:solidFill>
                <a:srgbClr val="FFFFFF"/>
              </a:solidFill>
            </a:endParaRPr>
          </a:p>
          <a:p>
            <a:pPr indent="0" lvl="0" marL="0" rtl="0" algn="l">
              <a:spcBef>
                <a:spcPts val="0"/>
              </a:spcBef>
              <a:spcAft>
                <a:spcPts val="0"/>
              </a:spcAft>
              <a:buNone/>
            </a:pPr>
            <a:r>
              <a:rPr lang="en" sz="3800">
                <a:solidFill>
                  <a:schemeClr val="lt1"/>
                </a:solidFill>
              </a:rPr>
              <a:t>@ondrejsika</a:t>
            </a:r>
            <a:endParaRPr sz="3800">
              <a:solidFill>
                <a:schemeClr val="lt1"/>
              </a:solidFill>
            </a:endParaRPr>
          </a:p>
          <a:p>
            <a:pPr indent="0" lvl="0" marL="0" rtl="0" algn="l">
              <a:spcBef>
                <a:spcPts val="0"/>
              </a:spcBef>
              <a:spcAft>
                <a:spcPts val="0"/>
              </a:spcAft>
              <a:buNone/>
            </a:pPr>
            <a:r>
              <a:t/>
            </a:r>
            <a:endParaRPr sz="1000">
              <a:solidFill>
                <a:schemeClr val="lt1"/>
              </a:solidFill>
            </a:endParaRPr>
          </a:p>
          <a:p>
            <a:pPr indent="0" lvl="0" marL="0" rtl="0" algn="l">
              <a:spcBef>
                <a:spcPts val="0"/>
              </a:spcBef>
              <a:spcAft>
                <a:spcPts val="0"/>
              </a:spcAft>
              <a:buNone/>
            </a:pPr>
            <a:r>
              <a:rPr b="0" lang="en" sz="2200">
                <a:solidFill>
                  <a:schemeClr val="lt1"/>
                </a:solidFill>
              </a:rPr>
              <a:t>LinkedIn</a:t>
            </a:r>
            <a:endParaRPr b="0" sz="2200">
              <a:solidFill>
                <a:schemeClr val="lt1"/>
              </a:solidFill>
            </a:endParaRPr>
          </a:p>
          <a:p>
            <a:pPr indent="0" lvl="0" marL="0" rtl="0" algn="l">
              <a:spcBef>
                <a:spcPts val="0"/>
              </a:spcBef>
              <a:spcAft>
                <a:spcPts val="0"/>
              </a:spcAft>
              <a:buNone/>
            </a:pPr>
            <a:r>
              <a:rPr lang="en" sz="3800">
                <a:solidFill>
                  <a:schemeClr val="lt1"/>
                </a:solidFill>
              </a:rPr>
              <a:t>/in/ondrejsika</a:t>
            </a:r>
            <a:endParaRPr sz="3800">
              <a:solidFill>
                <a:schemeClr val="lt1"/>
              </a:solidFill>
            </a:endParaRPr>
          </a:p>
          <a:p>
            <a:pPr indent="0" lvl="0" marL="0" rtl="0" algn="l">
              <a:spcBef>
                <a:spcPts val="0"/>
              </a:spcBef>
              <a:spcAft>
                <a:spcPts val="0"/>
              </a:spcAft>
              <a:buClr>
                <a:schemeClr val="dk1"/>
              </a:buClr>
              <a:buSzPts val="1100"/>
              <a:buFont typeface="Arial"/>
              <a:buNone/>
            </a:pPr>
            <a:r>
              <a:t/>
            </a:r>
            <a:endParaRPr sz="1000">
              <a:solidFill>
                <a:schemeClr val="lt1"/>
              </a:solidFill>
            </a:endParaRPr>
          </a:p>
          <a:p>
            <a:pPr indent="0" lvl="0" marL="0" rtl="0" algn="l">
              <a:spcBef>
                <a:spcPts val="0"/>
              </a:spcBef>
              <a:spcAft>
                <a:spcPts val="0"/>
              </a:spcAft>
              <a:buClr>
                <a:schemeClr val="dk1"/>
              </a:buClr>
              <a:buSzPts val="1100"/>
              <a:buFont typeface="Arial"/>
              <a:buNone/>
            </a:pPr>
            <a:r>
              <a:rPr b="0" lang="en" sz="2200">
                <a:solidFill>
                  <a:schemeClr val="lt1"/>
                </a:solidFill>
              </a:rPr>
              <a:t>Slides</a:t>
            </a:r>
            <a:endParaRPr b="0" sz="2200">
              <a:solidFill>
                <a:schemeClr val="lt1"/>
              </a:solidFill>
            </a:endParaRPr>
          </a:p>
          <a:p>
            <a:pPr indent="0" lvl="0" marL="0" rtl="0" algn="l">
              <a:spcBef>
                <a:spcPts val="0"/>
              </a:spcBef>
              <a:spcAft>
                <a:spcPts val="0"/>
              </a:spcAft>
              <a:buClr>
                <a:schemeClr val="dk1"/>
              </a:buClr>
              <a:buSzPts val="1100"/>
              <a:buFont typeface="Arial"/>
              <a:buNone/>
            </a:pPr>
            <a:r>
              <a:rPr lang="en" sz="4200">
                <a:solidFill>
                  <a:schemeClr val="lt1"/>
                </a:solidFill>
              </a:rPr>
              <a:t>sika.link/slides</a:t>
            </a:r>
            <a:endParaRPr sz="4200">
              <a:solidFill>
                <a:schemeClr val="lt1"/>
              </a:solidFill>
            </a:endParaRPr>
          </a:p>
        </p:txBody>
      </p:sp>
      <p:pic>
        <p:nvPicPr>
          <p:cNvPr id="287" name="Google Shape;287;p45"/>
          <p:cNvPicPr preferRelativeResize="0"/>
          <p:nvPr/>
        </p:nvPicPr>
        <p:blipFill>
          <a:blip r:embed="rId3">
            <a:alphaModFix/>
          </a:blip>
          <a:stretch>
            <a:fillRect/>
          </a:stretch>
        </p:blipFill>
        <p:spPr>
          <a:xfrm>
            <a:off x="5774975" y="1152850"/>
            <a:ext cx="3895025" cy="3990650"/>
          </a:xfrm>
          <a:prstGeom prst="rect">
            <a:avLst/>
          </a:prstGeom>
          <a:noFill/>
          <a:ln>
            <a:noFill/>
          </a:ln>
        </p:spPr>
      </p:pic>
      <p:pic>
        <p:nvPicPr>
          <p:cNvPr id="288" name="Google Shape;288;p45"/>
          <p:cNvPicPr preferRelativeResize="0"/>
          <p:nvPr/>
        </p:nvPicPr>
        <p:blipFill>
          <a:blip r:embed="rId4">
            <a:alphaModFix/>
          </a:blip>
          <a:stretch>
            <a:fillRect/>
          </a:stretch>
        </p:blipFill>
        <p:spPr>
          <a:xfrm>
            <a:off x="4932300" y="652100"/>
            <a:ext cx="1799400" cy="1799400"/>
          </a:xfrm>
          <a:prstGeom prst="rect">
            <a:avLst/>
          </a:prstGeom>
          <a:noFill/>
          <a:ln>
            <a:noFill/>
          </a:ln>
        </p:spPr>
      </p:pic>
      <p:pic>
        <p:nvPicPr>
          <p:cNvPr id="289" name="Google Shape;289;p45"/>
          <p:cNvPicPr preferRelativeResize="0"/>
          <p:nvPr/>
        </p:nvPicPr>
        <p:blipFill>
          <a:blip r:embed="rId4">
            <a:alphaModFix/>
          </a:blip>
          <a:stretch>
            <a:fillRect/>
          </a:stretch>
        </p:blipFill>
        <p:spPr>
          <a:xfrm>
            <a:off x="6503575" y="52400"/>
            <a:ext cx="1227800" cy="1227800"/>
          </a:xfrm>
          <a:prstGeom prst="rect">
            <a:avLst/>
          </a:prstGeom>
          <a:noFill/>
          <a:ln>
            <a:noFill/>
          </a:ln>
        </p:spPr>
      </p:pic>
      <p:pic>
        <p:nvPicPr>
          <p:cNvPr id="290" name="Google Shape;290;p45"/>
          <p:cNvPicPr preferRelativeResize="0"/>
          <p:nvPr/>
        </p:nvPicPr>
        <p:blipFill>
          <a:blip r:embed="rId4">
            <a:alphaModFix/>
          </a:blip>
          <a:stretch>
            <a:fillRect/>
          </a:stretch>
        </p:blipFill>
        <p:spPr>
          <a:xfrm>
            <a:off x="5648250" y="2253300"/>
            <a:ext cx="760975" cy="760975"/>
          </a:xfrm>
          <a:prstGeom prst="rect">
            <a:avLst/>
          </a:prstGeom>
          <a:noFill/>
          <a:ln>
            <a:noFill/>
          </a:ln>
        </p:spPr>
      </p:pic>
      <p:pic>
        <p:nvPicPr>
          <p:cNvPr id="291" name="Google Shape;291;p45"/>
          <p:cNvPicPr preferRelativeResize="0"/>
          <p:nvPr/>
        </p:nvPicPr>
        <p:blipFill>
          <a:blip r:embed="rId4">
            <a:alphaModFix/>
          </a:blip>
          <a:stretch>
            <a:fillRect/>
          </a:stretch>
        </p:blipFill>
        <p:spPr>
          <a:xfrm>
            <a:off x="7993500" y="519225"/>
            <a:ext cx="760975" cy="76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kaLab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E1E1E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