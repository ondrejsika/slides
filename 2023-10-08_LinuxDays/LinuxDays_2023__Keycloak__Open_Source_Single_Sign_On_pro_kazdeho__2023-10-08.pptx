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5143500" cx="9144000"/>
  <p:notesSz cx="6858000" cy="9144000"/>
  <p:embeddedFontLst>
    <p:embeddedFont>
      <p:font typeface="IBM Plex Sans"/>
      <p:regular r:id="rId19"/>
      <p:bold r:id="rId20"/>
      <p:italic r:id="rId21"/>
      <p:boldItalic r:id="rId22"/>
    </p:embeddedFont>
    <p:embeddedFont>
      <p:font typeface="Overpass"/>
      <p:regular r:id="rId23"/>
      <p:bold r:id="rId24"/>
      <p:italic r:id="rId25"/>
      <p:boldItalic r:id="rId26"/>
    </p:embeddedFont>
    <p:embeddedFont>
      <p:font typeface="IBM Plex Mono SemiBold"/>
      <p:regular r:id="rId27"/>
      <p:bold r:id="rId28"/>
      <p:italic r:id="rId29"/>
      <p:boldItalic r:id="rId30"/>
    </p:embeddedFont>
    <p:embeddedFont>
      <p:font typeface="Overpass SemiBold"/>
      <p:regular r:id="rId31"/>
      <p:bold r:id="rId32"/>
      <p:italic r:id="rId33"/>
      <p:boldItalic r:id="rId34"/>
    </p:embeddedFont>
    <p:embeddedFont>
      <p:font typeface="IBM Plex Mono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BMPlexSans-bold.fntdata"/><Relationship Id="rId22" Type="http://schemas.openxmlformats.org/officeDocument/2006/relationships/font" Target="fonts/IBMPlexSans-boldItalic.fntdata"/><Relationship Id="rId21" Type="http://schemas.openxmlformats.org/officeDocument/2006/relationships/font" Target="fonts/IBMPlexSans-italic.fntdata"/><Relationship Id="rId24" Type="http://schemas.openxmlformats.org/officeDocument/2006/relationships/font" Target="fonts/Overpass-bold.fntdata"/><Relationship Id="rId23" Type="http://schemas.openxmlformats.org/officeDocument/2006/relationships/font" Target="fonts/Overpass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Overpass-boldItalic.fntdata"/><Relationship Id="rId25" Type="http://schemas.openxmlformats.org/officeDocument/2006/relationships/font" Target="fonts/Overpass-italic.fntdata"/><Relationship Id="rId28" Type="http://schemas.openxmlformats.org/officeDocument/2006/relationships/font" Target="fonts/IBMPlexMonoSemiBold-bold.fntdata"/><Relationship Id="rId27" Type="http://schemas.openxmlformats.org/officeDocument/2006/relationships/font" Target="fonts/IBMPlexMonoSemiBold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IBMPlexMonoSemiBold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OverpassSemiBold-regular.fntdata"/><Relationship Id="rId30" Type="http://schemas.openxmlformats.org/officeDocument/2006/relationships/font" Target="fonts/IBMPlexMonoSemiBold-boldItalic.fntdata"/><Relationship Id="rId11" Type="http://schemas.openxmlformats.org/officeDocument/2006/relationships/slide" Target="slides/slide7.xml"/><Relationship Id="rId33" Type="http://schemas.openxmlformats.org/officeDocument/2006/relationships/font" Target="fonts/OverpassSemiBold-italic.fntdata"/><Relationship Id="rId10" Type="http://schemas.openxmlformats.org/officeDocument/2006/relationships/slide" Target="slides/slide6.xml"/><Relationship Id="rId32" Type="http://schemas.openxmlformats.org/officeDocument/2006/relationships/font" Target="fonts/OverpassSemiBold-bold.fntdata"/><Relationship Id="rId13" Type="http://schemas.openxmlformats.org/officeDocument/2006/relationships/slide" Target="slides/slide9.xml"/><Relationship Id="rId35" Type="http://schemas.openxmlformats.org/officeDocument/2006/relationships/font" Target="fonts/IBMPlexMono-regular.fntdata"/><Relationship Id="rId12" Type="http://schemas.openxmlformats.org/officeDocument/2006/relationships/slide" Target="slides/slide8.xml"/><Relationship Id="rId34" Type="http://schemas.openxmlformats.org/officeDocument/2006/relationships/font" Target="fonts/OverpassSemiBold-boldItalic.fntdata"/><Relationship Id="rId15" Type="http://schemas.openxmlformats.org/officeDocument/2006/relationships/slide" Target="slides/slide11.xml"/><Relationship Id="rId37" Type="http://schemas.openxmlformats.org/officeDocument/2006/relationships/font" Target="fonts/IBMPlexMono-italic.fntdata"/><Relationship Id="rId14" Type="http://schemas.openxmlformats.org/officeDocument/2006/relationships/slide" Target="slides/slide10.xml"/><Relationship Id="rId36" Type="http://schemas.openxmlformats.org/officeDocument/2006/relationships/font" Target="fonts/IBMPlexMono-bold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38" Type="http://schemas.openxmlformats.org/officeDocument/2006/relationships/font" Target="fonts/IBMPlexMono-boldItalic.fntdata"/><Relationship Id="rId19" Type="http://schemas.openxmlformats.org/officeDocument/2006/relationships/font" Target="fonts/IBMPlexSans-regular.fntdata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100a4e41519_1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100a4e41519_1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88dd60bee9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88dd60bee9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88dd60bee9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88dd60bee9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89175edeb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89175edeb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88dd60bee9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88dd60bee9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89175edeb7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289175edeb7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89175edeb7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89175edeb7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88dd60bee9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88dd60bee9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89175edeb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89175edeb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89be80f62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289be80f62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1602946da2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11602946da2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10e1a2473a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110e1a2473a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8913f6035d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28913f6035d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6" name="Google Shape;16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Overpass"/>
              <a:buNone/>
              <a:defRPr sz="2800">
                <a:latin typeface="Overpass"/>
                <a:ea typeface="Overpass"/>
                <a:cs typeface="Overpass"/>
                <a:sym typeface="Overpas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◻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▫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400">
                <a:solidFill>
                  <a:schemeClr val="lt1"/>
                </a:solidFill>
              </a:defRPr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◻"/>
              <a:defRPr sz="1200">
                <a:solidFill>
                  <a:schemeClr val="lt1"/>
                </a:solidFill>
              </a:defRPr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▫"/>
              <a:defRPr sz="1200">
                <a:solidFill>
                  <a:schemeClr val="lt1"/>
                </a:solidFill>
              </a:defRPr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▫"/>
              <a:defRPr sz="1200">
                <a:solidFill>
                  <a:schemeClr val="lt1"/>
                </a:solidFill>
              </a:defRPr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▫"/>
              <a:defRPr sz="1200">
                <a:solidFill>
                  <a:schemeClr val="lt1"/>
                </a:solidFill>
              </a:defRPr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▫"/>
              <a:defRPr sz="1200">
                <a:solidFill>
                  <a:schemeClr val="lt1"/>
                </a:solidFill>
              </a:defRPr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▫"/>
              <a:defRPr sz="1200">
                <a:solidFill>
                  <a:schemeClr val="lt1"/>
                </a:solidFill>
              </a:defRPr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▫"/>
              <a:defRPr sz="1200">
                <a:solidFill>
                  <a:schemeClr val="lt1"/>
                </a:solidFill>
              </a:defRPr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▫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400">
                <a:solidFill>
                  <a:schemeClr val="lt1"/>
                </a:solidFill>
              </a:defRPr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◻"/>
              <a:defRPr sz="1200">
                <a:solidFill>
                  <a:schemeClr val="lt1"/>
                </a:solidFill>
              </a:defRPr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▫"/>
              <a:defRPr sz="1200">
                <a:solidFill>
                  <a:schemeClr val="lt1"/>
                </a:solidFill>
              </a:defRPr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▫"/>
              <a:defRPr sz="1200">
                <a:solidFill>
                  <a:schemeClr val="lt1"/>
                </a:solidFill>
              </a:defRPr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▫"/>
              <a:defRPr sz="1200">
                <a:solidFill>
                  <a:schemeClr val="lt1"/>
                </a:solidFill>
              </a:defRPr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▫"/>
              <a:defRPr sz="1200">
                <a:solidFill>
                  <a:schemeClr val="lt1"/>
                </a:solidFill>
              </a:defRPr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▫"/>
              <a:defRPr sz="1200">
                <a:solidFill>
                  <a:schemeClr val="lt1"/>
                </a:solidFill>
              </a:defRPr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▫"/>
              <a:defRPr sz="1200">
                <a:solidFill>
                  <a:schemeClr val="lt1"/>
                </a:solidFill>
              </a:defRPr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▫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147950"/>
            <a:ext cx="58749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◻"/>
              <a:defRPr sz="1200">
                <a:solidFill>
                  <a:schemeClr val="lt1"/>
                </a:solidFill>
              </a:defRPr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▫"/>
              <a:defRPr sz="1200">
                <a:solidFill>
                  <a:schemeClr val="lt1"/>
                </a:solidFill>
              </a:defRPr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▫"/>
              <a:defRPr sz="1200">
                <a:solidFill>
                  <a:schemeClr val="lt1"/>
                </a:solidFill>
              </a:defRPr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▫"/>
              <a:defRPr sz="1200">
                <a:solidFill>
                  <a:schemeClr val="lt1"/>
                </a:solidFill>
              </a:defRPr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▫"/>
              <a:defRPr sz="1200">
                <a:solidFill>
                  <a:schemeClr val="lt1"/>
                </a:solidFill>
              </a:defRPr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▫"/>
              <a:defRPr sz="1200">
                <a:solidFill>
                  <a:schemeClr val="lt1"/>
                </a:solidFill>
              </a:defRPr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▫"/>
              <a:defRPr sz="1200">
                <a:solidFill>
                  <a:schemeClr val="lt1"/>
                </a:solidFill>
              </a:defRPr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▫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9" name="Google Shape;39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verpass SemiBold"/>
              <a:buNone/>
              <a:defRPr sz="21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◻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▫"/>
              <a:defRPr/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verpass"/>
              <a:buNone/>
              <a:defRPr>
                <a:latin typeface="Overpass"/>
                <a:ea typeface="Overpass"/>
                <a:cs typeface="Overpass"/>
                <a:sym typeface="Overpass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◻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▫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6.xml"/><Relationship Id="rId10" Type="http://schemas.openxmlformats.org/officeDocument/2006/relationships/slideLayout" Target="../slideLayouts/slideLayout5.xml"/><Relationship Id="rId13" Type="http://schemas.openxmlformats.org/officeDocument/2006/relationships/slideLayout" Target="../slideLayouts/slideLayout8.xml"/><Relationship Id="rId12" Type="http://schemas.openxmlformats.org/officeDocument/2006/relationships/slideLayout" Target="../slideLayouts/slideLayout7.xml"/><Relationship Id="rId1" Type="http://schemas.openxmlformats.org/officeDocument/2006/relationships/image" Target="../media/image1.jpg"/><Relationship Id="rId2" Type="http://schemas.openxmlformats.org/officeDocument/2006/relationships/hyperlink" Target="https://twitter.com/ondrejsika" TargetMode="External"/><Relationship Id="rId3" Type="http://schemas.openxmlformats.org/officeDocument/2006/relationships/hyperlink" Target="mailto:ondrej@sika.io" TargetMode="External"/><Relationship Id="rId4" Type="http://schemas.openxmlformats.org/officeDocument/2006/relationships/hyperlink" Target="https://sika.io" TargetMode="External"/><Relationship Id="rId9" Type="http://schemas.openxmlformats.org/officeDocument/2006/relationships/slideLayout" Target="../slideLayouts/slideLayout4.xml"/><Relationship Id="rId15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9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1.xml"/><Relationship Id="rId5" Type="http://schemas.openxmlformats.org/officeDocument/2006/relationships/hyperlink" Target="https://linkedin.com/in/ondrejsika" TargetMode="External"/><Relationship Id="rId6" Type="http://schemas.openxmlformats.org/officeDocument/2006/relationships/slideLayout" Target="../slideLayouts/slideLayout1.xml"/><Relationship Id="rId7" Type="http://schemas.openxmlformats.org/officeDocument/2006/relationships/slideLayout" Target="../slideLayouts/slideLayout2.xml"/><Relationship Id="rId8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2500"/>
              <a:buFont typeface="IBM Plex Mono"/>
              <a:buNone/>
              <a:defRPr b="1" sz="2500">
                <a:solidFill>
                  <a:srgbClr val="E1E1E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Char char="■"/>
              <a:defRPr sz="1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"/>
              <a:buChar char="◻"/>
              <a:defRPr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"/>
              <a:buChar char="▫"/>
              <a:defRPr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"/>
              <a:buChar char="▫"/>
              <a:defRPr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"/>
              <a:buChar char="▫"/>
              <a:defRPr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"/>
              <a:buChar char="▫"/>
              <a:defRPr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"/>
              <a:buChar char="▫"/>
              <a:defRPr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"/>
              <a:buChar char="▫"/>
              <a:defRPr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IBM Plex Sans"/>
              <a:buChar char="▫"/>
              <a:defRPr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>
            <p:ph idx="2" type="title"/>
          </p:nvPr>
        </p:nvSpPr>
        <p:spPr>
          <a:xfrm>
            <a:off x="311700" y="703375"/>
            <a:ext cx="7033800" cy="5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808080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 txBox="1"/>
          <p:nvPr/>
        </p:nvSpPr>
        <p:spPr>
          <a:xfrm>
            <a:off x="311700" y="4663225"/>
            <a:ext cx="10914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uFill>
                  <a:noFill/>
                </a:uFill>
                <a:latin typeface="IBM Plex Mono SemiBold"/>
                <a:ea typeface="IBM Plex Mono SemiBold"/>
                <a:cs typeface="IBM Plex Mono SemiBold"/>
                <a:sym typeface="IBM Plex Mono SemiBold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@ondrejsika</a:t>
            </a:r>
            <a:endParaRPr sz="900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11" name="Google Shape;11;p1"/>
          <p:cNvSpPr txBox="1"/>
          <p:nvPr/>
        </p:nvSpPr>
        <p:spPr>
          <a:xfrm>
            <a:off x="1249500" y="4663225"/>
            <a:ext cx="11928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uFill>
                  <a:noFill/>
                </a:uFill>
                <a:latin typeface="IBM Plex Mono SemiBold"/>
                <a:ea typeface="IBM Plex Mono SemiBold"/>
                <a:cs typeface="IBM Plex Mono SemiBold"/>
                <a:sym typeface="IBM Plex Mono SemiBol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ondrej@sika.io</a:t>
            </a:r>
            <a:endParaRPr sz="900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12" name="Google Shape;12;p1"/>
          <p:cNvSpPr txBox="1"/>
          <p:nvPr/>
        </p:nvSpPr>
        <p:spPr>
          <a:xfrm>
            <a:off x="2375925" y="4663225"/>
            <a:ext cx="9963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uFill>
                  <a:noFill/>
                </a:uFill>
                <a:latin typeface="IBM Plex Mono SemiBold"/>
                <a:ea typeface="IBM Plex Mono SemiBold"/>
                <a:cs typeface="IBM Plex Mono SemiBold"/>
                <a:sym typeface="IBM Plex Mono SemiBol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sika.io</a:t>
            </a:r>
            <a:endParaRPr sz="900">
              <a:solidFill>
                <a:schemeClr val="lt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3002225" y="4663250"/>
            <a:ext cx="12951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uFill>
                  <a:noFill/>
                </a:uFill>
                <a:latin typeface="IBM Plex Mono"/>
                <a:ea typeface="IBM Plex Mono"/>
                <a:cs typeface="IBM Plex Mono"/>
                <a:sym typeface="IBM Plex Mon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/in/ondrejsika</a:t>
            </a:r>
            <a:endParaRPr b="1" sz="900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6"/>
    <p:sldLayoutId id="2147483649" r:id="rId7"/>
    <p:sldLayoutId id="2147483650" r:id="rId8"/>
    <p:sldLayoutId id="2147483651" r:id="rId9"/>
    <p:sldLayoutId id="2147483652" r:id="rId10"/>
    <p:sldLayoutId id="2147483653" r:id="rId11"/>
    <p:sldLayoutId id="2147483654" r:id="rId12"/>
    <p:sldLayoutId id="2147483655" r:id="rId13"/>
    <p:sldLayoutId id="2147483656" r:id="rId14"/>
    <p:sldLayoutId id="2147483657" r:id="rId15"/>
    <p:sldLayoutId id="2147483658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mailto:ondrej@sika.io" TargetMode="External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sika.link/linuxdays2023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idx="1" type="subTitle"/>
          </p:nvPr>
        </p:nvSpPr>
        <p:spPr>
          <a:xfrm>
            <a:off x="311700" y="3136550"/>
            <a:ext cx="8520600" cy="14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lt1"/>
                </a:solidFill>
              </a:rPr>
              <a:t>Ondřej Šika</a:t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lt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ondrej@sika.io</a:t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lt1"/>
                </a:solidFill>
              </a:rPr>
              <a:t>@ondrejsika</a:t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LinuxDays</a:t>
            </a:r>
            <a:r>
              <a:rPr lang="en" sz="1200">
                <a:solidFill>
                  <a:schemeClr val="lt1"/>
                </a:solidFill>
              </a:rPr>
              <a:t> 2023,</a:t>
            </a:r>
            <a:br>
              <a:rPr lang="en" sz="1200">
                <a:solidFill>
                  <a:schemeClr val="lt1"/>
                </a:solidFill>
              </a:rPr>
            </a:br>
            <a:r>
              <a:rPr lang="en" sz="1200"/>
              <a:t>Praha</a:t>
            </a:r>
            <a:r>
              <a:rPr lang="en" sz="1200">
                <a:solidFill>
                  <a:schemeClr val="lt1"/>
                </a:solidFill>
              </a:rPr>
              <a:t>, </a:t>
            </a:r>
            <a:r>
              <a:rPr lang="en" sz="1200"/>
              <a:t>8</a:t>
            </a:r>
            <a:r>
              <a:rPr lang="en" sz="1200">
                <a:solidFill>
                  <a:schemeClr val="lt1"/>
                </a:solidFill>
              </a:rPr>
              <a:t>. 10. 2023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60" name="Google Shape;60;p13"/>
          <p:cNvSpPr txBox="1"/>
          <p:nvPr>
            <p:ph type="ctrTitle"/>
          </p:nvPr>
        </p:nvSpPr>
        <p:spPr>
          <a:xfrm>
            <a:off x="311700" y="469250"/>
            <a:ext cx="8520600" cy="232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5300">
                <a:solidFill>
                  <a:schemeClr val="lt1"/>
                </a:solidFill>
              </a:rPr>
              <a:t>Keycloak</a:t>
            </a:r>
            <a:br>
              <a:rPr lang="en" sz="5300">
                <a:solidFill>
                  <a:schemeClr val="lt1"/>
                </a:solidFill>
              </a:rPr>
            </a:br>
            <a:endParaRPr sz="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>
                <a:solidFill>
                  <a:schemeClr val="lt1"/>
                </a:solidFill>
              </a:rPr>
              <a:t>Open Source Single Sign On,</a:t>
            </a:r>
            <a:endParaRPr sz="3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>
                <a:solidFill>
                  <a:schemeClr val="lt1"/>
                </a:solidFill>
              </a:rPr>
              <a:t>SSO pro každého</a:t>
            </a:r>
            <a:endParaRPr sz="3200">
              <a:solidFill>
                <a:schemeClr val="lt1"/>
              </a:solidFill>
            </a:endParaRPr>
          </a:p>
        </p:txBody>
      </p:sp>
      <p:pic>
        <p:nvPicPr>
          <p:cNvPr id="61" name="Google Shape;61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74975" y="1152850"/>
            <a:ext cx="3895025" cy="399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23775" y="2336200"/>
            <a:ext cx="2438400" cy="243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Ondřej</a:t>
            </a:r>
            <a:r>
              <a:rPr lang="en"/>
              <a:t> Šika</a:t>
            </a:r>
            <a:endParaRPr/>
          </a:p>
        </p:txBody>
      </p:sp>
      <p:sp>
        <p:nvSpPr>
          <p:cNvPr id="68" name="Google Shape;68;p14"/>
          <p:cNvSpPr txBox="1"/>
          <p:nvPr>
            <p:ph idx="1" type="body"/>
          </p:nvPr>
        </p:nvSpPr>
        <p:spPr>
          <a:xfrm>
            <a:off x="311700" y="910250"/>
            <a:ext cx="4678200" cy="328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Jsem DevOps engineer and konzultant z Prahy.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Pomáhám firmám zavádět a zlepšovat DevOps, aby zefektivnili proces vývoje, automatizovali nasazování software a zvýšili stabilitu při jeho provozování.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Také dělám populární školení na DevOps technologije jako je Docker, Kubernetes, Terraform, ArgoCD, …</a:t>
            </a:r>
            <a:endParaRPr/>
          </a:p>
        </p:txBody>
      </p:sp>
      <p:pic>
        <p:nvPicPr>
          <p:cNvPr id="69" name="Google Shape;6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6362" y="-1"/>
            <a:ext cx="3857640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 je náš cíl?</a:t>
            </a:r>
            <a:endParaRPr/>
          </a:p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4000"/>
              <a:t>Self hosted Single Sign On pro naše služby jako Gitlab, ArgoCD, Grafana, …</a:t>
            </a:r>
            <a:endParaRPr b="1" sz="4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 k tomu použijeme?</a:t>
            </a:r>
            <a:endParaRPr/>
          </a:p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4000"/>
              <a:t>Keycloak - Open Source SSO</a:t>
            </a:r>
            <a:br>
              <a:rPr b="1" lang="en" sz="4000"/>
            </a:br>
            <a:r>
              <a:rPr b="1" lang="en" sz="4000"/>
              <a:t>Terraform - konfigurace v kódu</a:t>
            </a:r>
            <a:endParaRPr b="1" sz="4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Kde si to ukážeme?</a:t>
            </a:r>
            <a:endParaRPr/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482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Char char="-"/>
            </a:pPr>
            <a:r>
              <a:rPr b="1" lang="en" sz="4000"/>
              <a:t>Gitlab</a:t>
            </a:r>
            <a:endParaRPr b="1" sz="4000"/>
          </a:p>
          <a:p>
            <a:pPr indent="-482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Char char="-"/>
            </a:pPr>
            <a:r>
              <a:rPr b="1" lang="en" sz="4000"/>
              <a:t>Grafana</a:t>
            </a:r>
            <a:endParaRPr b="1" sz="4000"/>
          </a:p>
          <a:p>
            <a:pPr indent="-482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Char char="-"/>
            </a:pPr>
            <a:r>
              <a:rPr b="1" lang="en" sz="4000"/>
              <a:t>ArgoCD</a:t>
            </a:r>
            <a:endParaRPr b="1" sz="4000"/>
          </a:p>
          <a:p>
            <a:pPr indent="-482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Char char="-"/>
            </a:pPr>
            <a:r>
              <a:rPr b="1" lang="en" sz="4000"/>
              <a:t>oicd2-proxy (jakýkoliv web)</a:t>
            </a:r>
            <a:endParaRPr b="1" sz="4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200" y="1172888"/>
            <a:ext cx="8181600" cy="235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 je Keycloak?</a:t>
            </a:r>
            <a:endParaRPr/>
          </a:p>
        </p:txBody>
      </p:sp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000"/>
              <a:t>Keycloak je open-source Identity and Access Management řešení, které poskytuje SSO (Single Sign On) pomocí OIDC a SAML</a:t>
            </a:r>
            <a:endParaRPr sz="1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 je OIDC?</a:t>
            </a:r>
            <a:endParaRPr/>
          </a:p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000"/>
              <a:t>OpenID Connect (OIDC) je </a:t>
            </a:r>
            <a:r>
              <a:rPr lang="en" sz="3000"/>
              <a:t>autentizační</a:t>
            </a:r>
            <a:r>
              <a:rPr lang="en" sz="3000"/>
              <a:t> protokol postavený na standardu OAuth 2.0, který nám umo</a:t>
            </a:r>
            <a:r>
              <a:rPr lang="en" sz="3000"/>
              <a:t>žňuje</a:t>
            </a:r>
            <a:r>
              <a:rPr lang="en" sz="3000"/>
              <a:t> verifikovat </a:t>
            </a:r>
            <a:r>
              <a:rPr lang="en" sz="3000"/>
              <a:t>uživatele a</a:t>
            </a:r>
            <a:r>
              <a:rPr lang="en" sz="3000"/>
              <a:t> získat základní informace z jeho profilu (jméno, email, …)</a:t>
            </a:r>
            <a:endParaRPr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hlink"/>
                </a:solidFill>
              </a:rPr>
              <a:t>Základní informace o </a:t>
            </a:r>
            <a:r>
              <a:rPr lang="en">
                <a:solidFill>
                  <a:schemeClr val="hlink"/>
                </a:solidFill>
              </a:rPr>
              <a:t>Keycloaku</a:t>
            </a:r>
            <a:endParaRPr/>
          </a:p>
        </p:txBody>
      </p:sp>
      <p:sp>
        <p:nvSpPr>
          <p:cNvPr id="110" name="Google Shape;110;p21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" sz="2200"/>
              <a:t>Open Source SSO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" sz="2200"/>
              <a:t>OIDC &amp; SAML Provider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" sz="2200"/>
              <a:t>Java Quarkus + Postgres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" sz="2200"/>
              <a:t>Kubernetes ready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" sz="2200"/>
              <a:t>Existuje Terraform provider</a:t>
            </a:r>
            <a:endParaRPr sz="2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2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7500"/>
              <a:t>Demo time 👨‍💻</a:t>
            </a:r>
            <a:endParaRPr b="1" sz="75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3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5300" u="sng">
                <a:solidFill>
                  <a:schemeClr val="hlink"/>
                </a:solidFill>
                <a:hlinkClick r:id="rId3"/>
              </a:rPr>
              <a:t>sika.link/linuxdays2023</a:t>
            </a:r>
            <a:endParaRPr b="1" sz="53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4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4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7500"/>
              <a:t>Díky za pozornost</a:t>
            </a:r>
            <a:endParaRPr b="1" sz="75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5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7500"/>
              <a:t>Otázky?</a:t>
            </a:r>
            <a:endParaRPr b="1" sz="75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6"/>
          <p:cNvSpPr txBox="1"/>
          <p:nvPr>
            <p:ph type="title"/>
          </p:nvPr>
        </p:nvSpPr>
        <p:spPr>
          <a:xfrm>
            <a:off x="283100" y="346650"/>
            <a:ext cx="8518200" cy="420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200">
                <a:solidFill>
                  <a:srgbClr val="FFFFFF"/>
                </a:solidFill>
              </a:rPr>
              <a:t>Email</a:t>
            </a:r>
            <a:br>
              <a:rPr lang="en">
                <a:solidFill>
                  <a:srgbClr val="FFFFFF"/>
                </a:solidFill>
              </a:rPr>
            </a:br>
            <a:r>
              <a:rPr lang="en" sz="3800">
                <a:solidFill>
                  <a:srgbClr val="FFFFFF"/>
                </a:solidFill>
              </a:rPr>
              <a:t>ondrej@sika.io</a:t>
            </a:r>
            <a:endParaRPr sz="38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200">
                <a:solidFill>
                  <a:schemeClr val="lt1"/>
                </a:solidFill>
              </a:rPr>
              <a:t>Twitter</a:t>
            </a:r>
            <a:endParaRPr b="0" sz="22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solidFill>
                  <a:schemeClr val="lt1"/>
                </a:solidFill>
              </a:rPr>
              <a:t>@ondrejsika</a:t>
            </a:r>
            <a:endParaRPr sz="3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200">
                <a:solidFill>
                  <a:schemeClr val="lt1"/>
                </a:solidFill>
              </a:rPr>
              <a:t>LinkedIn</a:t>
            </a:r>
            <a:endParaRPr b="0" sz="2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solidFill>
                  <a:schemeClr val="lt1"/>
                </a:solidFill>
              </a:rPr>
              <a:t>/in/ondrejsika</a:t>
            </a:r>
            <a:endParaRPr sz="3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2200">
                <a:solidFill>
                  <a:schemeClr val="lt1"/>
                </a:solidFill>
              </a:rPr>
              <a:t>Slides</a:t>
            </a:r>
            <a:endParaRPr b="0" sz="2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200">
                <a:solidFill>
                  <a:schemeClr val="lt1"/>
                </a:solidFill>
              </a:rPr>
              <a:t>sika.link/slides</a:t>
            </a:r>
            <a:endParaRPr sz="4200">
              <a:solidFill>
                <a:schemeClr val="lt1"/>
              </a:solidFill>
            </a:endParaRPr>
          </a:p>
        </p:txBody>
      </p:sp>
      <p:pic>
        <p:nvPicPr>
          <p:cNvPr id="140" name="Google Shape;14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74975" y="1152850"/>
            <a:ext cx="3895025" cy="399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ndrej Sika - prezentace tmava v2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E1E1E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