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5143500" cx="9144000"/>
  <p:notesSz cx="6858000" cy="9144000"/>
  <p:embeddedFontLst>
    <p:embeddedFont>
      <p:font typeface="IBM Plex Sans"/>
      <p:regular r:id="rId41"/>
      <p:bold r:id="rId42"/>
      <p:italic r:id="rId43"/>
      <p:boldItalic r:id="rId44"/>
    </p:embeddedFont>
    <p:embeddedFont>
      <p:font typeface="Overpass"/>
      <p:regular r:id="rId45"/>
      <p:bold r:id="rId46"/>
      <p:italic r:id="rId47"/>
      <p:boldItalic r:id="rId48"/>
    </p:embeddedFont>
    <p:embeddedFont>
      <p:font typeface="IBM Plex Mono SemiBold"/>
      <p:regular r:id="rId49"/>
      <p:bold r:id="rId50"/>
      <p:italic r:id="rId51"/>
      <p:boldItalic r:id="rId52"/>
    </p:embeddedFont>
    <p:embeddedFont>
      <p:font typeface="Overpass SemiBold"/>
      <p:regular r:id="rId53"/>
      <p:bold r:id="rId54"/>
      <p:italic r:id="rId55"/>
      <p:boldItalic r:id="rId56"/>
    </p:embeddedFont>
    <p:embeddedFont>
      <p:font typeface="IBM Plex Mono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font" Target="fonts/IBMPlexSans-bold.fntdata"/><Relationship Id="rId41" Type="http://schemas.openxmlformats.org/officeDocument/2006/relationships/font" Target="fonts/IBMPlexSans-regular.fntdata"/><Relationship Id="rId44" Type="http://schemas.openxmlformats.org/officeDocument/2006/relationships/font" Target="fonts/IBMPlexSans-boldItalic.fntdata"/><Relationship Id="rId43" Type="http://schemas.openxmlformats.org/officeDocument/2006/relationships/font" Target="fonts/IBMPlexSans-italic.fntdata"/><Relationship Id="rId46" Type="http://schemas.openxmlformats.org/officeDocument/2006/relationships/font" Target="fonts/Overpass-bold.fntdata"/><Relationship Id="rId45" Type="http://schemas.openxmlformats.org/officeDocument/2006/relationships/font" Target="fonts/Overpas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Overpass-boldItalic.fntdata"/><Relationship Id="rId47" Type="http://schemas.openxmlformats.org/officeDocument/2006/relationships/font" Target="fonts/Overpass-italic.fntdata"/><Relationship Id="rId49" Type="http://schemas.openxmlformats.org/officeDocument/2006/relationships/font" Target="fonts/IBMPlexMonoSemiBol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IBMPlexMono-boldItalic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BMPlexMonoSemiBold-italic.fntdata"/><Relationship Id="rId50" Type="http://schemas.openxmlformats.org/officeDocument/2006/relationships/font" Target="fonts/IBMPlexMonoSemiBold-bold.fntdata"/><Relationship Id="rId53" Type="http://schemas.openxmlformats.org/officeDocument/2006/relationships/font" Target="fonts/OverpassSemiBold-regular.fntdata"/><Relationship Id="rId52" Type="http://schemas.openxmlformats.org/officeDocument/2006/relationships/font" Target="fonts/IBMPlexMonoSemiBold-boldItalic.fntdata"/><Relationship Id="rId11" Type="http://schemas.openxmlformats.org/officeDocument/2006/relationships/slide" Target="slides/slide7.xml"/><Relationship Id="rId55" Type="http://schemas.openxmlformats.org/officeDocument/2006/relationships/font" Target="fonts/OverpassSemiBold-italic.fntdata"/><Relationship Id="rId10" Type="http://schemas.openxmlformats.org/officeDocument/2006/relationships/slide" Target="slides/slide6.xml"/><Relationship Id="rId54" Type="http://schemas.openxmlformats.org/officeDocument/2006/relationships/font" Target="fonts/OverpassSemiBold-bold.fntdata"/><Relationship Id="rId13" Type="http://schemas.openxmlformats.org/officeDocument/2006/relationships/slide" Target="slides/slide9.xml"/><Relationship Id="rId57" Type="http://schemas.openxmlformats.org/officeDocument/2006/relationships/font" Target="fonts/IBMPlexMono-regular.fntdata"/><Relationship Id="rId12" Type="http://schemas.openxmlformats.org/officeDocument/2006/relationships/slide" Target="slides/slide8.xml"/><Relationship Id="rId56" Type="http://schemas.openxmlformats.org/officeDocument/2006/relationships/font" Target="fonts/OverpassSemiBold-boldItalic.fntdata"/><Relationship Id="rId15" Type="http://schemas.openxmlformats.org/officeDocument/2006/relationships/slide" Target="slides/slide11.xml"/><Relationship Id="rId59" Type="http://schemas.openxmlformats.org/officeDocument/2006/relationships/font" Target="fonts/IBMPlexMono-italic.fntdata"/><Relationship Id="rId14" Type="http://schemas.openxmlformats.org/officeDocument/2006/relationships/slide" Target="slides/slide10.xml"/><Relationship Id="rId58" Type="http://schemas.openxmlformats.org/officeDocument/2006/relationships/font" Target="fonts/IBMPlexMono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00a4e41519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00a4e41519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16129278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16129278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161292784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161292784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0fb53b5eb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0fb53b5eb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1031914c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1031914c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0fb53b5eb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0fb53b5eb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0fb53b5eb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0fb53b5eb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0fb53b5eb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0fb53b5eb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0fb53b5eb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0fb53b5eb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0fb53b5eb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0fb53b5eb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0fb53b5eb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0fb53b5eb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0fb53b5eb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0fb53b5eb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0fb53b5eb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0fb53b5eb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0fb53b5eb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0fb53b5eb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10e1a2473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10e1a2473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0dffc962b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0dffc962b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0e1a2473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10e1a2473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031914cf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1031914cf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031914cf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1031914cf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0fb53b5eb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0fb53b5eb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0fb53b5eba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0fb53b5eba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0fb53b5eb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0fb53b5eb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0fb53b5eb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0fb53b5eb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0fb53b5eb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0fb53b5eb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0fb53b5eb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0fb53b5eb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0fb53b5eb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0fb53b5eb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0fb53b5eb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0fb53b5eb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0fb53b5eb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0fb53b5eb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161292784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161292784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0fb53b5eb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0fb53b5eb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00a4e41519_1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00a4e41519_1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0fb53b5eba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0fb53b5eb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1602946da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1602946d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10e1a2473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10e1a2473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1602946da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1602946da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sz="2800">
                <a:latin typeface="Overpass"/>
                <a:ea typeface="Overpass"/>
                <a:cs typeface="Overpass"/>
                <a:sym typeface="Overpas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147950"/>
            <a:ext cx="5874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verpass SemiBold"/>
              <a:buNone/>
              <a:defRPr sz="21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verpass"/>
              <a:buNone/>
              <a:defRPr>
                <a:latin typeface="Overpass"/>
                <a:ea typeface="Overpass"/>
                <a:cs typeface="Overpass"/>
                <a:sym typeface="Overpass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.xml"/><Relationship Id="rId10" Type="http://schemas.openxmlformats.org/officeDocument/2006/relationships/slideLayout" Target="../slideLayouts/slideLayout5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1" Type="http://schemas.openxmlformats.org/officeDocument/2006/relationships/image" Target="../media/image5.jpg"/><Relationship Id="rId2" Type="http://schemas.openxmlformats.org/officeDocument/2006/relationships/hyperlink" Target="https://twitter.com/ondrejsika" TargetMode="External"/><Relationship Id="rId3" Type="http://schemas.openxmlformats.org/officeDocument/2006/relationships/hyperlink" Target="mailto:ondrej@sika.io" TargetMode="External"/><Relationship Id="rId4" Type="http://schemas.openxmlformats.org/officeDocument/2006/relationships/hyperlink" Target="https://sika.io" TargetMode="External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1.xml"/><Relationship Id="rId5" Type="http://schemas.openxmlformats.org/officeDocument/2006/relationships/hyperlink" Target="https://linkedin.com/in/ondrejsika" TargetMode="External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2500"/>
              <a:buFont typeface="IBM Plex Mono"/>
              <a:buNone/>
              <a:defRPr b="1" sz="2500">
                <a:solidFill>
                  <a:srgbClr val="E1E1E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BFB0"/>
              </a:buClr>
              <a:buSzPts val="1800"/>
              <a:buFont typeface="IBM Plex Sans"/>
              <a:buChar char="■"/>
              <a:defRPr sz="1800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◻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1E1E1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311700" y="703375"/>
            <a:ext cx="70338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808080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/>
        </p:nvSpPr>
        <p:spPr>
          <a:xfrm>
            <a:off x="311700" y="4663225"/>
            <a:ext cx="10914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1E1E1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@ondrejsika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249500" y="4663225"/>
            <a:ext cx="11928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3"/>
              </a:rPr>
              <a:t>ondrej@sika.io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375925" y="4663225"/>
            <a:ext cx="9963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4"/>
              </a:rPr>
              <a:t>sika.io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3002225" y="4663250"/>
            <a:ext cx="1295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hlink"/>
                </a:solidFill>
                <a:uFill>
                  <a:noFill/>
                </a:uFill>
                <a:latin typeface="IBM Plex Mono"/>
                <a:ea typeface="IBM Plex Mono"/>
                <a:cs typeface="IBM Plex Mono"/>
                <a:sym typeface="IBM Plex Mono"/>
                <a:hlinkClick r:id="rId5"/>
              </a:rPr>
              <a:t>/in/ondrejsika</a:t>
            </a:r>
            <a:endParaRPr b="1" sz="900">
              <a:solidFill>
                <a:srgbClr val="E1E1E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6"/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ondrej@sika.io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pencontainers.org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kubernetes.io/docs/concepts/overview/what-is-kubernetes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3289450"/>
            <a:ext cx="8520600" cy="13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Ondřej Šika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ondrej@sika.io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@ondrejsika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</a:rPr>
              <a:t>Kontejnery v praxi, 22. 2. 2023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0" name="Google Shape;60;p13"/>
          <p:cNvSpPr txBox="1"/>
          <p:nvPr>
            <p:ph type="ctrTitle"/>
          </p:nvPr>
        </p:nvSpPr>
        <p:spPr>
          <a:xfrm>
            <a:off x="311700" y="469250"/>
            <a:ext cx="8520600" cy="23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/>
              <a:t>Výhody kontejnerů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/>
              <a:t>při distribuci softwaru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/>
              <a:t>i v enterprise prostředí</a:t>
            </a:r>
            <a:endParaRPr sz="3200"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49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1275" y="2113937"/>
            <a:ext cx="1571276" cy="157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9438" y="2742100"/>
            <a:ext cx="1431549" cy="143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Ondřej</a:t>
            </a:r>
            <a:r>
              <a:rPr lang="en"/>
              <a:t> Šika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777950"/>
            <a:ext cx="4608600" cy="34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Jsem DevOps lektor, architekt a konzultant z Prahy.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Navrhnu a implementuji Vám na míru DevOps architekturu od verzování v Gitu po provoz v Cloudu.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Dělám populární školení, kde své znalosti předávám tak, abyste si mohli vše udělat sami a bez zbytečných přešlapů a slepých cest.</a:t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362" y="-1"/>
            <a:ext cx="385764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Cíl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Jednoduchá, rychlá a bezpečná distribuce aplikací</a:t>
            </a:r>
            <a:endParaRPr b="1" sz="5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Současný stav (před kontejnery)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hlink"/>
                </a:solidFill>
              </a:rPr>
              <a:t>Každý to dělá svým způsobem</a:t>
            </a:r>
            <a:endParaRPr>
              <a:solidFill>
                <a:schemeClr val="hlink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-"/>
            </a:pPr>
            <a:r>
              <a:rPr lang="en">
                <a:solidFill>
                  <a:schemeClr val="hlink"/>
                </a:solidFill>
              </a:rPr>
              <a:t>Různí dodavatelé, co dodavatel to způsob</a:t>
            </a:r>
            <a:endParaRPr>
              <a:solidFill>
                <a:schemeClr val="hlink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-"/>
            </a:pPr>
            <a:r>
              <a:rPr lang="en">
                <a:solidFill>
                  <a:schemeClr val="hlink"/>
                </a:solidFill>
              </a:rPr>
              <a:t>Různé požadavky (JAR, WAR, VM, …)</a:t>
            </a:r>
            <a:endParaRPr>
              <a:solidFill>
                <a:schemeClr val="hlink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-"/>
            </a:pPr>
            <a:r>
              <a:rPr lang="en">
                <a:solidFill>
                  <a:schemeClr val="hlink"/>
                </a:solidFill>
              </a:rPr>
              <a:t>Dokumentace, Ansible, … (nekdy nic)</a:t>
            </a:r>
            <a:endParaRPr>
              <a:solidFill>
                <a:schemeClr val="hlink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Char char="-"/>
            </a:pPr>
            <a:r>
              <a:rPr lang="en">
                <a:solidFill>
                  <a:schemeClr val="hlink"/>
                </a:solidFill>
              </a:rPr>
              <a:t>VMWare Image</a:t>
            </a:r>
            <a:endParaRPr>
              <a:solidFill>
                <a:schemeClr val="hlink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-"/>
            </a:pPr>
            <a:r>
              <a:rPr lang="en">
                <a:solidFill>
                  <a:schemeClr val="hlink"/>
                </a:solidFill>
              </a:rPr>
              <a:t>Vyřeší prvotní instalaci</a:t>
            </a:r>
            <a:endParaRPr>
              <a:solidFill>
                <a:schemeClr val="hlink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Char char="-"/>
            </a:pPr>
            <a:r>
              <a:rPr lang="en">
                <a:solidFill>
                  <a:schemeClr val="hlink"/>
                </a:solidFill>
              </a:rPr>
              <a:t>Aktualizace jsou </a:t>
            </a:r>
            <a:r>
              <a:rPr lang="en">
                <a:solidFill>
                  <a:schemeClr val="hlink"/>
                </a:solidFill>
              </a:rPr>
              <a:t>podobné</a:t>
            </a:r>
            <a:r>
              <a:rPr lang="en">
                <a:solidFill>
                  <a:schemeClr val="hlink"/>
                </a:solidFill>
              </a:rPr>
              <a:t> první variantě</a:t>
            </a:r>
            <a:endParaRPr>
              <a:solidFill>
                <a:schemeClr val="hlink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hlink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hlink"/>
                </a:solidFill>
              </a:rPr>
              <a:t>=&gt; </a:t>
            </a:r>
            <a:r>
              <a:rPr lang="en">
                <a:solidFill>
                  <a:schemeClr val="hlink"/>
                </a:solidFill>
              </a:rPr>
              <a:t>Společný</a:t>
            </a:r>
            <a:r>
              <a:rPr lang="en">
                <a:solidFill>
                  <a:schemeClr val="hlink"/>
                </a:solidFill>
              </a:rPr>
              <a:t> prvek = Manuální práce a v</a:t>
            </a:r>
            <a:r>
              <a:rPr lang="en">
                <a:solidFill>
                  <a:schemeClr val="hlink"/>
                </a:solidFill>
              </a:rPr>
              <a:t>irtuální</a:t>
            </a:r>
            <a:r>
              <a:rPr lang="en">
                <a:solidFill>
                  <a:schemeClr val="hlink"/>
                </a:solidFill>
              </a:rPr>
              <a:t> servery</a:t>
            </a:r>
            <a:endParaRPr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0"/>
              <a:t>Kontejnery</a:t>
            </a:r>
            <a:endParaRPr b="1" sz="10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jsou to Kontejnery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Kontejnery jsou technologie virtualizace, které izolují aplikaci a její závislosti od okolního prostředí, na kterém běží. Kontejnery fungují na úrovni operačního systému, což znamená, že několik kontejnerů může běžet na jednom fyzickém nebo virtuálním stroji a sdílet stejný operační systém.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Každý kontejner obsahuje všechny nástroje, knihovny a soubory, které jsou potřebné pro běh aplikace, včetně operačního systému. Díky tomu je možné spustit aplikaci na jakémkoliv serveru, bez nutnosti instalace dalších závislostí.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Container Initiative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Kontejnery před Dockerem nebyly kontejnery, jak je známe dnes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První moderní kontejnery </a:t>
            </a:r>
            <a:r>
              <a:rPr lang="en">
                <a:solidFill>
                  <a:schemeClr val="hlink"/>
                </a:solidFill>
              </a:rPr>
              <a:t>(a s nimi spojenou revoluci) </a:t>
            </a:r>
            <a:r>
              <a:rPr lang="en"/>
              <a:t>přinesl až Docker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Standard + kompatibilitu dnes zajišťuje Open Container Initiative (OCI)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OCI spada pod Linux Foundation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https://opencontainers.org/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Výhody distribuce SW v kontejnerech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Velmi jasná hranice mezi aplikací a platformou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Distribuce univerzálních binárních obrazů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Aplikace a data jsou striktně odděleny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Jednoduchý a exaktně definovaný interface (kontejner, Kubernetes)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Jednoduchý způsob běhu aplikací ve velkém prostředí - Kubernetes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Auditovatelnost, Predavaci / schvlalovací proces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hlink"/>
                </a:solidFill>
              </a:rPr>
              <a:t>Checksums, </a:t>
            </a:r>
            <a:r>
              <a:rPr lang="en"/>
              <a:t>Docker Content Trust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Security scans, …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Jasná hranice mezi aplikací a platformou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Hranice mezi kontejnerem a kontejnerizační platformou je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Konfigurace pomocí ENV proměnných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Kontejner image (obsahuje vše, co je pro běh aplikace potřeba)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Exposed port (eg.: aplikace 8000, metriky 8001)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volume mount (eg.: /var/lib/postgresql, 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Logy na STDOUT, STDERR - napojení na centrální log management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Distribuce univerzálních binárních obrazů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Kontejner</a:t>
            </a:r>
            <a:r>
              <a:rPr lang="en"/>
              <a:t> obsahuje vše, co je potřeba pro </a:t>
            </a:r>
            <a:r>
              <a:rPr lang="en"/>
              <a:t>běh</a:t>
            </a:r>
            <a:r>
              <a:rPr lang="en"/>
              <a:t> aplikace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FS operačního systému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Systémové knihovny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Runtime environment (Java JRE)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Aplikační závislosti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Build aplikace nebo </a:t>
            </a:r>
            <a:r>
              <a:rPr lang="en"/>
              <a:t>zdrojové</a:t>
            </a:r>
            <a:r>
              <a:rPr lang="en"/>
              <a:t> kódy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Naopak ne</a:t>
            </a:r>
            <a:r>
              <a:rPr lang="en"/>
              <a:t>obsahuje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Konfiguraci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Image je binárně kompatibilní pro různá prostředí i runtime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Docker, Podman, Containerd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Kubernetes, OpenShift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392004"/>
            <a:ext cx="7929000" cy="3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FROM golang:1.19 as build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WORKDIR /build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COPY go.mod go.sum ./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RUN go mod download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COPY . .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RUN go build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FROM debian:11-slim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COPY /build/application /usr/local/bin/application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RUN ["</a:t>
            </a:r>
            <a:r>
              <a:rPr b="1" lang="en">
                <a:solidFill>
                  <a:schemeClr val="hlink"/>
                </a:solidFill>
                <a:latin typeface="IBM Plex Mono"/>
                <a:ea typeface="IBM Plex Mono"/>
                <a:cs typeface="IBM Plex Mono"/>
                <a:sym typeface="IBM Plex Mono"/>
              </a:rPr>
              <a:t>/usr/local/bin/application</a:t>
            </a: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"]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VOLUME /var/lib/application/data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PORT 8000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PORT 8001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endParaRPr b="1"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392004"/>
            <a:ext cx="7929000" cy="3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docker run </a:t>
            </a: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--name application -d \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    -p 8000:8000 -p 8001:8001 \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    -v application-data:/var/lib/application/data \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    </a:t>
            </a: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registry</a:t>
            </a: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.company.com/application/application:v1.2.3</a:t>
            </a:r>
            <a:endParaRPr b="1"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"Platform independent"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Aplikace, které běží v kontejnerech, nejsou závislé na runtime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Docker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Containerd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Podman, CRI-O, 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Různé orchestrátory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Docker Compose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Kubernetes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OpenShift / OKD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Registry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Container registry jsou preferovaný způsob distribuce kontejnerů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docker pull, docker push, 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Container registry je standard, který používá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Gitlab, Github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Harbor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Artifactory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Nexus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Odevzdání práce je push container images do registrů zákazníka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Zákazník může mirrorovat registry od dodavatele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0"/>
              <a:t>Kubernetes</a:t>
            </a:r>
            <a:endParaRPr b="1" sz="10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Proč používat Kubernetes?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hlink"/>
                </a:solidFill>
              </a:rPr>
              <a:t>Unifikace prostředí pro provoz aplikací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De-facto standard provozu software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Ovládání pomocí YAML souboru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hlink"/>
                </a:solidFill>
              </a:rPr>
              <a:t>Deployment (deklarativní) požadovaného stavu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Přístup ke clusteru místo k jednotlivým serverům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Automatizace manuálních tasků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Autoscaling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Opensource, pod CNCF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Velký ekosystém kolem Kubernetes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Jednoduchý provoz v cloudu i on-premise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je Kubernetes?</a:t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Kubernetes is a portable, extensible, open-source platform for managing containerized workloads and services, that facilitates both declarative configuration and automation.</a:t>
            </a:r>
            <a:r>
              <a:rPr b="1" lang="en" sz="3000"/>
              <a:t> </a:t>
            </a:r>
            <a:r>
              <a:rPr lang="en" sz="3000"/>
              <a:t>–kubernetes.io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https://kubernetes.io/docs/concepts/overview/what-is-kubernetes/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Unifikace prostředí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se </a:t>
            </a:r>
            <a:r>
              <a:rPr lang="en"/>
              <a:t>ovládá</a:t>
            </a:r>
            <a:r>
              <a:rPr lang="en"/>
              <a:t> pomocí YAML souboru a API. Díky tomu, že Kubernetes nás svazuje v tom, jak můžeme věci nasazovat, musíme všechny aplikace nasazovat podobným stylem a poskládané ze stejných komponent.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Už to není tak, že každý projekt byl nasazen na server jiným způsobem - vše se dělá stejně, což má za následek velmi jednoduchý onboarding do firmy nebo do projektu.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De-facto standard pro provoz aplikací</a:t>
            </a:r>
            <a:endParaRPr/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je dnes již velmi rozšířené řešení - od startupu po enterprise.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Stalo se vlastně takovým </a:t>
            </a:r>
            <a:r>
              <a:rPr lang="en"/>
              <a:t>standardem</a:t>
            </a:r>
            <a:r>
              <a:rPr lang="en"/>
              <a:t>, jako provozovat kontejnerizované aplikace a aplikace vůbec (provoz bez kontejneru nedává smysl).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Jednoduchý provoz v cloudu i on-premise</a:t>
            </a:r>
            <a:endParaRPr/>
          </a:p>
        </p:txBody>
      </p:sp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Všechny velké cloudy (AWS, GCP, Azure) poskytují Kubernetes. I většina menších cloudů (jako DigitalOcean), nabízí managed Kubernetes.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 Kubernetes se stará poskytovatel cloudu, vy jej jen používáte.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Pokud chcete provozovat Kubernetes na on-premise, můžete </a:t>
            </a:r>
            <a:r>
              <a:rPr lang="en"/>
              <a:t>například</a:t>
            </a:r>
            <a:r>
              <a:rPr lang="en"/>
              <a:t> </a:t>
            </a:r>
            <a:r>
              <a:rPr lang="en"/>
              <a:t>využít</a:t>
            </a:r>
            <a:r>
              <a:rPr lang="en"/>
              <a:t> RKE (distribuce Kubernetes od Rancheru) nebo si jej nainstalovat sami.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ekosystém</a:t>
            </a:r>
            <a:endParaRPr/>
          </a:p>
        </p:txBody>
      </p:sp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Continuous Delivery - ArgoCD, Gitlab CI, Github Actions, 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Log Management - Elastic Stack, Loki, Splunk, CloudWatch, 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Monitoring - Prometheus Stack, CloudWatch, …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Backups, Disaster recovery, 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hlink"/>
                </a:solidFill>
              </a:rPr>
              <a:t>Service Mash, …</a:t>
            </a:r>
            <a:endParaRPr>
              <a:solidFill>
                <a:schemeClr val="hlink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Security scans, …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0"/>
              <a:t>Helm</a:t>
            </a:r>
            <a:endParaRPr b="1" sz="10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je to Helm Package</a:t>
            </a:r>
            <a:endParaRPr/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Helm je nástroj pro správu balíčků určených pro Kubernetes. Helm balíčky, známé také jako "charts", obsahují popis aplikace a všechny potřebné závislosti, jako jsou kontejnery, služby, konfigurace a další artefakty potřebné pro běh aplikace v Kubernetes.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Helm umožňuje jednoduché nasazení, správu a aktualizaci aplikací v Kubernetes pomocí příkazové řádky, GUI i GitOps. Umožňuje také správu různých verzí aplikace a řízení konfigurace aplikace pomocí proměnných.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Proč používat HELM</a:t>
            </a:r>
            <a:endParaRPr/>
          </a:p>
        </p:txBody>
      </p:sp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Obsahuje konfiguraci pro Kubernetes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Umožňuje doplnit "values" - proměnné, které mohou obsahovat specifickou konfiguraci nebo secrets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 facto </a:t>
            </a:r>
            <a:r>
              <a:rPr lang="en"/>
              <a:t>standard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Funguje proti všem variantám Kubernetes prostředí (Kubernetes, OpenShift, OKD)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Dá se použít s existujícím CD (ArgoCD, Gitlab CI, Fleet, 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Jednoducha distribuce (v Gitu)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Hranice mezi aplikaci a Kubernetes</a:t>
            </a:r>
            <a:endParaRPr/>
          </a:p>
        </p:txBody>
      </p:sp>
      <p:sp>
        <p:nvSpPr>
          <p:cNvPr id="206" name="Google Shape;206;p37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Aplikace v Kuberneres používá pouze Kubernetes objekty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Vše je popsáno v jednom nebo více Helm balíčcích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Helm balíček nemá žádnou závislost na konkrétním prostředí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Struktura prostředí nehraje roli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Určitá závislost na verzi Kubernetes pro daný Helm balíček existuje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>
            <p:ph idx="1" type="body"/>
          </p:nvPr>
        </p:nvSpPr>
        <p:spPr>
          <a:xfrm>
            <a:off x="311700" y="392004"/>
            <a:ext cx="7929000" cy="3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├── Chart.yaml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├── Makefile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├── README.md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├── templates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│   ├── NOTES.txt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│   ├── deployment.yml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│   ├── ingress.yml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│   └── service.yml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└── values.yaml</a:t>
            </a:r>
            <a:endParaRPr b="1"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idx="1" type="body"/>
          </p:nvPr>
        </p:nvSpPr>
        <p:spPr>
          <a:xfrm>
            <a:off x="311700" y="392004"/>
            <a:ext cx="7929000" cy="37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helm upgrade </a:t>
            </a: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--install \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	application ./path/to/helm/package.tgz \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   --namespace application \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   --create-namespace \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	--values application.values.yml \</a:t>
            </a:r>
            <a:br>
              <a:rPr b="1" lang="en"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">
                <a:latin typeface="IBM Plex Mono"/>
                <a:ea typeface="IBM Plex Mono"/>
                <a:cs typeface="IBM Plex Mono"/>
                <a:sym typeface="IBM Plex Mono"/>
              </a:rPr>
              <a:t>   --wait</a:t>
            </a:r>
            <a:endParaRPr b="1"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Distribuce Helm balíčku</a:t>
            </a:r>
            <a:endParaRPr/>
          </a:p>
        </p:txBody>
      </p:sp>
      <p:sp>
        <p:nvSpPr>
          <p:cNvPr id="222" name="Google Shape;222;p40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Helm balíček je malý .tgz (par kb, pouze archiv Kubernetes YAML manifestu)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Nejjednodušší způsob distribuce je Git repozitář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Artifactory, Harbor mají také podporu Helmu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Včetně mirroringu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Předávací process</a:t>
            </a:r>
            <a:endParaRPr/>
          </a:p>
        </p:txBody>
      </p:sp>
      <p:sp>
        <p:nvSpPr>
          <p:cNvPr id="228" name="Google Shape;228;p4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Předávání SW je </a:t>
            </a:r>
            <a:r>
              <a:rPr lang="en"/>
              <a:t>jednoznačně</a:t>
            </a:r>
            <a:r>
              <a:rPr lang="en"/>
              <a:t> definované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Probíhá pomocí </a:t>
            </a:r>
            <a:r>
              <a:rPr lang="en"/>
              <a:t>standardních</a:t>
            </a:r>
            <a:r>
              <a:rPr lang="en"/>
              <a:t> nástrojů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Registry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Jednoduchá automatizace </a:t>
            </a:r>
            <a:r>
              <a:rPr lang="en"/>
              <a:t>předávání</a:t>
            </a:r>
            <a:r>
              <a:rPr lang="en"/>
              <a:t> a aktualizací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ArgoCD, Gitlab CI, 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Repository Mirror, 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Možnost jednoduchého auditu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Manuální validace Helm balíčků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Automatizovaně - Security </a:t>
            </a:r>
            <a:r>
              <a:rPr lang="en"/>
              <a:t>scan</a:t>
            </a:r>
            <a:r>
              <a:rPr lang="en"/>
              <a:t> (JFrog XRAY, …)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2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Závěr</a:t>
            </a:r>
            <a:endParaRPr b="1" sz="5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Distribuce aplikací</a:t>
            </a:r>
            <a:endParaRPr/>
          </a:p>
        </p:txBody>
      </p:sp>
      <p:sp>
        <p:nvSpPr>
          <p:cNvPr id="240" name="Google Shape;240;p43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800"/>
              <a:t>Container Images + Helm Packages</a:t>
            </a:r>
            <a:br>
              <a:rPr b="1" lang="en" sz="3800"/>
            </a:br>
            <a:r>
              <a:rPr b="1" lang="en" sz="2300"/>
              <a:t>                    (registry)                                               (git) </a:t>
            </a:r>
            <a:endParaRPr b="1" sz="2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Nezavislá na runtime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3000"/>
              <a:t>Docker, Containerd, CRI-O, …</a:t>
            </a:r>
            <a:endParaRPr sz="3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"Nezávislá" na orchestrátoru</a:t>
            </a:r>
            <a:endParaRPr b="1"/>
          </a:p>
          <a:p>
            <a:pPr indent="-419100" lvl="0" marL="457200" rtl="0" algn="l">
              <a:spcBef>
                <a:spcPts val="1600"/>
              </a:spcBef>
              <a:spcAft>
                <a:spcPts val="0"/>
              </a:spcAft>
              <a:buSzPts val="3000"/>
              <a:buChar char="-"/>
            </a:pPr>
            <a:r>
              <a:rPr lang="en" sz="3000"/>
              <a:t>Kubernetes - EKS, AKS, Tanzu, RKE2, …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 sz="3000"/>
              <a:t>OpenShift, OKD</a:t>
            </a:r>
            <a:endParaRPr sz="3000"/>
          </a:p>
        </p:txBody>
      </p:sp>
      <p:sp>
        <p:nvSpPr>
          <p:cNvPr id="246" name="Google Shape;246;p4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Aplikace je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Jasná hranice mezi aplikací a platformou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5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Hranice mezi kontejnerem a kontejnerizační platformou je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Docker Images + Helm Package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Konfigurace pomocí Helm values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Aplikace vystavena pomocí Ingress objektu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jsou v </a:t>
            </a:r>
            <a:r>
              <a:rPr lang="en"/>
              <a:t>PersitentVolumes</a:t>
            </a:r>
            <a:r>
              <a:rPr lang="en"/>
              <a:t> v Kubernetes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Logy na STDOUT, STDERR </a:t>
            </a:r>
            <a:r>
              <a:rPr lang="en"/>
              <a:t>-</a:t>
            </a:r>
            <a:r>
              <a:rPr lang="en"/>
              <a:t> napojen</a:t>
            </a:r>
            <a:r>
              <a:rPr lang="en"/>
              <a:t>í</a:t>
            </a:r>
            <a:r>
              <a:rPr lang="en"/>
              <a:t> na centrální log management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Žádná závislost na okolním prostředí (Kubernetes distribuce, velikost, …)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6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0"/>
              <a:t>Díky za pozornost</a:t>
            </a:r>
            <a:endParaRPr b="1" sz="75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7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0"/>
              <a:t>Otázky?</a:t>
            </a:r>
            <a:endParaRPr b="1" sz="7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8"/>
          <p:cNvSpPr txBox="1"/>
          <p:nvPr>
            <p:ph type="title"/>
          </p:nvPr>
        </p:nvSpPr>
        <p:spPr>
          <a:xfrm>
            <a:off x="283100" y="712150"/>
            <a:ext cx="8518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</a:rPr>
              <a:t>Email</a:t>
            </a:r>
            <a:br>
              <a:rPr lang="en">
                <a:solidFill>
                  <a:srgbClr val="FFFFFF"/>
                </a:solidFill>
              </a:rPr>
            </a:br>
            <a:r>
              <a:rPr lang="en" sz="4200">
                <a:solidFill>
                  <a:srgbClr val="FFFFFF"/>
                </a:solidFill>
              </a:rPr>
              <a:t>ondrej@sika.io</a:t>
            </a:r>
            <a:endParaRPr sz="4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lt1"/>
                </a:solidFill>
              </a:rPr>
              <a:t>Twitter</a:t>
            </a:r>
            <a:endParaRPr b="0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@ondrejsika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lt1"/>
                </a:solidFill>
              </a:rPr>
              <a:t>LinkedIn</a:t>
            </a:r>
            <a:endParaRPr b="0"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/in/ondrejsika</a:t>
            </a:r>
            <a:endParaRPr sz="4200">
              <a:solidFill>
                <a:srgbClr val="FFFFFF"/>
              </a:solidFill>
            </a:endParaRPr>
          </a:p>
        </p:txBody>
      </p:sp>
      <p:pic>
        <p:nvPicPr>
          <p:cNvPr id="270" name="Google Shape;27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9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ndrej Sika - prezentace tmava v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E1E1E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