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</p:sldIdLst>
  <p:sldSz cy="5143500" cx="9144000"/>
  <p:notesSz cx="6858000" cy="9144000"/>
  <p:embeddedFontLst>
    <p:embeddedFont>
      <p:font typeface="IBM Plex Sans"/>
      <p:regular r:id="rId55"/>
      <p:bold r:id="rId56"/>
      <p:italic r:id="rId57"/>
      <p:boldItalic r:id="rId58"/>
    </p:embeddedFont>
    <p:embeddedFont>
      <p:font typeface="Overpass"/>
      <p:regular r:id="rId59"/>
      <p:bold r:id="rId60"/>
      <p:italic r:id="rId61"/>
      <p:boldItalic r:id="rId62"/>
    </p:embeddedFont>
    <p:embeddedFont>
      <p:font typeface="IBM Plex Mono SemiBold"/>
      <p:regular r:id="rId63"/>
      <p:bold r:id="rId64"/>
      <p:italic r:id="rId65"/>
      <p:boldItalic r:id="rId66"/>
    </p:embeddedFont>
    <p:embeddedFont>
      <p:font typeface="Overpass SemiBold"/>
      <p:regular r:id="rId67"/>
      <p:bold r:id="rId68"/>
      <p:italic r:id="rId69"/>
      <p:boldItalic r:id="rId70"/>
    </p:embeddedFont>
    <p:embeddedFont>
      <p:font typeface="IBM Plex Mono"/>
      <p:regular r:id="rId71"/>
      <p:bold r:id="rId72"/>
      <p:italic r:id="rId73"/>
      <p:boldItalic r:id="rId7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73" Type="http://schemas.openxmlformats.org/officeDocument/2006/relationships/font" Target="fonts/IBMPlexMono-italic.fntdata"/><Relationship Id="rId72" Type="http://schemas.openxmlformats.org/officeDocument/2006/relationships/font" Target="fonts/IBMPlexMono-bold.fntdata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74" Type="http://schemas.openxmlformats.org/officeDocument/2006/relationships/font" Target="fonts/IBMPlexMono-boldItalic.fntdata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71" Type="http://schemas.openxmlformats.org/officeDocument/2006/relationships/font" Target="fonts/IBMPlexMono-regular.fntdata"/><Relationship Id="rId70" Type="http://schemas.openxmlformats.org/officeDocument/2006/relationships/font" Target="fonts/OverpassSemiBold-boldItalic.fntdata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schemas.openxmlformats.org/officeDocument/2006/relationships/font" Target="fonts/Overpass-boldItalic.fntdata"/><Relationship Id="rId61" Type="http://schemas.openxmlformats.org/officeDocument/2006/relationships/font" Target="fonts/Overpass-italic.fntdata"/><Relationship Id="rId20" Type="http://schemas.openxmlformats.org/officeDocument/2006/relationships/slide" Target="slides/slide16.xml"/><Relationship Id="rId64" Type="http://schemas.openxmlformats.org/officeDocument/2006/relationships/font" Target="fonts/IBMPlexMonoSemiBold-bold.fntdata"/><Relationship Id="rId63" Type="http://schemas.openxmlformats.org/officeDocument/2006/relationships/font" Target="fonts/IBMPlexMonoSemiBold-regular.fntdata"/><Relationship Id="rId22" Type="http://schemas.openxmlformats.org/officeDocument/2006/relationships/slide" Target="slides/slide18.xml"/><Relationship Id="rId66" Type="http://schemas.openxmlformats.org/officeDocument/2006/relationships/font" Target="fonts/IBMPlexMonoSemiBold-boldItalic.fntdata"/><Relationship Id="rId21" Type="http://schemas.openxmlformats.org/officeDocument/2006/relationships/slide" Target="slides/slide17.xml"/><Relationship Id="rId65" Type="http://schemas.openxmlformats.org/officeDocument/2006/relationships/font" Target="fonts/IBMPlexMonoSemiBold-italic.fntdata"/><Relationship Id="rId24" Type="http://schemas.openxmlformats.org/officeDocument/2006/relationships/slide" Target="slides/slide20.xml"/><Relationship Id="rId68" Type="http://schemas.openxmlformats.org/officeDocument/2006/relationships/font" Target="fonts/OverpassSemiBold-bold.fntdata"/><Relationship Id="rId23" Type="http://schemas.openxmlformats.org/officeDocument/2006/relationships/slide" Target="slides/slide19.xml"/><Relationship Id="rId67" Type="http://schemas.openxmlformats.org/officeDocument/2006/relationships/font" Target="fonts/OverpassSemiBold-regular.fntdata"/><Relationship Id="rId60" Type="http://schemas.openxmlformats.org/officeDocument/2006/relationships/font" Target="fonts/Overpass-bold.fntdata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69" Type="http://schemas.openxmlformats.org/officeDocument/2006/relationships/font" Target="fonts/OverpassSemiBold-italic.fntdata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font" Target="fonts/IBMPlexSans-regular.fntdata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57" Type="http://schemas.openxmlformats.org/officeDocument/2006/relationships/font" Target="fonts/IBMPlexSans-italic.fntdata"/><Relationship Id="rId12" Type="http://schemas.openxmlformats.org/officeDocument/2006/relationships/slide" Target="slides/slide8.xml"/><Relationship Id="rId56" Type="http://schemas.openxmlformats.org/officeDocument/2006/relationships/font" Target="fonts/IBMPlexSans-bold.fntdata"/><Relationship Id="rId15" Type="http://schemas.openxmlformats.org/officeDocument/2006/relationships/slide" Target="slides/slide11.xml"/><Relationship Id="rId59" Type="http://schemas.openxmlformats.org/officeDocument/2006/relationships/font" Target="fonts/Overpass-regular.fntdata"/><Relationship Id="rId14" Type="http://schemas.openxmlformats.org/officeDocument/2006/relationships/slide" Target="slides/slide10.xml"/><Relationship Id="rId58" Type="http://schemas.openxmlformats.org/officeDocument/2006/relationships/font" Target="fonts/IBMPlexSans-boldItalic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1296ab4fe07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1296ab4fe07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10dffc962b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10dffc962b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296ab4fe07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1296ab4fe07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1296ab4fe07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1296ab4fe07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1296ab4fe07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1296ab4fe07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296ab4fe07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1296ab4fe07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296ab4fe07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1296ab4fe07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296ab4fe07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1296ab4fe07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14d43bc941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114d43bc941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296ab4fe07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1296ab4fe07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296ab4fe07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1296ab4fe07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296ab4fe07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1296ab4fe07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12977817d3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12977817d3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296ab4fe07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1296ab4fe07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2977817d35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12977817d35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2977817d35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12977817d35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1296ab4fe07_0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1296ab4fe07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12977817d35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12977817d35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296ab4fe07_0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1296ab4fe07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12977817d35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12977817d35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1296ab4fe07_0_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1296ab4fe07_0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1296ab4fe07_0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1296ab4fe07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2977817d35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12977817d35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12977817d35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12977817d35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1296ab4fe07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1296ab4fe07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114d43bc941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114d43bc941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14d43bc941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114d43bc941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12977817d35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12977817d35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12977817d35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12977817d35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12977817d35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12977817d35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14d43bc941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14d43bc941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12977817d35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12977817d35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12977817d35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12977817d35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12977817d35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12977817d35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12977817d35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12977817d35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12977817d35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12977817d35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12977817d35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12977817d35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12977817d35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12977817d35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12977817d35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12977817d3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12977817d35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12977817d35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12977817d35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12977817d35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12977817d35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12977817d35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12977817d35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12977817d35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12977817d35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12977817d35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12977817d35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12977817d35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1296ab4fe07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1296ab4fe07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1296ab4fe07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1296ab4fe07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1296ab4fe07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1296ab4fe07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1296ab4fe07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1296ab4fe07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6" name="Google Shape;16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verpass"/>
              <a:buNone/>
              <a:defRPr sz="2800">
                <a:latin typeface="Overpass"/>
                <a:ea typeface="Overpass"/>
                <a:cs typeface="Overpass"/>
                <a:sym typeface="Overpas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◻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▫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◻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▫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◻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▫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147950"/>
            <a:ext cx="58749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◻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▫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verpass SemiBold"/>
              <a:buNone/>
              <a:defRPr sz="21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◻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▫"/>
              <a:defRPr/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verpass"/>
              <a:buNone/>
              <a:defRPr>
                <a:latin typeface="Overpass"/>
                <a:ea typeface="Overpass"/>
                <a:cs typeface="Overpass"/>
                <a:sym typeface="Overpass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◻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▫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6.xml"/><Relationship Id="rId10" Type="http://schemas.openxmlformats.org/officeDocument/2006/relationships/slideLayout" Target="../slideLayouts/slideLayout5.xml"/><Relationship Id="rId13" Type="http://schemas.openxmlformats.org/officeDocument/2006/relationships/slideLayout" Target="../slideLayouts/slideLayout8.xml"/><Relationship Id="rId12" Type="http://schemas.openxmlformats.org/officeDocument/2006/relationships/slideLayout" Target="../slideLayouts/slideLayout7.xml"/><Relationship Id="rId1" Type="http://schemas.openxmlformats.org/officeDocument/2006/relationships/image" Target="../media/image1.jpg"/><Relationship Id="rId2" Type="http://schemas.openxmlformats.org/officeDocument/2006/relationships/hyperlink" Target="https://twitter.com/ondrejsika" TargetMode="External"/><Relationship Id="rId3" Type="http://schemas.openxmlformats.org/officeDocument/2006/relationships/hyperlink" Target="mailto:ondrej@sika.io" TargetMode="External"/><Relationship Id="rId4" Type="http://schemas.openxmlformats.org/officeDocument/2006/relationships/hyperlink" Target="https://sika.io" TargetMode="External"/><Relationship Id="rId9" Type="http://schemas.openxmlformats.org/officeDocument/2006/relationships/slideLayout" Target="../slideLayouts/slideLayout4.xml"/><Relationship Id="rId15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9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1.xml"/><Relationship Id="rId5" Type="http://schemas.openxmlformats.org/officeDocument/2006/relationships/hyperlink" Target="https://linkedin.com/in/ondrejsika" TargetMode="External"/><Relationship Id="rId6" Type="http://schemas.openxmlformats.org/officeDocument/2006/relationships/slideLayout" Target="../slideLayouts/slideLayout1.xml"/><Relationship Id="rId7" Type="http://schemas.openxmlformats.org/officeDocument/2006/relationships/slideLayout" Target="../slideLayouts/slideLayout2.xml"/><Relationship Id="rId8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2500"/>
              <a:buFont typeface="IBM Plex Mono"/>
              <a:buNone/>
              <a:defRPr b="1" sz="2500">
                <a:solidFill>
                  <a:srgbClr val="E1E1E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8BFB0"/>
              </a:buClr>
              <a:buSzPts val="1800"/>
              <a:buFont typeface="IBM Plex Sans"/>
              <a:buChar char="■"/>
              <a:defRPr sz="1800"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C8BFB0"/>
              </a:buClr>
              <a:buSzPts val="1400"/>
              <a:buFont typeface="IBM Plex Sans"/>
              <a:buChar char="◻"/>
              <a:defRPr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C8BFB0"/>
              </a:buClr>
              <a:buSzPts val="1400"/>
              <a:buFont typeface="IBM Plex Sans"/>
              <a:buChar char="▫"/>
              <a:defRPr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1E1E1"/>
              </a:buClr>
              <a:buSzPts val="1400"/>
              <a:buFont typeface="IBM Plex Sans"/>
              <a:buChar char="▫"/>
              <a:defRPr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C8BFB0"/>
              </a:buClr>
              <a:buSzPts val="1400"/>
              <a:buFont typeface="IBM Plex Sans"/>
              <a:buChar char="▫"/>
              <a:defRPr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C8BFB0"/>
              </a:buClr>
              <a:buSzPts val="1400"/>
              <a:buFont typeface="IBM Plex Sans"/>
              <a:buChar char="▫"/>
              <a:defRPr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C8BFB0"/>
              </a:buClr>
              <a:buSzPts val="1400"/>
              <a:buFont typeface="IBM Plex Sans"/>
              <a:buChar char="▫"/>
              <a:defRPr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C8BFB0"/>
              </a:buClr>
              <a:buSzPts val="1400"/>
              <a:buFont typeface="IBM Plex Sans"/>
              <a:buChar char="▫"/>
              <a:defRPr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C8BFB0"/>
              </a:buClr>
              <a:buSzPts val="1400"/>
              <a:buFont typeface="IBM Plex Sans"/>
              <a:buChar char="▫"/>
              <a:defRPr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>
            <p:ph idx="2" type="title"/>
          </p:nvPr>
        </p:nvSpPr>
        <p:spPr>
          <a:xfrm>
            <a:off x="311700" y="703375"/>
            <a:ext cx="7033800" cy="5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808080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/>
        </p:nvSpPr>
        <p:spPr>
          <a:xfrm>
            <a:off x="311700" y="4663225"/>
            <a:ext cx="10914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1E1E1"/>
                </a:solidFill>
                <a:uFill>
                  <a:noFill/>
                </a:uFill>
                <a:latin typeface="IBM Plex Mono SemiBold"/>
                <a:ea typeface="IBM Plex Mono SemiBold"/>
                <a:cs typeface="IBM Plex Mono SemiBold"/>
                <a:sym typeface="IBM Plex Mono SemiBold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@ondrejsika</a:t>
            </a:r>
            <a:endParaRPr sz="900">
              <a:solidFill>
                <a:srgbClr val="E1E1E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11" name="Google Shape;11;p1"/>
          <p:cNvSpPr txBox="1"/>
          <p:nvPr/>
        </p:nvSpPr>
        <p:spPr>
          <a:xfrm>
            <a:off x="1249500" y="4663225"/>
            <a:ext cx="11928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hlink"/>
                </a:solidFill>
                <a:uFill>
                  <a:noFill/>
                </a:uFill>
                <a:latin typeface="IBM Plex Mono SemiBold"/>
                <a:ea typeface="IBM Plex Mono SemiBold"/>
                <a:cs typeface="IBM Plex Mono SemiBold"/>
                <a:sym typeface="IBM Plex Mono SemiBold"/>
                <a:hlinkClick r:id="rId3"/>
              </a:rPr>
              <a:t>ondrej@sika.io</a:t>
            </a:r>
            <a:endParaRPr sz="900">
              <a:solidFill>
                <a:srgbClr val="E1E1E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2375925" y="4663225"/>
            <a:ext cx="9963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hlink"/>
                </a:solidFill>
                <a:uFill>
                  <a:noFill/>
                </a:uFill>
                <a:latin typeface="IBM Plex Mono SemiBold"/>
                <a:ea typeface="IBM Plex Mono SemiBold"/>
                <a:cs typeface="IBM Plex Mono SemiBold"/>
                <a:sym typeface="IBM Plex Mono SemiBold"/>
                <a:hlinkClick r:id="rId4"/>
              </a:rPr>
              <a:t>sika.io</a:t>
            </a:r>
            <a:endParaRPr sz="900">
              <a:solidFill>
                <a:srgbClr val="E1E1E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3002225" y="4663250"/>
            <a:ext cx="12951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hlink"/>
                </a:solidFill>
                <a:uFill>
                  <a:noFill/>
                </a:uFill>
                <a:latin typeface="IBM Plex Mono"/>
                <a:ea typeface="IBM Plex Mono"/>
                <a:cs typeface="IBM Plex Mono"/>
                <a:sym typeface="IBM Plex Mono"/>
                <a:hlinkClick r:id="rId5"/>
              </a:rPr>
              <a:t>/in/ondrejsika</a:t>
            </a:r>
            <a:endParaRPr b="1" sz="900">
              <a:solidFill>
                <a:srgbClr val="E1E1E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6"/>
    <p:sldLayoutId id="2147483649" r:id="rId7"/>
    <p:sldLayoutId id="2147483650" r:id="rId8"/>
    <p:sldLayoutId id="2147483651" r:id="rId9"/>
    <p:sldLayoutId id="2147483652" r:id="rId10"/>
    <p:sldLayoutId id="2147483653" r:id="rId11"/>
    <p:sldLayoutId id="2147483654" r:id="rId12"/>
    <p:sldLayoutId id="2147483655" r:id="rId13"/>
    <p:sldLayoutId id="2147483656" r:id="rId14"/>
    <p:sldLayoutId id="2147483657" r:id="rId15"/>
    <p:sldLayoutId id="2147483658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hyperlink" Target="mailto:ondrej@sika.io" TargetMode="External"/><Relationship Id="rId5" Type="http://schemas.openxmlformats.org/officeDocument/2006/relationships/image" Target="../media/image4.png"/><Relationship Id="rId6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png"/><Relationship Id="rId4" Type="http://schemas.openxmlformats.org/officeDocument/2006/relationships/image" Target="../media/image5.png"/><Relationship Id="rId5" Type="http://schemas.openxmlformats.org/officeDocument/2006/relationships/image" Target="../media/image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1.png"/><Relationship Id="rId4" Type="http://schemas.openxmlformats.org/officeDocument/2006/relationships/image" Target="../media/image5.png"/><Relationship Id="rId5" Type="http://schemas.openxmlformats.org/officeDocument/2006/relationships/image" Target="../media/image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5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6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4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6238" y="142863"/>
            <a:ext cx="2105025" cy="2390775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311700" y="3289450"/>
            <a:ext cx="8520600" cy="13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FFFFFF"/>
                </a:solidFill>
              </a:rPr>
              <a:t>Ondřej Šika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FFFFF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ondrej@sika.io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FFFFF"/>
                </a:solidFill>
              </a:rPr>
              <a:t>@ondrejsika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FFFFFF"/>
                </a:solidFill>
              </a:rPr>
              <a:t>Cloud Computing Conference, 12. 5. 2022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61" name="Google Shape;61;p13"/>
          <p:cNvSpPr txBox="1"/>
          <p:nvPr>
            <p:ph type="ctrTitle"/>
          </p:nvPr>
        </p:nvSpPr>
        <p:spPr>
          <a:xfrm>
            <a:off x="311700" y="469250"/>
            <a:ext cx="8520600" cy="232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/>
              <a:t>Infrastructure as Code </a:t>
            </a:r>
            <a:endParaRPr sz="2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/>
              <a:t>a GitOps pomocí </a:t>
            </a:r>
            <a:endParaRPr sz="2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/>
              <a:t>Terraformu</a:t>
            </a:r>
            <a:endParaRPr sz="2900"/>
          </a:p>
        </p:txBody>
      </p:sp>
      <p:pic>
        <p:nvPicPr>
          <p:cNvPr id="62" name="Google Shape;62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74975" y="1152850"/>
            <a:ext cx="3895025" cy="399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38325" y="2129072"/>
            <a:ext cx="1503375" cy="1503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Ondřej Šika</a:t>
            </a:r>
            <a:endParaRPr/>
          </a:p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311700" y="777950"/>
            <a:ext cx="4608600" cy="344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Jsem DevOps lektor, architekt a konzultant z Prahy.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Navrhnu a implementuji Vám na míru DevOps architekturu od verzování v Gitu po provoz v Cloudu.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Dělám populární školení, kde své znalosti předávám tak, abyste si mohli vše udělat sami a bez zbytečných přešlapů a slepých cest.</a:t>
            </a:r>
            <a:endParaRPr/>
          </a:p>
        </p:txBody>
      </p:sp>
      <p:pic>
        <p:nvPicPr>
          <p:cNvPr id="70" name="Google Shape;7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6362" y="-1"/>
            <a:ext cx="385764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Můj </a:t>
            </a:r>
            <a:r>
              <a:rPr lang="en"/>
              <a:t>Opensource</a:t>
            </a:r>
            <a:r>
              <a:rPr lang="en"/>
              <a:t> DevOps Stack</a:t>
            </a:r>
            <a:endParaRPr/>
          </a:p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311700" y="1250152"/>
            <a:ext cx="7929000" cy="334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Git</a:t>
            </a:r>
            <a:r>
              <a:rPr lang="en"/>
              <a:t>, </a:t>
            </a:r>
            <a:r>
              <a:rPr b="1" lang="en"/>
              <a:t>Gitlab</a:t>
            </a:r>
            <a:r>
              <a:rPr lang="en"/>
              <a:t> - Versioning &amp; Collaboration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Gitlab CI</a:t>
            </a:r>
            <a:r>
              <a:rPr lang="en"/>
              <a:t>, ArgoCD</a:t>
            </a:r>
            <a:r>
              <a:rPr lang="en"/>
              <a:t> - Continuous Integration, </a:t>
            </a:r>
            <a:r>
              <a:rPr lang="en">
                <a:solidFill>
                  <a:schemeClr val="hlink"/>
                </a:solidFill>
              </a:rPr>
              <a:t>Continuous Deployment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Docker, </a:t>
            </a:r>
            <a:r>
              <a:rPr lang="en"/>
              <a:t>Kubernetes</a:t>
            </a:r>
            <a:r>
              <a:rPr lang="en"/>
              <a:t> - Containers &amp; Orchestration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RKE &amp; Rancher - Kubernetes Provisioning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Terraform</a:t>
            </a:r>
            <a:r>
              <a:rPr lang="en"/>
              <a:t> - Infrastructure management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Prometheus, Alertmanager, Grafana - Monitoring Stack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Elastic Stack / Loki - Log Management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AWS, </a:t>
            </a:r>
            <a:r>
              <a:rPr lang="en"/>
              <a:t>DigitalOcean, Proxmox - Public or Private Cloud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Ceph - On Premise Storage</a:t>
            </a:r>
            <a:br>
              <a:rPr lang="en"/>
            </a:br>
            <a:r>
              <a:rPr lang="en"/>
              <a:t>…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311700" y="777950"/>
            <a:ext cx="8213100" cy="34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5000"/>
              <a:t>Cloud is hard</a:t>
            </a:r>
            <a:endParaRPr b="1" sz="5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8100" y="362250"/>
            <a:ext cx="3773049" cy="4326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6384" y="362250"/>
            <a:ext cx="4466916" cy="2829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Cloud is hard</a:t>
            </a:r>
            <a:endParaRPr/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Rozsáhlé a ne vždy přehledné UI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Časté změny (nejen v UI)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Manuální práce - klikání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Těžko udržovaná dokumentace projektu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Nevíme, co nám přesně běží a jak je to nastavené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Obtížné audity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Nejasný zdroj pravdy (dokumentace vs skutečnost)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311700" y="777950"/>
            <a:ext cx="8213100" cy="34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5000"/>
              <a:t>Řešení?</a:t>
            </a:r>
            <a:endParaRPr b="1" sz="5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311700" y="777950"/>
            <a:ext cx="8213100" cy="34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5000"/>
              <a:t>IaC &amp; GitOps</a:t>
            </a:r>
            <a:endParaRPr b="1" sz="5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1"/>
          <p:cNvSpPr txBox="1"/>
          <p:nvPr>
            <p:ph idx="1" type="body"/>
          </p:nvPr>
        </p:nvSpPr>
        <p:spPr>
          <a:xfrm>
            <a:off x="311700" y="777950"/>
            <a:ext cx="8213100" cy="34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5000"/>
              <a:t>Co je IaC?</a:t>
            </a:r>
            <a:endParaRPr b="1" sz="5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 je</a:t>
            </a:r>
            <a:r>
              <a:rPr lang="en"/>
              <a:t> IaC?</a:t>
            </a:r>
            <a:endParaRPr/>
          </a:p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311700" y="1250150"/>
            <a:ext cx="85206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800"/>
              <a:t>Infrastructure as code</a:t>
            </a:r>
            <a:r>
              <a:rPr lang="en" sz="2800"/>
              <a:t> (</a:t>
            </a:r>
            <a:r>
              <a:rPr b="1" lang="en" sz="2800"/>
              <a:t>IaC</a:t>
            </a:r>
            <a:r>
              <a:rPr lang="en" sz="2800"/>
              <a:t>) je způsob, jakým spravovat veřejné i privátní cloudy pomocí </a:t>
            </a:r>
            <a:r>
              <a:rPr b="1" lang="en" sz="2800"/>
              <a:t>deklarativně definovaných</a:t>
            </a:r>
            <a:r>
              <a:rPr lang="en" sz="2800"/>
              <a:t> konfiguračních souborů, které používají nástroje pro správu infrastruktury jako zdroj pravdy.</a:t>
            </a:r>
            <a:endParaRPr sz="2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3"/>
          <p:cNvSpPr txBox="1"/>
          <p:nvPr>
            <p:ph idx="1" type="body"/>
          </p:nvPr>
        </p:nvSpPr>
        <p:spPr>
          <a:xfrm>
            <a:off x="311700" y="777950"/>
            <a:ext cx="8213100" cy="34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5000"/>
              <a:t>Co je</a:t>
            </a:r>
            <a:r>
              <a:rPr b="1" lang="en" sz="5000"/>
              <a:t> GitOps?</a:t>
            </a:r>
            <a:endParaRPr b="1" sz="5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 je</a:t>
            </a:r>
            <a:r>
              <a:rPr lang="en"/>
              <a:t> GitOps?</a:t>
            </a:r>
            <a:endParaRPr/>
          </a:p>
        </p:txBody>
      </p:sp>
      <p:sp>
        <p:nvSpPr>
          <p:cNvPr id="130" name="Google Shape;130;p24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800"/>
              <a:t>GitOps</a:t>
            </a:r>
            <a:r>
              <a:rPr lang="en" sz="2800"/>
              <a:t> je přístup, kdy máme jako </a:t>
            </a:r>
            <a:r>
              <a:rPr b="1" lang="en" sz="2800"/>
              <a:t>jediný zdroj pravdy</a:t>
            </a:r>
            <a:r>
              <a:rPr lang="en" sz="2800"/>
              <a:t> </a:t>
            </a:r>
            <a:r>
              <a:rPr b="1" lang="en" sz="2800"/>
              <a:t>Git repozitář</a:t>
            </a:r>
            <a:r>
              <a:rPr lang="en" sz="2800"/>
              <a:t> a vše (infrastruktura i aplikace) jsou v něm deklarativně definované. Podle toho víme, kdo kdy a co nasadil a můžeme efektivně spolupracovat.</a:t>
            </a:r>
            <a:endParaRPr sz="2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5"/>
          <p:cNvSpPr txBox="1"/>
          <p:nvPr>
            <p:ph idx="1" type="body"/>
          </p:nvPr>
        </p:nvSpPr>
        <p:spPr>
          <a:xfrm>
            <a:off x="311700" y="777950"/>
            <a:ext cx="8520600" cy="34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5000"/>
              <a:t>GitOps = IaC + MRs + CI/CD</a:t>
            </a:r>
            <a:endParaRPr b="1" sz="5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6"/>
          <p:cNvSpPr txBox="1"/>
          <p:nvPr>
            <p:ph idx="1" type="body"/>
          </p:nvPr>
        </p:nvSpPr>
        <p:spPr>
          <a:xfrm>
            <a:off x="311700" y="777950"/>
            <a:ext cx="8520600" cy="34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5000"/>
          </a:p>
        </p:txBody>
      </p:sp>
      <p:pic>
        <p:nvPicPr>
          <p:cNvPr id="143" name="Google Shape;14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33130"/>
            <a:ext cx="9144000" cy="4130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7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Infrastructure as Code &amp; GitOps</a:t>
            </a:r>
            <a:endParaRPr/>
          </a:p>
        </p:txBody>
      </p:sp>
      <p:sp>
        <p:nvSpPr>
          <p:cNvPr id="149" name="Google Shape;149;p27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Přístup IaC a GitOps nám umožňuje: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Jediný zdroj pravdy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Jasná a přehledná historie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Spolupráce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Merge requests &amp; Code review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CI/CD Automatizací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Dynamické prostředí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Jednoduchý audit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Recyklace předchozí práce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8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Jediný zdroj pravdy</a:t>
            </a:r>
            <a:endParaRPr/>
          </a:p>
        </p:txBody>
      </p:sp>
      <p:sp>
        <p:nvSpPr>
          <p:cNvPr id="155" name="Google Shape;155;p28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Git repozitář určuje, co a jak má být nastavené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Terraform (případně jiný nástroj) tyto zdrojové kódy přímo aplikuje, nelze aby vznikl rozdíl, co je deklarováno a co je nasazeno.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Při manuálním nasazování z dokumentace se jednoduše udělá chyba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Není možné nic měnit jinou formou, to znamená, že vše, co se aplikuje, musí jít přes Git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9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Jasná a přehledná historie</a:t>
            </a:r>
            <a:endParaRPr/>
          </a:p>
        </p:txBody>
      </p:sp>
      <p:sp>
        <p:nvSpPr>
          <p:cNvPr id="161" name="Google Shape;161;p29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Každá změna je commit (vytvořený člověkem nebo strojem (bot))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Pomocí běžných nástrojů pro práci s Gitem vidíme historii - jak a co  bylo nasazováno a upravováno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Můžeme se kdykoliv vrátit do historie nebo porovnát různé verze co se změnilo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0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Historie změn v Gitu</a:t>
            </a:r>
            <a:endParaRPr/>
          </a:p>
        </p:txBody>
      </p:sp>
      <p:pic>
        <p:nvPicPr>
          <p:cNvPr id="167" name="Google Shape;16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950" y="940726"/>
            <a:ext cx="7650100" cy="326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1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Spolupráce, Merge Requesty a Code Review</a:t>
            </a:r>
            <a:endParaRPr/>
          </a:p>
        </p:txBody>
      </p:sp>
      <p:sp>
        <p:nvSpPr>
          <p:cNvPr id="173" name="Google Shape;173;p31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Díky Gitu můžeme vyvíjet infrastruturu v cloudu stejně jako software: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Merge Requesty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Testy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Code review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2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Spolupráce, MRs, Code Review</a:t>
            </a:r>
            <a:endParaRPr/>
          </a:p>
        </p:txBody>
      </p:sp>
      <p:sp>
        <p:nvSpPr>
          <p:cNvPr id="179" name="Google Shape;179;p32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8275" y="832325"/>
            <a:ext cx="5947473" cy="351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3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Dynamické prostředí</a:t>
            </a:r>
            <a:endParaRPr/>
          </a:p>
        </p:txBody>
      </p:sp>
      <p:sp>
        <p:nvSpPr>
          <p:cNvPr id="186" name="Google Shape;186;p33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Z jedněch zdrojových kódu můžeme pustit více prostředí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Prostředí mohou být různá nebo identická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Prostředí můžeme jednoduše dynamicky zapínat a vypínat podle potřeby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4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Dynamické prostředí</a:t>
            </a:r>
            <a:endParaRPr/>
          </a:p>
        </p:txBody>
      </p:sp>
      <p:pic>
        <p:nvPicPr>
          <p:cNvPr id="192" name="Google Shape;19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4236" y="777950"/>
            <a:ext cx="7395526" cy="3709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5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35"/>
          <p:cNvSpPr txBox="1"/>
          <p:nvPr>
            <p:ph idx="1" type="body"/>
          </p:nvPr>
        </p:nvSpPr>
        <p:spPr>
          <a:xfrm>
            <a:off x="311700" y="777950"/>
            <a:ext cx="8213100" cy="34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5000"/>
              <a:t>Nástroje IaC</a:t>
            </a:r>
            <a:endParaRPr b="1" sz="50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6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36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3600" y="1073024"/>
            <a:ext cx="1616000" cy="1969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07338" y="862600"/>
            <a:ext cx="2105025" cy="2390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55850" y="2545425"/>
            <a:ext cx="2060050" cy="206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7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37"/>
          <p:cNvSpPr txBox="1"/>
          <p:nvPr>
            <p:ph idx="1" type="body"/>
          </p:nvPr>
        </p:nvSpPr>
        <p:spPr>
          <a:xfrm>
            <a:off x="311700" y="777950"/>
            <a:ext cx="8213100" cy="34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5000"/>
              <a:t>Terraform</a:t>
            </a:r>
            <a:endParaRPr b="1" sz="5000"/>
          </a:p>
        </p:txBody>
      </p:sp>
      <p:pic>
        <p:nvPicPr>
          <p:cNvPr id="214" name="Google Shape;21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27263" y="1302750"/>
            <a:ext cx="2105025" cy="239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8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 je</a:t>
            </a:r>
            <a:r>
              <a:rPr lang="en"/>
              <a:t> Terraform?</a:t>
            </a:r>
            <a:endParaRPr/>
          </a:p>
        </p:txBody>
      </p:sp>
      <p:sp>
        <p:nvSpPr>
          <p:cNvPr id="220" name="Google Shape;220;p38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4100"/>
              <a:t>Terraform</a:t>
            </a:r>
            <a:r>
              <a:rPr lang="en" sz="4100"/>
              <a:t> je management tool který umožňuje spravovat </a:t>
            </a:r>
            <a:r>
              <a:rPr b="1" lang="en" sz="4100"/>
              <a:t>Infrastrukturu formou kódu</a:t>
            </a:r>
            <a:endParaRPr b="1" sz="41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20350" y="-520325"/>
            <a:ext cx="6706075" cy="384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73642" y="1502175"/>
            <a:ext cx="7699585" cy="384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0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Vlastnosti Terraformu</a:t>
            </a:r>
            <a:endParaRPr/>
          </a:p>
        </p:txBody>
      </p:sp>
      <p:sp>
        <p:nvSpPr>
          <p:cNvPr id="232" name="Google Shape;232;p40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Nezavislý na cloud provideru</a:t>
            </a:r>
            <a:r>
              <a:rPr lang="en"/>
              <a:t> - pracuje se všemi cloudy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Podpora multicloud řešení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Dekarativní přístup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Full state management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Open source &amp; Free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Podpora vlastních pluginů a rozšíření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De facto standart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Hodně rozšíření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1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Teraform a ostatní nástroje</a:t>
            </a:r>
            <a:endParaRPr/>
          </a:p>
        </p:txBody>
      </p:sp>
      <p:sp>
        <p:nvSpPr>
          <p:cNvPr id="238" name="Google Shape;238;p41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Terraform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Cloudformation, AzureRM, …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Ansible, Puppet, Chef, …</a:t>
            </a:r>
            <a:endParaRPr/>
          </a:p>
        </p:txBody>
      </p:sp>
      <p:pic>
        <p:nvPicPr>
          <p:cNvPr id="239" name="Google Shape;239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4900" y="2511249"/>
            <a:ext cx="1616000" cy="1969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63288" y="402513"/>
            <a:ext cx="2105025" cy="2390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75150" y="1690575"/>
            <a:ext cx="2060050" cy="206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2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Cloudformation, AzureRM, …</a:t>
            </a:r>
            <a:endParaRPr/>
          </a:p>
        </p:txBody>
      </p:sp>
      <p:sp>
        <p:nvSpPr>
          <p:cNvPr id="247" name="Google Shape;247;p42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Nástroje určené na správu cloudu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Jsou svázané s konkrétním cloud providerem</a:t>
            </a:r>
            <a:endParaRPr/>
          </a:p>
        </p:txBody>
      </p:sp>
      <p:pic>
        <p:nvPicPr>
          <p:cNvPr id="248" name="Google Shape;248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16300" y="205249"/>
            <a:ext cx="1616000" cy="1969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3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Ansible, Puppet, Chef, …</a:t>
            </a:r>
            <a:endParaRPr/>
          </a:p>
        </p:txBody>
      </p:sp>
      <p:sp>
        <p:nvSpPr>
          <p:cNvPr id="254" name="Google Shape;254;p43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Nástroje určené primárně pro konfiguraci severu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Nejsou plně deklarativní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Absence state - neefektivní mazání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Pomalé</a:t>
            </a:r>
            <a:endParaRPr/>
          </a:p>
        </p:txBody>
      </p:sp>
      <p:pic>
        <p:nvPicPr>
          <p:cNvPr id="255" name="Google Shape;255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72250" y="451200"/>
            <a:ext cx="2060050" cy="206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4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Terraform, Ansible &amp; Application Deployment</a:t>
            </a:r>
            <a:endParaRPr/>
          </a:p>
        </p:txBody>
      </p:sp>
      <p:pic>
        <p:nvPicPr>
          <p:cNvPr id="261" name="Google Shape;261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375" y="777950"/>
            <a:ext cx="8197957" cy="406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5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45"/>
          <p:cNvSpPr txBox="1"/>
          <p:nvPr>
            <p:ph idx="1" type="body"/>
          </p:nvPr>
        </p:nvSpPr>
        <p:spPr>
          <a:xfrm>
            <a:off x="311700" y="777950"/>
            <a:ext cx="8213100" cy="34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5000"/>
              <a:t>Terraform + GitOps</a:t>
            </a:r>
            <a:endParaRPr b="1" sz="50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6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46"/>
          <p:cNvSpPr txBox="1"/>
          <p:nvPr>
            <p:ph idx="1" type="body"/>
          </p:nvPr>
        </p:nvSpPr>
        <p:spPr>
          <a:xfrm>
            <a:off x="311700" y="777950"/>
            <a:ext cx="8213100" cy="34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5000"/>
              <a:t>Terraform + Gitlab CI/CD</a:t>
            </a:r>
            <a:endParaRPr b="1" sz="50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7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Gitlab CI + Terraform</a:t>
            </a:r>
            <a:endParaRPr/>
          </a:p>
        </p:txBody>
      </p:sp>
      <p:sp>
        <p:nvSpPr>
          <p:cNvPr id="279" name="Google Shape;279;p47"/>
          <p:cNvSpPr txBox="1"/>
          <p:nvPr>
            <p:ph idx="1" type="body"/>
          </p:nvPr>
        </p:nvSpPr>
        <p:spPr>
          <a:xfrm>
            <a:off x="311700" y="1250150"/>
            <a:ext cx="44829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Velmi dobrý CI/CD nástroj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Nativní integrace s Gitlabem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merge requesty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code reviews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Nativní podpora Terraformu</a:t>
            </a:r>
            <a:endParaRPr/>
          </a:p>
        </p:txBody>
      </p:sp>
      <p:pic>
        <p:nvPicPr>
          <p:cNvPr id="280" name="Google Shape;280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4650" y="0"/>
            <a:ext cx="434935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8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Gitlab CI + Terraform Workflow</a:t>
            </a:r>
            <a:endParaRPr/>
          </a:p>
        </p:txBody>
      </p:sp>
      <p:pic>
        <p:nvPicPr>
          <p:cNvPr id="286" name="Google Shape;286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5499" y="777950"/>
            <a:ext cx="6893000" cy="381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9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Alternativy ke </a:t>
            </a:r>
            <a:r>
              <a:rPr lang="en"/>
              <a:t>Gitlab CI</a:t>
            </a:r>
            <a:endParaRPr/>
          </a:p>
        </p:txBody>
      </p:sp>
      <p:sp>
        <p:nvSpPr>
          <p:cNvPr id="292" name="Google Shape;292;p49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Github Actions - prakticky stejné,  akorát pro Github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Terraform Cloud - CD nástroj nezavislý na Git hostingu 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50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Práce s Terraformem</a:t>
            </a:r>
            <a:endParaRPr/>
          </a:p>
        </p:txBody>
      </p:sp>
      <p:sp>
        <p:nvSpPr>
          <p:cNvPr id="298" name="Google Shape;298;p50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Terraform je plně deklarativní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Podpora cloudu pomocí provideru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Moduly &amp; Terraform Registry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Linter, Formater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Podpora externích (nebo ručně vytvořených) cloud resourcu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Import stávající infrastruktury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51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Imperativní vs Deklarativní přístup</a:t>
            </a:r>
            <a:endParaRPr/>
          </a:p>
        </p:txBody>
      </p:sp>
      <p:sp>
        <p:nvSpPr>
          <p:cNvPr id="304" name="Google Shape;304;p51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Imperativní přístup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sada příkazů, co se mají vykonat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příklad: Pokud neexistuje server, tak ho vytvoř v zóně us-east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Deklarativní přístup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popisuje finální stav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příklad: chci server v zóně us-east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20350" y="-520325"/>
            <a:ext cx="5841949" cy="334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" y="1875525"/>
            <a:ext cx="6707441" cy="334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63000" y="396175"/>
            <a:ext cx="5841951" cy="38051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3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53"/>
          <p:cNvSpPr txBox="1"/>
          <p:nvPr>
            <p:ph idx="1" type="body"/>
          </p:nvPr>
        </p:nvSpPr>
        <p:spPr>
          <a:xfrm>
            <a:off x="311700" y="777950"/>
            <a:ext cx="8213100" cy="34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5000"/>
              <a:t>Další výhody Terraformu</a:t>
            </a:r>
            <a:endParaRPr b="1" sz="50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54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54"/>
          <p:cNvSpPr txBox="1"/>
          <p:nvPr>
            <p:ph idx="1" type="body"/>
          </p:nvPr>
        </p:nvSpPr>
        <p:spPr>
          <a:xfrm>
            <a:off x="311700" y="777950"/>
            <a:ext cx="8213100" cy="34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5000"/>
              <a:t>Infracost</a:t>
            </a:r>
            <a:endParaRPr b="1" sz="50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55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Infracost</a:t>
            </a:r>
            <a:endParaRPr/>
          </a:p>
        </p:txBody>
      </p:sp>
      <p:sp>
        <p:nvSpPr>
          <p:cNvPr id="329" name="Google Shape;329;p55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Nástroj na odhadování ceny v cloudu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Prochází Terraform zdrojové kódy a pomocí pricing API spočítá odhadované náklady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Ukazuje, jak konkrétní změny (commity a merge requesty) mají vliv na cenu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6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56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336" name="Google Shape;336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91592"/>
            <a:ext cx="9144003" cy="39603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57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57"/>
          <p:cNvSpPr txBox="1"/>
          <p:nvPr>
            <p:ph idx="1" type="body"/>
          </p:nvPr>
        </p:nvSpPr>
        <p:spPr>
          <a:xfrm>
            <a:off x="311700" y="777950"/>
            <a:ext cx="8213100" cy="34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5000"/>
              <a:t>Rekapitulace</a:t>
            </a:r>
            <a:endParaRPr b="1" sz="50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8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Rekapitulace</a:t>
            </a:r>
            <a:endParaRPr/>
          </a:p>
        </p:txBody>
      </p:sp>
      <p:sp>
        <p:nvSpPr>
          <p:cNvPr id="348" name="Google Shape;348;p58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IaC</a:t>
            </a:r>
            <a:r>
              <a:rPr lang="en"/>
              <a:t> + </a:t>
            </a:r>
            <a:r>
              <a:rPr b="1" lang="en"/>
              <a:t>GitOps</a:t>
            </a:r>
            <a:r>
              <a:rPr lang="en"/>
              <a:t> jsou obecné principy, které nám ulehčují správu velkých cloudových prostředí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Jediný zdroj pravdy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Jednoduchá spolupráce (merge requesty, code review, …)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Terraform</a:t>
            </a:r>
            <a:r>
              <a:rPr lang="en"/>
              <a:t> je nejpoužívanější nástroj na IaC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GitOps</a:t>
            </a:r>
            <a:r>
              <a:rPr lang="en"/>
              <a:t> nám pro Terraform řeší </a:t>
            </a:r>
            <a:r>
              <a:rPr b="1" lang="en"/>
              <a:t>Gitlab CI/CD</a:t>
            </a:r>
            <a:r>
              <a:rPr lang="en"/>
              <a:t>, případně jeho alternativy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9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59"/>
          <p:cNvSpPr txBox="1"/>
          <p:nvPr>
            <p:ph idx="1" type="body"/>
          </p:nvPr>
        </p:nvSpPr>
        <p:spPr>
          <a:xfrm>
            <a:off x="311700" y="777950"/>
            <a:ext cx="8213100" cy="34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7500"/>
              <a:t>Díky za pozornost</a:t>
            </a:r>
            <a:endParaRPr b="1" sz="75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60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60"/>
          <p:cNvSpPr txBox="1"/>
          <p:nvPr>
            <p:ph idx="1" type="body"/>
          </p:nvPr>
        </p:nvSpPr>
        <p:spPr>
          <a:xfrm>
            <a:off x="311700" y="777950"/>
            <a:ext cx="8213100" cy="34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7500"/>
              <a:t>Otázky?</a:t>
            </a:r>
            <a:endParaRPr b="1" sz="75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61"/>
          <p:cNvSpPr txBox="1"/>
          <p:nvPr>
            <p:ph type="title"/>
          </p:nvPr>
        </p:nvSpPr>
        <p:spPr>
          <a:xfrm>
            <a:off x="283100" y="712150"/>
            <a:ext cx="8518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FFFFFF"/>
                </a:solidFill>
              </a:rPr>
              <a:t>Email</a:t>
            </a:r>
            <a:br>
              <a:rPr lang="en">
                <a:solidFill>
                  <a:srgbClr val="FFFFFF"/>
                </a:solidFill>
              </a:rPr>
            </a:br>
            <a:r>
              <a:rPr lang="en" sz="4200">
                <a:solidFill>
                  <a:srgbClr val="FFFFFF"/>
                </a:solidFill>
              </a:rPr>
              <a:t>ondrej@sika.io</a:t>
            </a:r>
            <a:endParaRPr sz="42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chemeClr val="lt1"/>
                </a:solidFill>
              </a:rPr>
              <a:t>Twitter</a:t>
            </a:r>
            <a:endParaRPr b="0" sz="24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lt1"/>
                </a:solidFill>
              </a:rPr>
              <a:t>@ondrejsika</a:t>
            </a:r>
            <a:endParaRPr sz="4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chemeClr val="lt1"/>
                </a:solidFill>
              </a:rPr>
              <a:t>LinkedIn</a:t>
            </a:r>
            <a:endParaRPr b="0" sz="2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lt1"/>
                </a:solidFill>
              </a:rPr>
              <a:t>/in/ondrejsika</a:t>
            </a:r>
            <a:endParaRPr sz="4200">
              <a:solidFill>
                <a:srgbClr val="FFFFFF"/>
              </a:solidFill>
            </a:endParaRPr>
          </a:p>
        </p:txBody>
      </p:sp>
      <p:pic>
        <p:nvPicPr>
          <p:cNvPr id="366" name="Google Shape;366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4975" y="1152850"/>
            <a:ext cx="3895025" cy="399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62"/>
          <p:cNvSpPr txBox="1"/>
          <p:nvPr>
            <p:ph type="title"/>
          </p:nvPr>
        </p:nvSpPr>
        <p:spPr>
          <a:xfrm>
            <a:off x="283100" y="712150"/>
            <a:ext cx="8518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FFFFFF"/>
                </a:solidFill>
              </a:rPr>
              <a:t>Slides</a:t>
            </a:r>
            <a:br>
              <a:rPr lang="en">
                <a:solidFill>
                  <a:srgbClr val="FFFFFF"/>
                </a:solidFill>
              </a:rPr>
            </a:br>
            <a:r>
              <a:rPr lang="en" sz="4200">
                <a:solidFill>
                  <a:srgbClr val="FFFFFF"/>
                </a:solidFill>
              </a:rPr>
              <a:t>sika.link/slides</a:t>
            </a:r>
            <a:endParaRPr sz="42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chemeClr val="lt1"/>
                </a:solidFill>
              </a:rPr>
              <a:t>What's next?</a:t>
            </a:r>
            <a:endParaRPr b="0" sz="24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lt1"/>
                </a:solidFill>
              </a:rPr>
              <a:t>sika.link/next</a:t>
            </a:r>
            <a:endParaRPr sz="4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00">
              <a:solidFill>
                <a:srgbClr val="FFFFFF"/>
              </a:solidFill>
            </a:endParaRPr>
          </a:p>
        </p:txBody>
      </p:sp>
      <p:pic>
        <p:nvPicPr>
          <p:cNvPr id="372" name="Google Shape;372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4975" y="1152850"/>
            <a:ext cx="3895025" cy="399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ndrej Sika - prezentace tmava v2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E1E1E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