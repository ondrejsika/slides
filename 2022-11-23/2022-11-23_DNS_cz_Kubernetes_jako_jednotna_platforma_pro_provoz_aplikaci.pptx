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5143500" cx="9144000"/>
  <p:notesSz cx="6858000" cy="9144000"/>
  <p:embeddedFontLst>
    <p:embeddedFont>
      <p:font typeface="IBM Plex Sans"/>
      <p:regular r:id="rId32"/>
      <p:bold r:id="rId33"/>
      <p:italic r:id="rId34"/>
      <p:boldItalic r:id="rId35"/>
    </p:embeddedFont>
    <p:embeddedFont>
      <p:font typeface="Overpass"/>
      <p:regular r:id="rId36"/>
      <p:bold r:id="rId37"/>
      <p:italic r:id="rId38"/>
      <p:boldItalic r:id="rId39"/>
    </p:embeddedFont>
    <p:embeddedFont>
      <p:font typeface="IBM Plex Mono SemiBold"/>
      <p:regular r:id="rId40"/>
      <p:bold r:id="rId41"/>
      <p:italic r:id="rId42"/>
      <p:boldItalic r:id="rId43"/>
    </p:embeddedFont>
    <p:embeddedFont>
      <p:font typeface="Overpass SemiBold"/>
      <p:regular r:id="rId44"/>
      <p:bold r:id="rId45"/>
      <p:italic r:id="rId46"/>
      <p:boldItalic r:id="rId47"/>
    </p:embeddedFont>
    <p:embeddedFont>
      <p:font typeface="IBM Plex Mono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MonoSemiBold-regular.fntdata"/><Relationship Id="rId42" Type="http://schemas.openxmlformats.org/officeDocument/2006/relationships/font" Target="fonts/IBMPlexMonoSemiBold-italic.fntdata"/><Relationship Id="rId41" Type="http://schemas.openxmlformats.org/officeDocument/2006/relationships/font" Target="fonts/IBMPlexMonoSemiBold-bold.fntdata"/><Relationship Id="rId44" Type="http://schemas.openxmlformats.org/officeDocument/2006/relationships/font" Target="fonts/OverpassSemiBold-regular.fntdata"/><Relationship Id="rId43" Type="http://schemas.openxmlformats.org/officeDocument/2006/relationships/font" Target="fonts/IBMPlexMonoSemiBold-boldItalic.fntdata"/><Relationship Id="rId46" Type="http://schemas.openxmlformats.org/officeDocument/2006/relationships/font" Target="fonts/OverpassSemiBold-italic.fntdata"/><Relationship Id="rId45" Type="http://schemas.openxmlformats.org/officeDocument/2006/relationships/font" Target="fonts/OverpassSemi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IBMPlexMono-regular.fntdata"/><Relationship Id="rId47" Type="http://schemas.openxmlformats.org/officeDocument/2006/relationships/font" Target="fonts/OverpassSemiBold-boldItalic.fntdata"/><Relationship Id="rId49" Type="http://schemas.openxmlformats.org/officeDocument/2006/relationships/font" Target="fonts/IBMPlexMon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font" Target="fonts/IBMPlexSans-bold.fntdata"/><Relationship Id="rId32" Type="http://schemas.openxmlformats.org/officeDocument/2006/relationships/font" Target="fonts/IBMPlexSans-regular.fntdata"/><Relationship Id="rId35" Type="http://schemas.openxmlformats.org/officeDocument/2006/relationships/font" Target="fonts/IBMPlexSans-boldItalic.fntdata"/><Relationship Id="rId34" Type="http://schemas.openxmlformats.org/officeDocument/2006/relationships/font" Target="fonts/IBMPlexSans-italic.fntdata"/><Relationship Id="rId37" Type="http://schemas.openxmlformats.org/officeDocument/2006/relationships/font" Target="fonts/Overpass-bold.fntdata"/><Relationship Id="rId36" Type="http://schemas.openxmlformats.org/officeDocument/2006/relationships/font" Target="fonts/Overpass-regular.fntdata"/><Relationship Id="rId39" Type="http://schemas.openxmlformats.org/officeDocument/2006/relationships/font" Target="fonts/Overpass-boldItalic.fntdata"/><Relationship Id="rId38" Type="http://schemas.openxmlformats.org/officeDocument/2006/relationships/font" Target="fonts/Overpass-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IBMPlexMono-boldItalic.fntdata"/><Relationship Id="rId50" Type="http://schemas.openxmlformats.org/officeDocument/2006/relationships/font" Target="fonts/IBMPlexMon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00a4e41519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00a4e41519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1292784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161292784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61292784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61292784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1031914c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1031914c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1031914cf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1031914cf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10dffc962b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10dffc962b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0e1a2473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10e1a2473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10e1a2473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10e1a2473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1031914cf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1031914cf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1031914cf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1031914cf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1031914cf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1031914cf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1031914cf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1031914cf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10e1a2473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10e1a2473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1031914cf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1031914cf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1031914cf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1031914cf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1031914cf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1031914cf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1031914cf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1031914cf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9d8043677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9d8043677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9d8043677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9d8043677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9d8043677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9d8043677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161292784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161292784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00a4e41519_1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00a4e41519_1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9d804367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9d804367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1602946da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1602946da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10e1a2473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10e1a2473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1602946da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1602946da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sz="2800">
                <a:latin typeface="Overpass"/>
                <a:ea typeface="Overpass"/>
                <a:cs typeface="Overpass"/>
                <a:sym typeface="Overpas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◻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▫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◻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▫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147950"/>
            <a:ext cx="5874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◻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▫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verpass SemiBold"/>
              <a:buNone/>
              <a:defRPr sz="21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verpass"/>
              <a:buNone/>
              <a:defRPr>
                <a:latin typeface="Overpass"/>
                <a:ea typeface="Overpass"/>
                <a:cs typeface="Overpass"/>
                <a:sym typeface="Overpass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.xml"/><Relationship Id="rId10" Type="http://schemas.openxmlformats.org/officeDocument/2006/relationships/slideLayout" Target="../slideLayouts/slideLayout5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1" Type="http://schemas.openxmlformats.org/officeDocument/2006/relationships/image" Target="../media/image1.jpg"/><Relationship Id="rId2" Type="http://schemas.openxmlformats.org/officeDocument/2006/relationships/hyperlink" Target="https://twitter.com/ondrejsika" TargetMode="External"/><Relationship Id="rId3" Type="http://schemas.openxmlformats.org/officeDocument/2006/relationships/hyperlink" Target="mailto:ondrej@sika.io" TargetMode="External"/><Relationship Id="rId4" Type="http://schemas.openxmlformats.org/officeDocument/2006/relationships/hyperlink" Target="https://sika.io" TargetMode="External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1.xml"/><Relationship Id="rId5" Type="http://schemas.openxmlformats.org/officeDocument/2006/relationships/hyperlink" Target="https://linkedin.com/in/ondrejsika" TargetMode="External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2500"/>
              <a:buFont typeface="IBM Plex Mono"/>
              <a:buNone/>
              <a:defRPr b="1" sz="2500">
                <a:solidFill>
                  <a:srgbClr val="E1E1E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BFB0"/>
              </a:buClr>
              <a:buSzPts val="1800"/>
              <a:buFont typeface="IBM Plex Sans"/>
              <a:buChar char="■"/>
              <a:defRPr sz="1800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◻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1E1E1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311700" y="703375"/>
            <a:ext cx="70338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808080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/>
        </p:nvSpPr>
        <p:spPr>
          <a:xfrm>
            <a:off x="311700" y="4663225"/>
            <a:ext cx="10914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1E1E1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@ondrejsika</a:t>
            </a:r>
            <a:endParaRPr sz="900">
              <a:solidFill>
                <a:srgbClr val="E1E1E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249500" y="4663225"/>
            <a:ext cx="11928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hlink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3"/>
              </a:rPr>
              <a:t>ondrej@sika.io</a:t>
            </a:r>
            <a:endParaRPr sz="900">
              <a:solidFill>
                <a:srgbClr val="E1E1E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375925" y="4663225"/>
            <a:ext cx="9963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hlink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4"/>
              </a:rPr>
              <a:t>sika.io</a:t>
            </a:r>
            <a:endParaRPr sz="900">
              <a:solidFill>
                <a:srgbClr val="E1E1E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3002225" y="4663250"/>
            <a:ext cx="1295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hlink"/>
                </a:solidFill>
                <a:uFill>
                  <a:noFill/>
                </a:uFill>
                <a:latin typeface="IBM Plex Mono"/>
                <a:ea typeface="IBM Plex Mono"/>
                <a:cs typeface="IBM Plex Mono"/>
                <a:sym typeface="IBM Plex Mono"/>
                <a:hlinkClick r:id="rId5"/>
              </a:rPr>
              <a:t>/in/ondrejsika</a:t>
            </a:r>
            <a:endParaRPr b="1" sz="900">
              <a:solidFill>
                <a:srgbClr val="E1E1E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6"/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mailto:ondrej@sika.io" TargetMode="External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kubernetes.io/docs/concepts/overview/what-is-kubernetes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6175" y="180975"/>
            <a:ext cx="2333276" cy="22637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3289450"/>
            <a:ext cx="8520600" cy="13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</a:rPr>
              <a:t>Ondřej Šika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ondrej@sika.io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@ondrejsika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</a:rPr>
              <a:t>DNS.cz, 23. 11. 2022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1" name="Google Shape;61;p13"/>
          <p:cNvSpPr txBox="1"/>
          <p:nvPr>
            <p:ph type="ctrTitle"/>
          </p:nvPr>
        </p:nvSpPr>
        <p:spPr>
          <a:xfrm>
            <a:off x="311700" y="469250"/>
            <a:ext cx="8520600" cy="23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Kubernetes jako 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jednotná platforma 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pro provoz aplikací</a:t>
            </a:r>
            <a:endParaRPr sz="3400"/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4975" y="1152850"/>
            <a:ext cx="3895025" cy="39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Ondřej</a:t>
            </a:r>
            <a:r>
              <a:rPr lang="en"/>
              <a:t> Šika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777950"/>
            <a:ext cx="4608600" cy="34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Jsem DevOps lektor, architekt a konzultant z Prahy.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Navrhnu a implementuji Vám na míru DevOps architekturu od verzování v Gitu po provoz v Cloudu.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Dělám populární školení, kde své znalosti předávám tak, abyste si mohli vše udělat sami a bez zbytečných přešlapů a slepých cest.</a:t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362" y="-1"/>
            <a:ext cx="385764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Cíl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Jednoduchý způsob, jak provozovat aplikace</a:t>
            </a:r>
            <a:endParaRPr b="1" sz="5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Současný stav (před Kubernetes)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solidFill>
                  <a:schemeClr val="hlink"/>
                </a:solidFill>
              </a:rPr>
              <a:t>Každý team (nebo firma) to dělá po svém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Aplikace jsou nasazované na virtuální stroje (manuálně, </a:t>
            </a:r>
            <a:r>
              <a:rPr lang="en"/>
              <a:t>případně</a:t>
            </a:r>
            <a:r>
              <a:rPr lang="en"/>
              <a:t> pomocí Ansible, 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Nutný manuální capacity planning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Různé servery pro různé aplikace (Java, PHP, …)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(bez Kubernetes)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Docker, stejně jako </a:t>
            </a:r>
            <a:r>
              <a:rPr lang="en"/>
              <a:t>virtuální</a:t>
            </a:r>
            <a:r>
              <a:rPr lang="en"/>
              <a:t> servery, odděluje jednotlivé aplikace. Dělá to pomocí kontejneru v rámci jednoho serveru (ať už fyzického, nebo </a:t>
            </a:r>
            <a:r>
              <a:rPr lang="en"/>
              <a:t>virtuálního</a:t>
            </a:r>
            <a:r>
              <a:rPr lang="en"/>
              <a:t>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Nový přístup, který Docker přinesl je to, že na serveru, kde chceme aplikace v Docker kontejnerech provozovat,  nepotřebujeme instalovat žádné závislosti. Vše je součástí Docker image.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0"/>
              <a:t>Kubernetes</a:t>
            </a:r>
            <a:endParaRPr b="1" sz="10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 je Kubernetes?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Kubernetes is a portable, extensible, open-source platform for managing containerized workloads and services, that facilitates both declarative configuration and automation.</a:t>
            </a:r>
            <a:r>
              <a:rPr lang="en" sz="3000"/>
              <a:t> –kubernetes.io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https://kubernetes.io/docs/concepts/overview/what-is-kubernetes/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Proč používat Kubernetes?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solidFill>
                  <a:schemeClr val="hlink"/>
                </a:solidFill>
              </a:rPr>
              <a:t>Unifikace prostředí pro provoz aplikací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De-facto standard provozu software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Ovládání pomocí YAML souboru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solidFill>
                  <a:schemeClr val="hlink"/>
                </a:solidFill>
              </a:rPr>
              <a:t>Deployment (deklarativní) požadovaného stavu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Přístup ke clusteru místo k jednotlivým serverům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Automatizace manuálních tasků, Autoscaling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Opensource, pod CNCF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Velký ekosystém kolem Kubernetes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Jednoduchý provoz v cloudu i on-premise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Unifikace prostředí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se </a:t>
            </a:r>
            <a:r>
              <a:rPr lang="en"/>
              <a:t>ovládá</a:t>
            </a:r>
            <a:r>
              <a:rPr lang="en"/>
              <a:t> pomocí YAML souboru a API. Díky tomu, že Kubernetes nás svazuje v tom, jak můžeme věci nasazovat, musíme všechny aplikace nasazovat podobným stylem a poskládané ze stejných komponent.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Už to není tak, že každý projekt byl nasazen na server jiným způsobem - vše se dělá stejně, což má za následek velmi jednoduchý onboarding do firmy nebo do projektu.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De-facto standard pro provoz aplikací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je dnes již velmi rozšířené - od startupu po enterprise.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Stalo se vlastně takovým </a:t>
            </a:r>
            <a:r>
              <a:rPr lang="en"/>
              <a:t>standardem</a:t>
            </a:r>
            <a:r>
              <a:rPr lang="en"/>
              <a:t>, jako provozovat kontejnerizované aplikace a aplikace vůbec (provoz bez kontejneru nedává smysl).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Ovládání pomocí YAML souboru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se ovládá primárně pomocí deklarativních YAML souboru.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Tyto soubory můžeme </a:t>
            </a:r>
            <a:r>
              <a:rPr lang="en"/>
              <a:t>jednoduše</a:t>
            </a:r>
            <a:r>
              <a:rPr lang="en"/>
              <a:t> verzovat v Gitu a </a:t>
            </a:r>
            <a:r>
              <a:rPr lang="en"/>
              <a:t>spolupracovat</a:t>
            </a:r>
            <a:r>
              <a:rPr lang="en"/>
              <a:t> nad nimi tak, jak jsme zvyklí z vývoje software - pull requesty, CI, …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 požadovaného stavu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Kubernetes nasazujeme vždy to, jak má vypadat požadovaný stav. Nezajímá nás, zda aplikace už běží (a deployment ji nezmění), neběží a budeme ji instalovat nebo pouze aktualizovat.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Kubernetes se podívá, co je potřeba nasadit nebo aktualizovat a to provede.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Tento přístup není plně deklarativní, ale jsou tooly, které nám s tím mohou pomoci.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Přístup ke clusteru jako celku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Pokud jsme používali Docker, měli jsme pořád servery, kde jsme pouštěli </a:t>
            </a:r>
            <a:r>
              <a:rPr lang="en"/>
              <a:t>konkrétní</a:t>
            </a:r>
            <a:r>
              <a:rPr lang="en"/>
              <a:t> aplikace. Pokud jsme chtěli něco pustit, museli jsme se rozhodnout, na jakém serveru to pustíme. Kontrolu, že server má dostatek CPU, RAM, … jsme dělali manuálně.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Kubernetes za nás toto řeší. Chceme-li nasadit aplikaci s nějakými požadavky, Kubernetes najde vhodný node (server v clusteru) a na něj aplikaci nasadí.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Automatizace manuálních tasků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se nám stará o </a:t>
            </a:r>
            <a:r>
              <a:rPr lang="en"/>
              <a:t>rutinní</a:t>
            </a:r>
            <a:r>
              <a:rPr lang="en"/>
              <a:t> tasky, jako restart aplikací, pokud detekuje problém, který vyžaduje nebo vyřeší restart.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Aplikaci nám </a:t>
            </a:r>
            <a:r>
              <a:rPr lang="en"/>
              <a:t>přesune</a:t>
            </a:r>
            <a:r>
              <a:rPr lang="en"/>
              <a:t> na </a:t>
            </a:r>
            <a:r>
              <a:rPr lang="en"/>
              <a:t>běžící</a:t>
            </a:r>
            <a:r>
              <a:rPr lang="en"/>
              <a:t> node, pokud ten, kde aplikace běžela, spadl nebo je nedostupný.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Kubernetes nás </a:t>
            </a:r>
            <a:r>
              <a:rPr lang="en"/>
              <a:t>zbaví</a:t>
            </a:r>
            <a:r>
              <a:rPr lang="en"/>
              <a:t> zbytečných </a:t>
            </a:r>
            <a:r>
              <a:rPr lang="en"/>
              <a:t>rutijních</a:t>
            </a:r>
            <a:r>
              <a:rPr lang="en"/>
              <a:t> zásahů, které nemusí dělat člověk.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Autoscaling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má podporu </a:t>
            </a:r>
            <a:r>
              <a:rPr lang="en"/>
              <a:t>automatickeho</a:t>
            </a:r>
            <a:r>
              <a:rPr lang="en"/>
              <a:t> škálování, pokud na naší aplikaci směřuje větší traffic. Kubernetes dokáže spustit více instancí této aplikace, aby požadavky </a:t>
            </a:r>
            <a:r>
              <a:rPr lang="en"/>
              <a:t>zvládla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Pokud load opadne, aplikace se sama seškáluje směrem dolů.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Opensource, pod CNCF</a:t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vzniklo v Google, ale dnes jej </a:t>
            </a:r>
            <a:r>
              <a:rPr lang="en"/>
              <a:t>zastřešuje</a:t>
            </a:r>
            <a:r>
              <a:rPr lang="en"/>
              <a:t> CNCF - Cloud Native Computing Foundation, která je </a:t>
            </a:r>
            <a:r>
              <a:rPr lang="en"/>
              <a:t>dceřiná</a:t>
            </a:r>
            <a:r>
              <a:rPr lang="en"/>
              <a:t> organizace Linux Foundation.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Díky tomu, že je Kubernetes open source a vyvíjeno různými velkými hráči (Google, AWS, Microsoft, …), tak si můžeme být jistí, že se dále bude </a:t>
            </a:r>
            <a:r>
              <a:rPr lang="en"/>
              <a:t>rozvíjet</a:t>
            </a:r>
            <a:r>
              <a:rPr lang="en"/>
              <a:t>, bude zdarma a nebudeme svázáni konkertním poskytovatelem.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Velký ekosystém kolem Kubernetes</a:t>
            </a:r>
            <a:endParaRPr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Díky popularitě Kubernetes se kolem něj vytvořila hromada nástrojů a pluginu, které řeší monitoring, správu logu, …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Kubernetes jednoduše podporuje </a:t>
            </a:r>
            <a:r>
              <a:rPr lang="en"/>
              <a:t>rozšiřitelnost</a:t>
            </a:r>
            <a:r>
              <a:rPr lang="en"/>
              <a:t> pomocí </a:t>
            </a:r>
            <a:r>
              <a:rPr lang="en"/>
              <a:t>pluginu, takže jich vznikla hromada pro storage, provoz aplikací jako Elastic, Postgres, …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Jednoduchý provoz v cloudu i on-premise</a:t>
            </a:r>
            <a:endParaRPr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Všechny velké cloudy (AWS, GCP, Azure) poskytují Kubernetes. I většina menších cloudů (jako DigitalOcean), nabízí managed Kubernetes.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 Kubernetes se stará poskytovatel cloudu, vy je jen používáte.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Pokud si chcete provozovat Kubernetes na on-premise, můžete </a:t>
            </a:r>
            <a:r>
              <a:rPr lang="en"/>
              <a:t>například</a:t>
            </a:r>
            <a:r>
              <a:rPr lang="en"/>
              <a:t> </a:t>
            </a:r>
            <a:r>
              <a:rPr lang="en"/>
              <a:t>využít</a:t>
            </a:r>
            <a:r>
              <a:rPr lang="en"/>
              <a:t> RKE (distribuce Kubernetes od Rancheru) nebo si je nainstalovat na přímo sami.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Provoz aplikací v Kubernetes</a:t>
            </a:r>
            <a:endParaRPr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Kubernetes můžeme nasadit jakoukoli aplikaci. V Kubernetes jsme schopni provozovat i legacy aplikace, starší nez samotné Kubernetes.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Pokud chceme aplikaci zmigrovat do Kubernetes, případně psát novou - už Kubernetes native, je vhodné zaměřit se na pár drobností, které nám provoz velmi ulehčí.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Logy</a:t>
            </a:r>
            <a:endParaRPr/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a Kubernetes pracuje s logy jako se streamem eventů.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Aplikace by měla logovat na standardní výstup - ne do souborů, který potom Docker a Kubernetes sbírají a ukládají interně.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Logy pak typicky sbírá například ješte FileBeat a posílá je do ElasticSearche pro dlouhodobé ukládání a zpracování.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Pokud naše aplikace umí logovat ve formátu JSON, ulehčí nám to parsování v Elasticu a zjednoduší následnou práci s logy.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Metriky</a:t>
            </a:r>
            <a:endParaRPr/>
          </a:p>
        </p:txBody>
      </p:sp>
      <p:sp>
        <p:nvSpPr>
          <p:cNvPr id="183" name="Google Shape;183;p33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Pokud chceme vědět, co se v aplikaci děje, je dobré exponovat metriky pro Prometheus.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Prometheus není elementární součástí Kubernetes, ale je velmi používanou součástí Kubernetes stacku.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Prometheus metriky nám umožňují vidět, co se v aplikaci děje, kolik requestů selhalo nebo kolik paměti aplikace aktuálně alokuje.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Tyto informace se nám hodí pro monitoring, který Prometheus</a:t>
            </a:r>
            <a:br>
              <a:rPr lang="en"/>
            </a:br>
            <a:r>
              <a:rPr lang="en"/>
              <a:t> také řeší.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4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Závěr</a:t>
            </a:r>
            <a:endParaRPr b="1" sz="5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 mě je dnes Kubernetes </a:t>
            </a:r>
            <a:r>
              <a:rPr lang="en"/>
              <a:t>jediná</a:t>
            </a:r>
            <a:r>
              <a:rPr lang="en"/>
              <a:t> </a:t>
            </a:r>
            <a:r>
              <a:rPr lang="en"/>
              <a:t>přijatelná</a:t>
            </a:r>
            <a:r>
              <a:rPr lang="en"/>
              <a:t> možnost, jak provozovat aplikace a to jak v cloudu i on-premise.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Diky Kubernetes je celé prostředí unifikované a já se můžu </a:t>
            </a:r>
            <a:r>
              <a:rPr lang="en"/>
              <a:t>věnovat</a:t>
            </a:r>
            <a:r>
              <a:rPr lang="en"/>
              <a:t> více vývoji a nemusím </a:t>
            </a:r>
            <a:r>
              <a:rPr lang="en"/>
              <a:t>řešit</a:t>
            </a:r>
            <a:r>
              <a:rPr lang="en"/>
              <a:t> day-to-day provozní záležitosti.</a:t>
            </a:r>
            <a:endParaRPr/>
          </a:p>
        </p:txBody>
      </p:sp>
      <p:sp>
        <p:nvSpPr>
          <p:cNvPr id="195" name="Google Shape;195;p3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Proč používat Kubernetes?</a:t>
            </a:r>
            <a:endParaRPr/>
          </a:p>
        </p:txBody>
      </p:sp>
      <p:sp>
        <p:nvSpPr>
          <p:cNvPr id="201" name="Google Shape;201;p36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solidFill>
                  <a:schemeClr val="hlink"/>
                </a:solidFill>
              </a:rPr>
              <a:t>Unifikace prostředí pro provoz aplikací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De-facto standard provozu software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Ovládání pomocí YAML souboru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solidFill>
                  <a:schemeClr val="hlink"/>
                </a:solidFill>
              </a:rPr>
              <a:t>Deployment (deklarativní) požadovaného stavu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Přístup ke clusteru místo k jednotlivým serverům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Automatizace manuálních tasků, Autoscaling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Opensource, pod CNCF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Velký ekosystém kolem Kubernetes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Jednoduchý provoz v cloudu i on-premise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7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500"/>
              <a:t>Díky za pozornost</a:t>
            </a:r>
            <a:endParaRPr b="1" sz="75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8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500"/>
              <a:t>Otázky &amp; Diskuze</a:t>
            </a:r>
            <a:endParaRPr b="1" sz="75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9"/>
          <p:cNvSpPr txBox="1"/>
          <p:nvPr>
            <p:ph type="title"/>
          </p:nvPr>
        </p:nvSpPr>
        <p:spPr>
          <a:xfrm>
            <a:off x="283100" y="712150"/>
            <a:ext cx="8518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FFFFFF"/>
                </a:solidFill>
              </a:rPr>
              <a:t>Email</a:t>
            </a:r>
            <a:br>
              <a:rPr lang="en">
                <a:solidFill>
                  <a:srgbClr val="FFFFFF"/>
                </a:solidFill>
              </a:rPr>
            </a:br>
            <a:r>
              <a:rPr lang="en" sz="3200">
                <a:solidFill>
                  <a:srgbClr val="FFFFFF"/>
                </a:solidFill>
              </a:rPr>
              <a:t>ondrej@sika.io</a:t>
            </a:r>
            <a:endParaRPr sz="3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chemeClr val="lt1"/>
                </a:solidFill>
              </a:rPr>
              <a:t>Twitter</a:t>
            </a:r>
            <a:endParaRPr b="0" sz="2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</a:rPr>
              <a:t>@ondrejsika</a:t>
            </a:r>
            <a:endParaRPr sz="3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chemeClr val="lt1"/>
                </a:solidFill>
              </a:rPr>
              <a:t>LinkedIn</a:t>
            </a:r>
            <a:endParaRPr b="0"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</a:rPr>
              <a:t>/in/ondrejsika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2000">
                <a:solidFill>
                  <a:schemeClr val="lt1"/>
                </a:solidFill>
              </a:rPr>
              <a:t>Slides</a:t>
            </a:r>
            <a:endParaRPr b="0"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chemeClr val="lt1"/>
                </a:solidFill>
              </a:rPr>
              <a:t>sika.link/slides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219" name="Google Shape;21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975" y="1152850"/>
            <a:ext cx="3895025" cy="39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ndrej Sika - prezentace tmava v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E1E1E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