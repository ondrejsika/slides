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Overpass"/>
      <p:regular r:id="rId25"/>
      <p:bold r:id="rId26"/>
      <p:italic r:id="rId27"/>
      <p:boldItalic r:id="rId28"/>
    </p:embeddedFont>
    <p:embeddedFont>
      <p:font typeface="IBM Plex Mono SemiBold"/>
      <p:regular r:id="rId29"/>
      <p:bold r:id="rId30"/>
      <p:italic r:id="rId31"/>
      <p:boldItalic r:id="rId32"/>
    </p:embeddedFont>
    <p:embeddedFont>
      <p:font typeface="Overpass SemiBold"/>
      <p:regular r:id="rId33"/>
      <p:bold r:id="rId34"/>
      <p:italic r:id="rId35"/>
      <p:boldItalic r:id="rId36"/>
    </p:embeddedFont>
    <p:embeddedFont>
      <p:font typeface="IBM Plex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-boldItalic.fntdata"/><Relationship Id="rId20" Type="http://schemas.openxmlformats.org/officeDocument/2006/relationships/slide" Target="slides/slide16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verpass-bold.fntdata"/><Relationship Id="rId25" Type="http://schemas.openxmlformats.org/officeDocument/2006/relationships/font" Target="fonts/Overpass-regular.fntdata"/><Relationship Id="rId28" Type="http://schemas.openxmlformats.org/officeDocument/2006/relationships/font" Target="fonts/Overpass-boldItalic.fntdata"/><Relationship Id="rId27" Type="http://schemas.openxmlformats.org/officeDocument/2006/relationships/font" Target="fonts/Overpas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BMPlexMono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BMPlexMonoSemiBold-italic.fntdata"/><Relationship Id="rId30" Type="http://schemas.openxmlformats.org/officeDocument/2006/relationships/font" Target="fonts/IBMPlexMonoSemiBold-bold.fntdata"/><Relationship Id="rId11" Type="http://schemas.openxmlformats.org/officeDocument/2006/relationships/slide" Target="slides/slide7.xml"/><Relationship Id="rId33" Type="http://schemas.openxmlformats.org/officeDocument/2006/relationships/font" Target="fonts/OverpassSemiBold-regular.fntdata"/><Relationship Id="rId10" Type="http://schemas.openxmlformats.org/officeDocument/2006/relationships/slide" Target="slides/slide6.xml"/><Relationship Id="rId32" Type="http://schemas.openxmlformats.org/officeDocument/2006/relationships/font" Target="fonts/IBMPlexMonoSemiBold-boldItalic.fntdata"/><Relationship Id="rId13" Type="http://schemas.openxmlformats.org/officeDocument/2006/relationships/slide" Target="slides/slide9.xml"/><Relationship Id="rId35" Type="http://schemas.openxmlformats.org/officeDocument/2006/relationships/font" Target="fonts/OverpassSemiBold-italic.fntdata"/><Relationship Id="rId12" Type="http://schemas.openxmlformats.org/officeDocument/2006/relationships/slide" Target="slides/slide8.xml"/><Relationship Id="rId34" Type="http://schemas.openxmlformats.org/officeDocument/2006/relationships/font" Target="fonts/OverpassSemiBold-bold.fntdata"/><Relationship Id="rId15" Type="http://schemas.openxmlformats.org/officeDocument/2006/relationships/slide" Target="slides/slide11.xml"/><Relationship Id="rId37" Type="http://schemas.openxmlformats.org/officeDocument/2006/relationships/font" Target="fonts/IBMPlexMono-regular.fntdata"/><Relationship Id="rId14" Type="http://schemas.openxmlformats.org/officeDocument/2006/relationships/slide" Target="slides/slide10.xml"/><Relationship Id="rId36" Type="http://schemas.openxmlformats.org/officeDocument/2006/relationships/font" Target="fonts/OverpassSemiBold-boldItalic.fntdata"/><Relationship Id="rId17" Type="http://schemas.openxmlformats.org/officeDocument/2006/relationships/slide" Target="slides/slide13.xml"/><Relationship Id="rId39" Type="http://schemas.openxmlformats.org/officeDocument/2006/relationships/font" Target="fonts/IBMPlexMono-italic.fntdata"/><Relationship Id="rId16" Type="http://schemas.openxmlformats.org/officeDocument/2006/relationships/slide" Target="slides/slide12.xml"/><Relationship Id="rId38" Type="http://schemas.openxmlformats.org/officeDocument/2006/relationships/font" Target="fonts/IBMPlexMon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8801eb2e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8801eb2e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8801eb2e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8801eb2e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8801eb2e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8801eb2e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8801eb2e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8801eb2e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6129278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6129278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ec06eb54f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ec06eb54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8801eb2e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8801eb2e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8801eb2e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8801eb2e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08801eb2e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08801eb2e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8801eb2e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08801eb2e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8801eb2e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08801eb2e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8801eb2e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08801eb2e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8801eb2e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08801eb2e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ec06eb54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bec06eb54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602946da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1602946da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sz="2800">
                <a:latin typeface="Overpass"/>
                <a:ea typeface="Overpass"/>
                <a:cs typeface="Overpass"/>
                <a:sym typeface="Overpas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147950"/>
            <a:ext cx="5874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verpass SemiBold"/>
              <a:buNone/>
              <a:defRPr sz="21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verpass"/>
              <a:buNone/>
              <a:defRPr>
                <a:latin typeface="Overpass"/>
                <a:ea typeface="Overpass"/>
                <a:cs typeface="Overpass"/>
                <a:sym typeface="Overpass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1.jpg"/><Relationship Id="rId2" Type="http://schemas.openxmlformats.org/officeDocument/2006/relationships/hyperlink" Target="https://twitter.com/ondrejsika" TargetMode="External"/><Relationship Id="rId3" Type="http://schemas.openxmlformats.org/officeDocument/2006/relationships/hyperlink" Target="mailto:ondrej@sika.io" TargetMode="External"/><Relationship Id="rId4" Type="http://schemas.openxmlformats.org/officeDocument/2006/relationships/hyperlink" Target="https://sika.io" TargetMode="External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1.xml"/><Relationship Id="rId5" Type="http://schemas.openxmlformats.org/officeDocument/2006/relationships/hyperlink" Target="https://linkedin.com/in/ondrejsika" TargetMode="External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2500"/>
              <a:buFont typeface="IBM Plex Mono"/>
              <a:buNone/>
              <a:defRPr b="1" sz="2500">
                <a:solidFill>
                  <a:srgbClr val="E1E1E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BFB0"/>
              </a:buClr>
              <a:buSzPts val="1800"/>
              <a:buFont typeface="IBM Plex Sans"/>
              <a:buChar char="■"/>
              <a:defRPr sz="1800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◻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1E1E1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11700" y="703375"/>
            <a:ext cx="703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808080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/>
        </p:nvSpPr>
        <p:spPr>
          <a:xfrm>
            <a:off x="311700" y="4663225"/>
            <a:ext cx="1091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1E1E1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@ondrejsika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249500" y="4663225"/>
            <a:ext cx="11928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3"/>
              </a:rPr>
              <a:t>ondrej@sika.io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75925" y="4663225"/>
            <a:ext cx="9963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4"/>
              </a:rPr>
              <a:t>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3002225" y="4663250"/>
            <a:ext cx="1295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hlink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5"/>
              </a:rPr>
              <a:t>/in/ondrejsika</a:t>
            </a:r>
            <a:endParaRPr b="1" sz="900">
              <a:solidFill>
                <a:srgbClr val="E1E1E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ondrej@sika.io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3030800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Ondřej Šika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ondrej@sika.io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@ondrejsika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jOpenSpace,</a:t>
            </a:r>
            <a:br>
              <a:rPr lang="en" sz="1200">
                <a:solidFill>
                  <a:srgbClr val="FFFFFF"/>
                </a:solidFill>
              </a:rPr>
            </a:br>
            <a:r>
              <a:rPr lang="en" sz="1200">
                <a:solidFill>
                  <a:srgbClr val="FFFFFF"/>
                </a:solidFill>
              </a:rPr>
              <a:t>Telč, 5.10.2024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 txBox="1"/>
          <p:nvPr>
            <p:ph type="ctrTitle"/>
          </p:nvPr>
        </p:nvSpPr>
        <p:spPr>
          <a:xfrm>
            <a:off x="366975" y="253425"/>
            <a:ext cx="4456800" cy="23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200"/>
              <a:t>CNPG</a:t>
            </a:r>
            <a:endParaRPr sz="6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/>
              <a:t>Cloud Native Postgres</a:t>
            </a:r>
            <a:endParaRPr sz="320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794" y="0"/>
            <a:ext cx="432020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0500" y="1602663"/>
            <a:ext cx="1471974" cy="142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/>
              <a:t>Postgres v Kubernetes</a:t>
            </a:r>
            <a:endParaRPr b="1" sz="4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chceme od provozu v Kubernetes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Deklarativní setup &amp; GitOps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Vysokou dostupnost aplikací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Minimalizace manuálních tasků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…</a:t>
            </a:r>
            <a:endParaRPr b="1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chceme od databáze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Vysokou dostupnost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Automatický failover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Zálohy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Point In Time Recovery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…</a:t>
            </a:r>
            <a:endParaRPr b="1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Možnosti Postgresu v Kubernetes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StatefulSet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>
                <a:solidFill>
                  <a:schemeClr val="hlink"/>
                </a:solidFill>
              </a:rPr>
              <a:t>Bitnami </a:t>
            </a:r>
            <a:r>
              <a:rPr b="1" lang="en" sz="2400"/>
              <a:t>Helm Chart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Zalando Operator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CloudNativePG 🎉🎉</a:t>
            </a:r>
            <a:endParaRPr b="1" sz="2400"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900" y="77795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1925" y="2399063"/>
            <a:ext cx="1471974" cy="142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Run PostgreSQL.</a:t>
            </a:r>
            <a:endParaRPr b="1" sz="3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>
                <a:solidFill>
                  <a:srgbClr val="E63054"/>
                </a:solidFill>
                <a:latin typeface="Arial"/>
                <a:ea typeface="Arial"/>
                <a:cs typeface="Arial"/>
                <a:sym typeface="Arial"/>
              </a:rPr>
              <a:t>The Kubernetes way.</a:t>
            </a:r>
            <a:endParaRPr b="1" sz="3100"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794" y="0"/>
            <a:ext cx="43202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/>
              <a:t>“</a:t>
            </a:r>
            <a:r>
              <a:rPr b="1" lang="en" sz="3000"/>
              <a:t>CloudNativePG is the Kubernetes operator that covers the full lifecycle of a highly available PostgreSQL database cluster with a primary/standby architecture, using native streaming replication.</a:t>
            </a:r>
            <a:r>
              <a:rPr b="1" lang="en" sz="3000"/>
              <a:t>“ – cnpg.io</a:t>
            </a:r>
            <a:endParaRPr b="1"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 CNPG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Postgres Operator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from EDB,</a:t>
            </a:r>
            <a:endParaRPr b="1"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community</a:t>
            </a:r>
            <a:r>
              <a:rPr b="1" lang="en" sz="2400"/>
              <a:t> driven</a:t>
            </a:r>
            <a:endParaRPr b="1" sz="2400"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325" y="1187075"/>
            <a:ext cx="4795675" cy="395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Klíčové</a:t>
            </a:r>
            <a:r>
              <a:rPr lang="en"/>
              <a:t> vlastnosti CNPG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Deklarativní konfigurace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Cloud Native - navrženo na provoz v Kubernetes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High Availability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Disaster Recovery &amp; Point in Time recovery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Monitoring - Prometheus Exporter &amp; logy v JSONu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PgBouncer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Declarative - Postgres Operations</a:t>
            </a:r>
            <a:endParaRPr b="1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Backups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Zálohuje do Object Storage</a:t>
            </a:r>
            <a:endParaRPr b="1" sz="24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S3, Azure Blob, …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WAL Backup (pro Point in time recovery)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Scheduled &amp; On Demand Backups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313" y="205250"/>
            <a:ext cx="273367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050" y="2449350"/>
            <a:ext cx="4442949" cy="269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0375" y="2449350"/>
            <a:ext cx="3345351" cy="20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example of multi-cluster deployment with a primary and a replica cluster" id="127" name="Google Shape;127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50" y="396775"/>
            <a:ext cx="8875500" cy="38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</a:rPr>
              <a:t>PgBouncer</a:t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500" y="777950"/>
            <a:ext cx="3152150" cy="25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625" y="930350"/>
            <a:ext cx="4952314" cy="4060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v Prometheu</a:t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50" y="855175"/>
            <a:ext cx="5690124" cy="245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001" y="2012974"/>
            <a:ext cx="6137774" cy="262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Kubectl Plugin</a:t>
            </a:r>
            <a:endParaRPr/>
          </a:p>
        </p:txBody>
      </p:sp>
      <p:pic>
        <p:nvPicPr>
          <p:cNvPr descr="A screenshot of a computer&#10;&#10;Description automatically generated" id="147" name="Google Shape;147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8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cnpg.io</a:t>
            </a:r>
            <a:endParaRPr b="1" sz="5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283100" y="712150"/>
            <a:ext cx="8518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</a:rPr>
              <a:t>Email</a:t>
            </a:r>
            <a:br>
              <a:rPr lang="en">
                <a:solidFill>
                  <a:srgbClr val="FFFFFF"/>
                </a:solidFill>
              </a:rPr>
            </a:br>
            <a:r>
              <a:rPr lang="en" sz="4200">
                <a:solidFill>
                  <a:srgbClr val="FFFFFF"/>
                </a:solidFill>
              </a:rPr>
              <a:t>ondrej@sika.io</a:t>
            </a:r>
            <a:endParaRPr sz="4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Twitter</a:t>
            </a:r>
            <a:endParaRPr b="0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@ondrejsika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LinkedIn</a:t>
            </a:r>
            <a:endParaRPr b="0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/in/ondrejsika</a:t>
            </a:r>
            <a:endParaRPr sz="4200">
              <a:solidFill>
                <a:srgbClr val="FFFFFF"/>
              </a:solidFill>
            </a:endParaRPr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drej Sika - prezentace tmava v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E1E1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