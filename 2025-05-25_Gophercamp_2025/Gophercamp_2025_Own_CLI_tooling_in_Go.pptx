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5143500" cx="9144000"/>
  <p:notesSz cx="6858000" cy="9144000"/>
  <p:embeddedFontLst>
    <p:embeddedFont>
      <p:font typeface="IBM Plex Sans"/>
      <p:regular r:id="rId50"/>
      <p:bold r:id="rId51"/>
      <p:italic r:id="rId52"/>
      <p:boldItalic r:id="rId53"/>
    </p:embeddedFont>
    <p:embeddedFont>
      <p:font typeface="Overpass"/>
      <p:regular r:id="rId54"/>
      <p:bold r:id="rId55"/>
      <p:italic r:id="rId56"/>
      <p:boldItalic r:id="rId57"/>
    </p:embeddedFont>
    <p:embeddedFont>
      <p:font typeface="IBM Plex Mono SemiBold"/>
      <p:regular r:id="rId58"/>
      <p:bold r:id="rId59"/>
      <p:italic r:id="rId60"/>
      <p:boldItalic r:id="rId61"/>
    </p:embeddedFont>
    <p:embeddedFont>
      <p:font typeface="Overpass SemiBold"/>
      <p:regular r:id="rId62"/>
      <p:bold r:id="rId63"/>
      <p:italic r:id="rId64"/>
      <p:boldItalic r:id="rId65"/>
    </p:embeddedFont>
    <p:embeddedFont>
      <p:font typeface="IBM Plex Mono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OverpassSemiBold-regular.fntdata"/><Relationship Id="rId61" Type="http://schemas.openxmlformats.org/officeDocument/2006/relationships/font" Target="fonts/IBMPlexMonoSemiBold-boldItalic.fntdata"/><Relationship Id="rId20" Type="http://schemas.openxmlformats.org/officeDocument/2006/relationships/slide" Target="slides/slide16.xml"/><Relationship Id="rId64" Type="http://schemas.openxmlformats.org/officeDocument/2006/relationships/font" Target="fonts/OverpassSemiBold-italic.fntdata"/><Relationship Id="rId63" Type="http://schemas.openxmlformats.org/officeDocument/2006/relationships/font" Target="fonts/OverpassSemiBold-bold.fntdata"/><Relationship Id="rId22" Type="http://schemas.openxmlformats.org/officeDocument/2006/relationships/slide" Target="slides/slide18.xml"/><Relationship Id="rId66" Type="http://schemas.openxmlformats.org/officeDocument/2006/relationships/font" Target="fonts/IBMPlexMono-regular.fntdata"/><Relationship Id="rId21" Type="http://schemas.openxmlformats.org/officeDocument/2006/relationships/slide" Target="slides/slide17.xml"/><Relationship Id="rId65" Type="http://schemas.openxmlformats.org/officeDocument/2006/relationships/font" Target="fonts/OverpassSemiBold-boldItalic.fntdata"/><Relationship Id="rId24" Type="http://schemas.openxmlformats.org/officeDocument/2006/relationships/slide" Target="slides/slide20.xml"/><Relationship Id="rId68" Type="http://schemas.openxmlformats.org/officeDocument/2006/relationships/font" Target="fonts/IBMPlexMono-italic.fntdata"/><Relationship Id="rId23" Type="http://schemas.openxmlformats.org/officeDocument/2006/relationships/slide" Target="slides/slide19.xml"/><Relationship Id="rId67" Type="http://schemas.openxmlformats.org/officeDocument/2006/relationships/font" Target="fonts/IBMPlexMono-bold.fntdata"/><Relationship Id="rId60" Type="http://schemas.openxmlformats.org/officeDocument/2006/relationships/font" Target="fonts/IBMPlexMonoSemiBold-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IBMPlexMono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BMPlexSans-bold.fntdata"/><Relationship Id="rId50" Type="http://schemas.openxmlformats.org/officeDocument/2006/relationships/font" Target="fonts/IBMPlexSans-regular.fntdata"/><Relationship Id="rId53" Type="http://schemas.openxmlformats.org/officeDocument/2006/relationships/font" Target="fonts/IBMPlexSans-boldItalic.fntdata"/><Relationship Id="rId52" Type="http://schemas.openxmlformats.org/officeDocument/2006/relationships/font" Target="fonts/IBMPlexSans-italic.fntdata"/><Relationship Id="rId11" Type="http://schemas.openxmlformats.org/officeDocument/2006/relationships/slide" Target="slides/slide7.xml"/><Relationship Id="rId55" Type="http://schemas.openxmlformats.org/officeDocument/2006/relationships/font" Target="fonts/Overpass-bold.fntdata"/><Relationship Id="rId10" Type="http://schemas.openxmlformats.org/officeDocument/2006/relationships/slide" Target="slides/slide6.xml"/><Relationship Id="rId54" Type="http://schemas.openxmlformats.org/officeDocument/2006/relationships/font" Target="fonts/Overpass-regular.fntdata"/><Relationship Id="rId13" Type="http://schemas.openxmlformats.org/officeDocument/2006/relationships/slide" Target="slides/slide9.xml"/><Relationship Id="rId57" Type="http://schemas.openxmlformats.org/officeDocument/2006/relationships/font" Target="fonts/Overpass-boldItalic.fntdata"/><Relationship Id="rId12" Type="http://schemas.openxmlformats.org/officeDocument/2006/relationships/slide" Target="slides/slide8.xml"/><Relationship Id="rId56" Type="http://schemas.openxmlformats.org/officeDocument/2006/relationships/font" Target="fonts/Overpass-italic.fntdata"/><Relationship Id="rId15" Type="http://schemas.openxmlformats.org/officeDocument/2006/relationships/slide" Target="slides/slide11.xml"/><Relationship Id="rId59" Type="http://schemas.openxmlformats.org/officeDocument/2006/relationships/font" Target="fonts/IBMPlexMonoSemiBold-bold.fntdata"/><Relationship Id="rId14" Type="http://schemas.openxmlformats.org/officeDocument/2006/relationships/slide" Target="slides/slide10.xml"/><Relationship Id="rId58" Type="http://schemas.openxmlformats.org/officeDocument/2006/relationships/font" Target="fonts/IBMPlexMonoSemiBold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47f5e015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47f5e015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296ab4fe0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296ab4fe0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96ab4fe0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296ab4fe0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3b82cec8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33b82cec8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3b82cec8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3b82cec8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3b82cec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3b82cec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3b82cec8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3b82cec8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3b82cec8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3b82cec8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eccbacf5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2eccbacf5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3b82cec8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3b82cec8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3b82cec8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33b82cec8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3b82cec8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33b82cec8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4273bf01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f4273bf01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4273bf01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f4273bf01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33b82cec8a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33b82cec8a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33b82cec8a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33b82cec8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3b82cec8a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33b82cec8a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33b82cec8a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33b82cec8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01e629d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01e629d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33b82cec8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33b82cec8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f4273bf01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f4273bf01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f4273bf01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f4273bf01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3b82cec8a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33b82cec8a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f4273bf0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f4273bf0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f4273bf01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f4273bf01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33b82cec8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33b82cec8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f4273bf01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f4273bf01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f4273bf01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f4273bf01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33b82cec8a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33b82cec8a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f4273bf01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f4273bf01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33b82cec8a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33b82cec8a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f4273bf01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f4273bf01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3b82cec8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33b82cec8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33b82cec8a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33b82cec8a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33b82cec8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33b82cec8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33b82cec8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33b82cec8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33b82cec8a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33b82cec8a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33b82cec8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33b82cec8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33b82cec8a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33b82cec8a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33b82cec8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33b82cec8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33b82cec8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33b82cec8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01e629d9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501e629d9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2ecd28166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2ecd28166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296ab4fe0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296ab4fe0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47f5e0154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47f5e0154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sz="2800">
                <a:latin typeface="Overpass"/>
                <a:ea typeface="Overpass"/>
                <a:cs typeface="Overpass"/>
                <a:sym typeface="Overpas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147950"/>
            <a:ext cx="5874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verpass SemiBold"/>
              <a:buNone/>
              <a:defRPr sz="21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verpass"/>
              <a:buNone/>
              <a:defRPr>
                <a:latin typeface="Overpass"/>
                <a:ea typeface="Overpass"/>
                <a:cs typeface="Overpass"/>
                <a:sym typeface="Overpass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1.jpg"/><Relationship Id="rId2" Type="http://schemas.openxmlformats.org/officeDocument/2006/relationships/hyperlink" Target="https://twitter.com/ondrejsika" TargetMode="External"/><Relationship Id="rId3" Type="http://schemas.openxmlformats.org/officeDocument/2006/relationships/hyperlink" Target="mailto:ondrej@sika.io" TargetMode="External"/><Relationship Id="rId4" Type="http://schemas.openxmlformats.org/officeDocument/2006/relationships/hyperlink" Target="https://sika.io" TargetMode="External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1.xml"/><Relationship Id="rId5" Type="http://schemas.openxmlformats.org/officeDocument/2006/relationships/hyperlink" Target="https://linkedin.com/in/ondrejsika" TargetMode="External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2500"/>
              <a:buFont typeface="IBM Plex Mono"/>
              <a:buNone/>
              <a:defRPr b="1" sz="2500">
                <a:solidFill>
                  <a:srgbClr val="E1E1E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BFB0"/>
              </a:buClr>
              <a:buSzPts val="1800"/>
              <a:buFont typeface="IBM Plex Sans"/>
              <a:buChar char="■"/>
              <a:defRPr sz="1800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◻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1E1E1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11700" y="703375"/>
            <a:ext cx="7033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808080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/>
        </p:nvSpPr>
        <p:spPr>
          <a:xfrm>
            <a:off x="311700" y="4663225"/>
            <a:ext cx="1091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1E1E1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@ondrejsika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249500" y="4663225"/>
            <a:ext cx="11928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3"/>
              </a:rPr>
              <a:t>ondrej@sika.io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75925" y="4663225"/>
            <a:ext cx="9963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4"/>
              </a:rPr>
              <a:t>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3002225" y="4663250"/>
            <a:ext cx="1295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hlink"/>
                </a:solidFill>
                <a:uFill>
                  <a:noFill/>
                </a:uFill>
                <a:latin typeface="IBM Plex Mono"/>
                <a:ea typeface="IBM Plex Mono"/>
                <a:cs typeface="IBM Plex Mono"/>
                <a:sym typeface="IBM Plex Mono"/>
                <a:hlinkClick r:id="rId5"/>
              </a:rPr>
              <a:t>/in/ondrejsika</a:t>
            </a:r>
            <a:endParaRPr b="1" sz="900">
              <a:solidFill>
                <a:srgbClr val="E1E1E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6"/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ondrej@sika.io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3023225"/>
            <a:ext cx="8520600" cy="16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Ondřej Šika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</a:rPr>
              <a:t>Freelance &amp; SikaLabs s.r.o.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ondrej@sika.io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@ondrejsika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</a:rPr>
              <a:t>Gophercamp 2025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</a:rPr>
              <a:t>Brno</a:t>
            </a:r>
            <a:r>
              <a:rPr lang="en" sz="1100">
                <a:solidFill>
                  <a:srgbClr val="FFFFFF"/>
                </a:solidFill>
              </a:rPr>
              <a:t>, 25. 4. 2025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 txBox="1"/>
          <p:nvPr>
            <p:ph type="ctrTitle"/>
          </p:nvPr>
        </p:nvSpPr>
        <p:spPr>
          <a:xfrm>
            <a:off x="311700" y="469250"/>
            <a:ext cx="8520600" cy="23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>
                <a:solidFill>
                  <a:schemeClr val="lt1"/>
                </a:solidFill>
              </a:rPr>
              <a:t>Own CLI tooling in Go</a:t>
            </a:r>
            <a:endParaRPr sz="4100">
              <a:solidFill>
                <a:schemeClr val="lt1"/>
              </a:solidFill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23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 rotWithShape="1">
          <a:blip r:embed="rId5">
            <a:alphaModFix/>
          </a:blip>
          <a:srcRect b="-24343" l="0" r="-27388" t="-3044"/>
          <a:stretch/>
        </p:blipFill>
        <p:spPr>
          <a:xfrm>
            <a:off x="3230399" y="1819425"/>
            <a:ext cx="2812727" cy="28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2600" y="1420525"/>
            <a:ext cx="1347626" cy="115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Ondřej Šika</a:t>
            </a:r>
            <a:endParaRPr sz="3500"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072575"/>
            <a:ext cx="4795200" cy="3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DevOps {Engineer, Consultant, Trainer}</a:t>
            </a:r>
            <a:endParaRPr b="1"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900"/>
              <a:t>Founder and CEO</a:t>
            </a:r>
            <a:br>
              <a:rPr lang="en" sz="1900"/>
            </a:br>
            <a:r>
              <a:rPr lang="en" sz="1900"/>
              <a:t>of the DevOps company </a:t>
            </a:r>
            <a:r>
              <a:rPr b="1" lang="en" sz="1900"/>
              <a:t>SikaLabs</a:t>
            </a:r>
            <a:r>
              <a:rPr lang="en" sz="1900"/>
              <a:t>.</a:t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900"/>
              <a:t>I build and run infrastructures on Kubernetes, open-source and cloud native tools.</a:t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900"/>
              <a:t>And I do DevOps trainings about it.</a:t>
            </a:r>
            <a:endParaRPr sz="1900"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62" y="-1"/>
            <a:ext cx="385764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Own CLI Tool. Why?</a:t>
            </a:r>
            <a:endParaRPr b="1" sz="5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Simplify repetitive tasks</a:t>
            </a:r>
            <a:endParaRPr b="1" sz="3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3800"/>
              <a:t>We are lazy so we want to make our work easier</a:t>
            </a:r>
            <a:endParaRPr b="1" sz="3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>
                <a:solidFill>
                  <a:schemeClr val="hlink"/>
                </a:solidFill>
              </a:rPr>
              <a:t>Working with Kubernetes</a:t>
            </a:r>
            <a:endParaRPr b="1" sz="2000">
              <a:solidFill>
                <a:schemeClr val="hlink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Char char="■"/>
            </a:pPr>
            <a:r>
              <a:rPr b="1" lang="en" sz="2000">
                <a:solidFill>
                  <a:schemeClr val="hlink"/>
                </a:solidFill>
              </a:rPr>
              <a:t>CLI shortcuts and aliases</a:t>
            </a:r>
            <a:endParaRPr b="1" sz="2000">
              <a:solidFill>
                <a:schemeClr val="hlink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Code generation during development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Generating data for testing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Automatic commit messages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... and more</a:t>
            </a:r>
            <a:endParaRPr b="1" sz="2000"/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/>
              <a:t>Our example use cases</a:t>
            </a:r>
            <a:endParaRPr sz="3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Solution?</a:t>
            </a:r>
            <a:endParaRPr b="1" sz="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Shell Scripts 🎉</a:t>
            </a:r>
            <a:endParaRPr b="1" sz="5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>
                <a:solidFill>
                  <a:schemeClr val="hlink"/>
                </a:solidFill>
              </a:rPr>
              <a:t>Shell Scripts</a:t>
            </a:r>
            <a:r>
              <a:rPr b="1" lang="en" sz="5000"/>
              <a:t> </a:t>
            </a:r>
            <a:r>
              <a:rPr b="1" lang="en" sz="5000"/>
              <a:t>😔</a:t>
            </a:r>
            <a:endParaRPr b="1" sz="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Shell Scripts</a:t>
            </a:r>
            <a:endParaRPr sz="3500"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Write once, run forever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Shell works everywhere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Easy to write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All scripts in one Git repo</a:t>
            </a:r>
            <a:endParaRPr b="1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But …</a:t>
            </a:r>
            <a:endParaRPr b="1" sz="5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But</a:t>
            </a:r>
            <a:r>
              <a:rPr lang="en" sz="3500"/>
              <a:t> </a:t>
            </a:r>
            <a:r>
              <a:rPr lang="en" sz="3500"/>
              <a:t>...</a:t>
            </a:r>
            <a:endParaRPr sz="3500"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Is Shell, Bash or ZSH really available everywhere?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Are they truly easy to write? if it's more than chain of few command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What about distribution without Git?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Or without internet?</a:t>
            </a:r>
            <a:endParaRPr b="1" sz="20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Another solution?</a:t>
            </a:r>
            <a:endParaRPr b="1" sz="5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Python</a:t>
            </a:r>
            <a:r>
              <a:rPr b="1" lang="en" sz="5000"/>
              <a:t> 🎉</a:t>
            </a:r>
            <a:endParaRPr b="1" sz="5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Python</a:t>
            </a:r>
            <a:r>
              <a:rPr b="1" lang="en" sz="5000"/>
              <a:t> 😔</a:t>
            </a:r>
            <a:endParaRPr b="1" sz="5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Python solves one problem but makes others worse</a:t>
            </a:r>
            <a:endParaRPr b="1" sz="5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/>
              <a:t>Pros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Easier and faster development than SH/BASH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Use of libraries, working with APIs, SDKs...</a:t>
            </a:r>
            <a:endParaRPr b="1" sz="20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/>
              <a:t>Cons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Python isn’t available everywhere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Different versions of Python, 2 vs 3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 Dependency management isn't ideal (e.g., virtualenv...)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Still not a single binary for distribution</a:t>
            </a:r>
            <a:endParaRPr b="1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… solution?</a:t>
            </a:r>
            <a:endParaRPr b="1" sz="5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p31"/>
          <p:cNvCxnSpPr/>
          <p:nvPr/>
        </p:nvCxnSpPr>
        <p:spPr>
          <a:xfrm rot="10800000">
            <a:off x="4181325" y="984325"/>
            <a:ext cx="44100" cy="32079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31"/>
          <p:cNvCxnSpPr/>
          <p:nvPr/>
        </p:nvCxnSpPr>
        <p:spPr>
          <a:xfrm>
            <a:off x="4181325" y="1139275"/>
            <a:ext cx="55200" cy="33183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31"/>
          <p:cNvCxnSpPr/>
          <p:nvPr/>
        </p:nvCxnSpPr>
        <p:spPr>
          <a:xfrm flipH="1" rot="10800000">
            <a:off x="4225425" y="2665700"/>
            <a:ext cx="1980000" cy="222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31"/>
          <p:cNvCxnSpPr/>
          <p:nvPr/>
        </p:nvCxnSpPr>
        <p:spPr>
          <a:xfrm flipH="1">
            <a:off x="2300625" y="2687900"/>
            <a:ext cx="1935900" cy="111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31"/>
          <p:cNvSpPr txBox="1"/>
          <p:nvPr/>
        </p:nvSpPr>
        <p:spPr>
          <a:xfrm>
            <a:off x="6393425" y="2450000"/>
            <a:ext cx="1825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easy to write</a:t>
            </a:r>
            <a:endParaRPr b="1" sz="1800">
              <a:solidFill>
                <a:srgbClr val="E1E1E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3440125" y="246350"/>
            <a:ext cx="1825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rPr>
              <a:t>easy to run</a:t>
            </a:r>
            <a:endParaRPr b="1" sz="1800">
              <a:solidFill>
                <a:srgbClr val="E1E1E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76" name="Google Shape;176;p31" title="Python-logo-notext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5325" y="3108225"/>
            <a:ext cx="1060500" cy="1163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1" title="full_colored_l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873" y="1139275"/>
            <a:ext cx="2686230" cy="116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1" title="Go-Logo_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6325" y="720038"/>
            <a:ext cx="1935901" cy="1709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 title="perl_logo_freelogovectors.net_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475" y="3152474"/>
            <a:ext cx="3023974" cy="14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Let's use Go </a:t>
            </a:r>
            <a:r>
              <a:rPr b="1" lang="en" sz="5000">
                <a:solidFill>
                  <a:schemeClr val="hlink"/>
                </a:solidFill>
              </a:rPr>
              <a:t>🎉🎉🎉</a:t>
            </a:r>
            <a:endParaRPr b="1" sz="5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/>
              <a:t>Why CLI Tool in Go?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250150"/>
            <a:ext cx="82203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Statically linked binaries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Easy development in Go (even for beginners)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Simple distribution (brew, curl | sh, winget, ...)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Tooling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◻"/>
            </a:pPr>
            <a:r>
              <a:rPr b="1" lang="en" sz="2000"/>
              <a:t>Goreleaser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◻"/>
            </a:pPr>
            <a:r>
              <a:rPr b="1" lang="en" sz="2000"/>
              <a:t>Cobra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◻"/>
            </a:pPr>
            <a:r>
              <a:rPr b="1" lang="en" sz="2000"/>
              <a:t>Viper</a:t>
            </a:r>
            <a:endParaRPr b="1" sz="2000"/>
          </a:p>
        </p:txBody>
      </p: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9778" y="289800"/>
            <a:ext cx="1692525" cy="230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Statically Linked Binaries</a:t>
            </a:r>
            <a:endParaRPr b="1" sz="5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1476375"/>
            <a:ext cx="6096000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/>
              <a:t>Statically Linked Binaries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962625"/>
            <a:ext cx="85206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Self contained executable, no external dependencies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Very easy to build statically linked binaries</a:t>
            </a:r>
            <a:endParaRPr b="1" sz="20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/>
              <a:t>	</a:t>
            </a:r>
            <a:r>
              <a:rPr b="1" lang="en" sz="2000">
                <a:latin typeface="IBM Plex Mono"/>
                <a:ea typeface="IBM Plex Mono"/>
                <a:cs typeface="IBM Plex Mono"/>
                <a:sym typeface="IBM Plex Mono"/>
              </a:rPr>
              <a:t>CGO_ENABLED=0 go build</a:t>
            </a:r>
            <a:endParaRPr b="1" sz="2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Binary for every platform and architecture: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◻"/>
            </a:pPr>
            <a:r>
              <a:rPr b="1" lang="en" sz="2000"/>
              <a:t>Linux, Mac, Windows, …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◻"/>
            </a:pPr>
            <a:r>
              <a:rPr b="1" lang="en" sz="2000"/>
              <a:t>amd64, arm64, …</a:t>
            </a:r>
            <a:endParaRPr b="1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Goreleaser</a:t>
            </a:r>
            <a:endParaRPr b="1" sz="5000"/>
          </a:p>
        </p:txBody>
      </p:sp>
      <p:pic>
        <p:nvPicPr>
          <p:cNvPr id="216" name="Google Shape;2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175" y="541375"/>
            <a:ext cx="4060749" cy="4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Goreleaser</a:t>
            </a:r>
            <a:endParaRPr sz="3500"/>
          </a:p>
        </p:txBody>
      </p:sp>
      <p:sp>
        <p:nvSpPr>
          <p:cNvPr id="222" name="Google Shape;222;p38"/>
          <p:cNvSpPr txBox="1"/>
          <p:nvPr>
            <p:ph idx="1" type="body"/>
          </p:nvPr>
        </p:nvSpPr>
        <p:spPr>
          <a:xfrm>
            <a:off x="311700" y="1250150"/>
            <a:ext cx="82203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Build binaries (for all platforms)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Build &amp; push Docker image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Upload binaries to GitHub/Gitlab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Create Brew and Scoop packages</a:t>
            </a:r>
            <a:endParaRPr b="1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/>
              <a:t>Go Binary Distribution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228" name="Google Shape;228;p39"/>
          <p:cNvSpPr txBox="1"/>
          <p:nvPr>
            <p:ph idx="1" type="body"/>
          </p:nvPr>
        </p:nvSpPr>
        <p:spPr>
          <a:xfrm>
            <a:off x="311700" y="1250150"/>
            <a:ext cx="82203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Thanks to Goreleaser, distribution is very easy: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brew install my-org/tap/my-cli-tool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curl -fsSL https://…/my-cli-tool/master/install.sh | sh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winget install -e --id my-org.</a:t>
            </a:r>
            <a:r>
              <a:rPr b="1" lang="en" sz="2000">
                <a:solidFill>
                  <a:schemeClr val="hlink"/>
                </a:solidFill>
              </a:rPr>
              <a:t>my-cli-tool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scoop install https://…/scoop-bucket/master/my-cli-tool.json</a:t>
            </a:r>
            <a:endParaRPr b="1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0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Cobra &amp; Viper</a:t>
            </a:r>
            <a:endParaRPr b="1" sz="5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Cobra</a:t>
            </a:r>
            <a:endParaRPr sz="3500"/>
          </a:p>
        </p:txBody>
      </p:sp>
      <p:sp>
        <p:nvSpPr>
          <p:cNvPr id="240" name="Google Shape;240;p41"/>
          <p:cNvSpPr txBox="1"/>
          <p:nvPr>
            <p:ph idx="1" type="body"/>
          </p:nvPr>
        </p:nvSpPr>
        <p:spPr>
          <a:xfrm>
            <a:off x="311700" y="1250150"/>
            <a:ext cx="84639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Great library for writing CLI tools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Used by most CLI tools: Docker, Kubernetes, Helm, ArgoCD, ...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Very easy and pleasant to use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Automatically generates completions</a:t>
            </a:r>
            <a:br>
              <a:rPr b="1" lang="en" sz="2000"/>
            </a:br>
            <a:r>
              <a:rPr b="1" lang="en" sz="2000"/>
              <a:t>	BASH, ZSH, PowerShell, Fish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Generates documentation</a:t>
            </a:r>
            <a:endParaRPr b="1"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Viper</a:t>
            </a:r>
            <a:endParaRPr sz="3500"/>
          </a:p>
        </p:txBody>
      </p:sp>
      <p:sp>
        <p:nvSpPr>
          <p:cNvPr id="246" name="Google Shape;246;p42"/>
          <p:cNvSpPr txBox="1"/>
          <p:nvPr>
            <p:ph idx="1" type="body"/>
          </p:nvPr>
        </p:nvSpPr>
        <p:spPr>
          <a:xfrm>
            <a:off x="311700" y="1250150"/>
            <a:ext cx="84639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Library for config files and ENV variables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setting defaults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reading from JSON, TOML, YAML, …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reading from environment variables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reading from remote config systems (etcd or Consul)</a:t>
            </a:r>
            <a:endParaRPr b="1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Completion</a:t>
            </a:r>
            <a:endParaRPr sz="3500"/>
          </a:p>
        </p:txBody>
      </p:sp>
      <p:sp>
        <p:nvSpPr>
          <p:cNvPr id="252" name="Google Shape;252;p43"/>
          <p:cNvSpPr txBox="1"/>
          <p:nvPr>
            <p:ph idx="1" type="body"/>
          </p:nvPr>
        </p:nvSpPr>
        <p:spPr>
          <a:xfrm>
            <a:off x="311700" y="1250150"/>
            <a:ext cx="86649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Supports: BASH, ZSH, FISH a PowerShell</a:t>
            </a:r>
            <a:endParaRPr b="1" sz="20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/>
              <a:t>Source in current shell</a:t>
            </a:r>
            <a:br>
              <a:rPr b="1" lang="en" sz="2000"/>
            </a:br>
            <a:r>
              <a:rPr b="1" lang="en" sz="2000"/>
              <a:t>	</a:t>
            </a:r>
            <a:r>
              <a:rPr b="1" lang="en" sz="2000">
                <a:latin typeface="IBM Plex Mono"/>
                <a:ea typeface="IBM Plex Mono"/>
                <a:cs typeface="IBM Plex Mono"/>
                <a:sym typeface="IBM Plex Mono"/>
              </a:rPr>
              <a:t>. &lt;(my-cli-tool completion bash)</a:t>
            </a:r>
            <a:endParaRPr b="1" sz="2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/>
              <a:t>Add to .bashrc</a:t>
            </a:r>
            <a:br>
              <a:rPr b="1" lang="en" sz="2000"/>
            </a:br>
            <a:r>
              <a:rPr b="1" lang="en" sz="2000"/>
              <a:t>	</a:t>
            </a:r>
            <a:r>
              <a:rPr b="1" lang="en" sz="2000">
                <a:latin typeface="IBM Plex Mono"/>
                <a:ea typeface="IBM Plex Mono"/>
                <a:cs typeface="IBM Plex Mono"/>
                <a:sym typeface="IBM Plex Mono"/>
              </a:rPr>
              <a:t>echo ". &lt;(my-cli-tool completion bash)" &gt;&gt; ~/.bashrc</a:t>
            </a:r>
            <a:endParaRPr b="1" sz="2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/>
              <a:t>Generated Documentation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pic>
        <p:nvPicPr>
          <p:cNvPr id="258" name="Google Shape;25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13" y="961150"/>
            <a:ext cx="7418476" cy="36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5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Our CLI Tools in Go</a:t>
            </a:r>
            <a:endParaRPr b="1" sz="5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/>
              <a:t>My CLI Tools in Go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270" name="Google Shape;270;p46"/>
          <p:cNvSpPr txBox="1"/>
          <p:nvPr>
            <p:ph idx="1" type="body"/>
          </p:nvPr>
        </p:nvSpPr>
        <p:spPr>
          <a:xfrm>
            <a:off x="311700" y="1250150"/>
            <a:ext cx="84639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slu - various utilities that might be useful</a:t>
            </a:r>
            <a:r>
              <a:rPr b="1" lang="en" sz="2000"/>
              <a:t> (SikaLabs Utils)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training-cli - tool to simplify training preparation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tergum - Backup tool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gobble - alternative to Ansible</a:t>
            </a:r>
            <a:endParaRPr b="1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github.com/sikalabs/slu</a:t>
            </a:r>
            <a:endParaRPr b="1" sz="5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9343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234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8096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320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52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800"/>
              <a:t>github.com/ondrejsika/training-cli</a:t>
            </a:r>
            <a:endParaRPr b="1" sz="3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320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54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LIVE DEMO TIME</a:t>
            </a:r>
            <a:endParaRPr b="1" sz="75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/>
              <a:t>Summary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324" name="Google Shape;324;p55"/>
          <p:cNvSpPr txBox="1"/>
          <p:nvPr>
            <p:ph idx="1" type="body"/>
          </p:nvPr>
        </p:nvSpPr>
        <p:spPr>
          <a:xfrm>
            <a:off x="311700" y="1250150"/>
            <a:ext cx="8142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CLI tools in Go are great – proven in practice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Easy to use and distribute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Simple and fast to develop</a:t>
            </a:r>
            <a:endParaRPr b="1" sz="2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6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Thank you for your attention.</a:t>
            </a:r>
            <a:endParaRPr b="1" sz="75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7"/>
          <p:cNvSpPr txBox="1"/>
          <p:nvPr>
            <p:ph type="title"/>
          </p:nvPr>
        </p:nvSpPr>
        <p:spPr>
          <a:xfrm>
            <a:off x="283100" y="346650"/>
            <a:ext cx="8518200" cy="42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</a:rPr>
              <a:t>Email</a:t>
            </a:r>
            <a:br>
              <a:rPr lang="en">
                <a:solidFill>
                  <a:srgbClr val="FFFFFF"/>
                </a:solidFill>
              </a:rPr>
            </a:br>
            <a:r>
              <a:rPr lang="en" sz="3800">
                <a:solidFill>
                  <a:srgbClr val="FFFFFF"/>
                </a:solidFill>
              </a:rPr>
              <a:t>ondrej@sika.io</a:t>
            </a:r>
            <a:endParaRPr sz="3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chemeClr val="lt1"/>
                </a:solidFill>
              </a:rPr>
              <a:t>Twitter</a:t>
            </a:r>
            <a:endParaRPr b="0"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lt1"/>
                </a:solidFill>
              </a:rPr>
              <a:t>@ondrejsika</a:t>
            </a:r>
            <a:endParaRPr sz="3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chemeClr val="lt1"/>
                </a:solidFill>
              </a:rPr>
              <a:t>LinkedIn</a:t>
            </a:r>
            <a:endParaRPr b="0"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lt1"/>
                </a:solidFill>
              </a:rPr>
              <a:t>/in/ondrejsika</a:t>
            </a:r>
            <a:endParaRPr sz="3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200">
                <a:solidFill>
                  <a:schemeClr val="lt1"/>
                </a:solidFill>
              </a:rPr>
              <a:t>Slides</a:t>
            </a:r>
            <a:endParaRPr b="0"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solidFill>
                  <a:schemeClr val="lt1"/>
                </a:solidFill>
              </a:rPr>
              <a:t>sika.link/slides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336" name="Google Shape;33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57"/>
          <p:cNvPicPr preferRelativeResize="0"/>
          <p:nvPr/>
        </p:nvPicPr>
        <p:blipFill rotWithShape="1">
          <a:blip r:embed="rId4">
            <a:alphaModFix/>
          </a:blip>
          <a:srcRect b="-24343" l="0" r="-27388" t="-3044"/>
          <a:stretch/>
        </p:blipFill>
        <p:spPr>
          <a:xfrm rot="9643923">
            <a:off x="4173055" y="-1132252"/>
            <a:ext cx="2481412" cy="2481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drej Sika - prezentace tmava v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E1E1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