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5143500" cx="9144000"/>
  <p:notesSz cx="6858000" cy="9144000"/>
  <p:embeddedFontLst>
    <p:embeddedFont>
      <p:font typeface="IBM Plex Sans"/>
      <p:regular r:id="rId37"/>
      <p:bold r:id="rId38"/>
      <p:italic r:id="rId39"/>
      <p:boldItalic r:id="rId40"/>
    </p:embeddedFont>
    <p:embeddedFont>
      <p:font typeface="Overpass"/>
      <p:regular r:id="rId41"/>
      <p:bold r:id="rId42"/>
      <p:italic r:id="rId43"/>
      <p:boldItalic r:id="rId44"/>
    </p:embeddedFont>
    <p:embeddedFont>
      <p:font typeface="IBM Plex Mono SemiBold"/>
      <p:regular r:id="rId45"/>
      <p:bold r:id="rId46"/>
      <p:italic r:id="rId47"/>
      <p:boldItalic r:id="rId48"/>
    </p:embeddedFont>
    <p:embeddedFont>
      <p:font typeface="Overpass SemiBold"/>
      <p:regular r:id="rId49"/>
      <p:bold r:id="rId50"/>
      <p:italic r:id="rId51"/>
      <p:boldItalic r:id="rId52"/>
    </p:embeddedFont>
    <p:embeddedFont>
      <p:font typeface="IBM Plex Mono"/>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BMPlexSans-boldItalic.fntdata"/><Relationship Id="rId42" Type="http://schemas.openxmlformats.org/officeDocument/2006/relationships/font" Target="fonts/Overpass-bold.fntdata"/><Relationship Id="rId41" Type="http://schemas.openxmlformats.org/officeDocument/2006/relationships/font" Target="fonts/Overpass-regular.fntdata"/><Relationship Id="rId44" Type="http://schemas.openxmlformats.org/officeDocument/2006/relationships/font" Target="fonts/Overpass-boldItalic.fntdata"/><Relationship Id="rId43" Type="http://schemas.openxmlformats.org/officeDocument/2006/relationships/font" Target="fonts/Overpass-italic.fntdata"/><Relationship Id="rId46" Type="http://schemas.openxmlformats.org/officeDocument/2006/relationships/font" Target="fonts/IBMPlexMonoSemiBold-bold.fntdata"/><Relationship Id="rId45" Type="http://schemas.openxmlformats.org/officeDocument/2006/relationships/font" Target="fonts/IBMPlexMonoSemiBold-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IBMPlexMonoSemiBold-boldItalic.fntdata"/><Relationship Id="rId47" Type="http://schemas.openxmlformats.org/officeDocument/2006/relationships/font" Target="fonts/IBMPlexMonoSemiBold-italic.fntdata"/><Relationship Id="rId49" Type="http://schemas.openxmlformats.org/officeDocument/2006/relationships/font" Target="fonts/OverpassSemiBold-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font" Target="fonts/IBMPlexSans-regular.fntdata"/><Relationship Id="rId36" Type="http://schemas.openxmlformats.org/officeDocument/2006/relationships/slide" Target="slides/slide32.xml"/><Relationship Id="rId39" Type="http://schemas.openxmlformats.org/officeDocument/2006/relationships/font" Target="fonts/IBMPlexSans-italic.fntdata"/><Relationship Id="rId38" Type="http://schemas.openxmlformats.org/officeDocument/2006/relationships/font" Target="fonts/IBMPlexSans-bold.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OverpassSemiBold-italic.fntdata"/><Relationship Id="rId50" Type="http://schemas.openxmlformats.org/officeDocument/2006/relationships/font" Target="fonts/OverpassSemiBold-bold.fntdata"/><Relationship Id="rId53" Type="http://schemas.openxmlformats.org/officeDocument/2006/relationships/font" Target="fonts/IBMPlexMono-regular.fntdata"/><Relationship Id="rId52" Type="http://schemas.openxmlformats.org/officeDocument/2006/relationships/font" Target="fonts/OverpassSemiBold-boldItalic.fntdata"/><Relationship Id="rId11" Type="http://schemas.openxmlformats.org/officeDocument/2006/relationships/slide" Target="slides/slide7.xml"/><Relationship Id="rId55" Type="http://schemas.openxmlformats.org/officeDocument/2006/relationships/font" Target="fonts/IBMPlexMono-italic.fntdata"/><Relationship Id="rId10" Type="http://schemas.openxmlformats.org/officeDocument/2006/relationships/slide" Target="slides/slide6.xml"/><Relationship Id="rId54" Type="http://schemas.openxmlformats.org/officeDocument/2006/relationships/font" Target="fonts/IBMPlexMono-bold.fntdata"/><Relationship Id="rId13" Type="http://schemas.openxmlformats.org/officeDocument/2006/relationships/slide" Target="slides/slide9.xml"/><Relationship Id="rId12" Type="http://schemas.openxmlformats.org/officeDocument/2006/relationships/slide" Target="slides/slide8.xml"/><Relationship Id="rId56" Type="http://schemas.openxmlformats.org/officeDocument/2006/relationships/font" Target="fonts/IBMPlexMono-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00a4e41519_1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00a4e41519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44b78ed68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44b78ed68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0fb53b5eb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0fb53b5eb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161292784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161292784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44b5a3933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44b5a3933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44b5a3933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44b5a3933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44b5a3933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44b5a3933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1031914c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1031914c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44b5a3933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44b5a3933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44b5a3933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44b5a3933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44b5a3933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44b5a3933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0fb53b5eba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0fb53b5eba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0fb53b5eb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0fb53b5eb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0fb53b5eb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0fb53b5eb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0fb53b5eb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0fb53b5eb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0fb53b5eb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0fb53b5eb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0fb53b5eba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0fb53b5eba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0fb53b5eb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0fb53b5eb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44b5a3933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44b5a3933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44b5a39337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44b5a39337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44b5a39337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44b5a39337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44b5a3933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44b5a3933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44b5a39337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44b5a39337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44b5a3933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44b5a3933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10e1a2473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10e1a2473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161292784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161292784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44b5a3933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44b5a3933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0fb53b5eb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0fb53b5eb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1602946da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1602946da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10e1a2473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10e1a2473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1602946da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1602946da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6" name="Google Shape;16;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Font typeface="Overpass"/>
              <a:buNone/>
              <a:defRPr sz="2800">
                <a:latin typeface="Overpass"/>
                <a:ea typeface="Overpass"/>
                <a:cs typeface="Overpass"/>
                <a:sym typeface="Overpass"/>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 name="Google Shape;17;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4"/>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8" name="Google Shape;28;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147950"/>
            <a:ext cx="58749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5" name="Google Shape;35;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9" name="Google Shape;39;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3" name="Google Shape;43;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Font typeface="Overpass SemiBold"/>
              <a:buNone/>
              <a:defRPr sz="2100">
                <a:latin typeface="Overpass SemiBold"/>
                <a:ea typeface="Overpass SemiBold"/>
                <a:cs typeface="Overpass SemiBold"/>
                <a:sym typeface="Overpass SemiBold"/>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Font typeface="Overpass"/>
              <a:buNone/>
              <a:defRPr>
                <a:latin typeface="Overpass"/>
                <a:ea typeface="Overpass"/>
                <a:cs typeface="Overpass"/>
                <a:sym typeface="Overpass"/>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6.xml"/><Relationship Id="rId10" Type="http://schemas.openxmlformats.org/officeDocument/2006/relationships/slideLayout" Target="../slideLayouts/slideLayout5.xml"/><Relationship Id="rId13" Type="http://schemas.openxmlformats.org/officeDocument/2006/relationships/slideLayout" Target="../slideLayouts/slideLayout8.xml"/><Relationship Id="rId12" Type="http://schemas.openxmlformats.org/officeDocument/2006/relationships/slideLayout" Target="../slideLayouts/slideLayout7.xml"/><Relationship Id="rId1" Type="http://schemas.openxmlformats.org/officeDocument/2006/relationships/image" Target="../media/image1.jpg"/><Relationship Id="rId2" Type="http://schemas.openxmlformats.org/officeDocument/2006/relationships/hyperlink" Target="https://twitter.com/ondrejsika" TargetMode="External"/><Relationship Id="rId3" Type="http://schemas.openxmlformats.org/officeDocument/2006/relationships/hyperlink" Target="mailto:ondrej@sika.io" TargetMode="External"/><Relationship Id="rId4" Type="http://schemas.openxmlformats.org/officeDocument/2006/relationships/hyperlink" Target="https://sika.io" TargetMode="External"/><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theme" Target="../theme/theme1.xml"/><Relationship Id="rId16" Type="http://schemas.openxmlformats.org/officeDocument/2006/relationships/slideLayout" Target="../slideLayouts/slideLayout11.xml"/><Relationship Id="rId5" Type="http://schemas.openxmlformats.org/officeDocument/2006/relationships/hyperlink" Target="https://linkedin.com/in/ondrejsika" TargetMode="External"/><Relationship Id="rId6" Type="http://schemas.openxmlformats.org/officeDocument/2006/relationships/slideLayout" Target="../slideLayouts/slideLayout1.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05250"/>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E1E1E1"/>
              </a:buClr>
              <a:buSzPts val="2500"/>
              <a:buFont typeface="IBM Plex Mono"/>
              <a:buNone/>
              <a:defRPr b="1" sz="2500">
                <a:solidFill>
                  <a:srgbClr val="E1E1E1"/>
                </a:solidFill>
                <a:latin typeface="IBM Plex Mono"/>
                <a:ea typeface="IBM Plex Mono"/>
                <a:cs typeface="IBM Plex Mono"/>
                <a:sym typeface="IBM Plex Mon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250138"/>
            <a:ext cx="7929000" cy="29409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rgbClr val="C8BFB0"/>
              </a:buClr>
              <a:buSzPts val="1800"/>
              <a:buFont typeface="IBM Plex Sans"/>
              <a:buChar char="■"/>
              <a:defRPr sz="1800">
                <a:solidFill>
                  <a:srgbClr val="E1E1E1"/>
                </a:solidFill>
                <a:latin typeface="IBM Plex Sans"/>
                <a:ea typeface="IBM Plex Sans"/>
                <a:cs typeface="IBM Plex Sans"/>
                <a:sym typeface="IBM Plex Sans"/>
              </a:defRPr>
            </a:lvl1pPr>
            <a:lvl2pPr indent="-317500" lvl="1" marL="914400" rtl="0">
              <a:lnSpc>
                <a:spcPct val="115000"/>
              </a:lnSpc>
              <a:spcBef>
                <a:spcPts val="1600"/>
              </a:spcBef>
              <a:spcAft>
                <a:spcPts val="0"/>
              </a:spcAft>
              <a:buClr>
                <a:srgbClr val="C8BFB0"/>
              </a:buClr>
              <a:buSzPts val="1400"/>
              <a:buFont typeface="IBM Plex Sans"/>
              <a:buChar char="◻"/>
              <a:defRPr>
                <a:solidFill>
                  <a:srgbClr val="E1E1E1"/>
                </a:solidFill>
                <a:latin typeface="IBM Plex Sans"/>
                <a:ea typeface="IBM Plex Sans"/>
                <a:cs typeface="IBM Plex Sans"/>
                <a:sym typeface="IBM Plex Sans"/>
              </a:defRPr>
            </a:lvl2pPr>
            <a:lvl3pPr indent="-317500" lvl="2" marL="1371600" rtl="0">
              <a:lnSpc>
                <a:spcPct val="115000"/>
              </a:lnSpc>
              <a:spcBef>
                <a:spcPts val="1600"/>
              </a:spcBef>
              <a:spcAft>
                <a:spcPts val="0"/>
              </a:spcAft>
              <a:buClr>
                <a:srgbClr val="C8BFB0"/>
              </a:buClr>
              <a:buSzPts val="1400"/>
              <a:buFont typeface="IBM Plex Sans"/>
              <a:buChar char="▫"/>
              <a:defRPr>
                <a:solidFill>
                  <a:srgbClr val="E1E1E1"/>
                </a:solidFill>
                <a:latin typeface="IBM Plex Sans"/>
                <a:ea typeface="IBM Plex Sans"/>
                <a:cs typeface="IBM Plex Sans"/>
                <a:sym typeface="IBM Plex Sans"/>
              </a:defRPr>
            </a:lvl3pPr>
            <a:lvl4pPr indent="-317500" lvl="3" marL="1828800" rtl="0">
              <a:lnSpc>
                <a:spcPct val="115000"/>
              </a:lnSpc>
              <a:spcBef>
                <a:spcPts val="1600"/>
              </a:spcBef>
              <a:spcAft>
                <a:spcPts val="0"/>
              </a:spcAft>
              <a:buClr>
                <a:srgbClr val="E1E1E1"/>
              </a:buClr>
              <a:buSzPts val="1400"/>
              <a:buFont typeface="IBM Plex Sans"/>
              <a:buChar char="▫"/>
              <a:defRPr>
                <a:solidFill>
                  <a:srgbClr val="E1E1E1"/>
                </a:solidFill>
                <a:latin typeface="IBM Plex Sans"/>
                <a:ea typeface="IBM Plex Sans"/>
                <a:cs typeface="IBM Plex Sans"/>
                <a:sym typeface="IBM Plex Sans"/>
              </a:defRPr>
            </a:lvl4pPr>
            <a:lvl5pPr indent="-317500" lvl="4" marL="2286000" rtl="0">
              <a:lnSpc>
                <a:spcPct val="115000"/>
              </a:lnSpc>
              <a:spcBef>
                <a:spcPts val="1600"/>
              </a:spcBef>
              <a:spcAft>
                <a:spcPts val="0"/>
              </a:spcAft>
              <a:buClr>
                <a:srgbClr val="C8BFB0"/>
              </a:buClr>
              <a:buSzPts val="1400"/>
              <a:buFont typeface="IBM Plex Sans"/>
              <a:buChar char="▫"/>
              <a:defRPr>
                <a:solidFill>
                  <a:srgbClr val="E1E1E1"/>
                </a:solidFill>
                <a:latin typeface="IBM Plex Sans"/>
                <a:ea typeface="IBM Plex Sans"/>
                <a:cs typeface="IBM Plex Sans"/>
                <a:sym typeface="IBM Plex Sans"/>
              </a:defRPr>
            </a:lvl5pPr>
            <a:lvl6pPr indent="-317500" lvl="5" marL="2743200" rtl="0">
              <a:lnSpc>
                <a:spcPct val="115000"/>
              </a:lnSpc>
              <a:spcBef>
                <a:spcPts val="1600"/>
              </a:spcBef>
              <a:spcAft>
                <a:spcPts val="0"/>
              </a:spcAft>
              <a:buClr>
                <a:srgbClr val="C8BFB0"/>
              </a:buClr>
              <a:buSzPts val="1400"/>
              <a:buFont typeface="IBM Plex Sans"/>
              <a:buChar char="▫"/>
              <a:defRPr>
                <a:solidFill>
                  <a:srgbClr val="E1E1E1"/>
                </a:solidFill>
                <a:latin typeface="IBM Plex Sans"/>
                <a:ea typeface="IBM Plex Sans"/>
                <a:cs typeface="IBM Plex Sans"/>
                <a:sym typeface="IBM Plex Sans"/>
              </a:defRPr>
            </a:lvl6pPr>
            <a:lvl7pPr indent="-317500" lvl="6" marL="3200400" rtl="0">
              <a:lnSpc>
                <a:spcPct val="115000"/>
              </a:lnSpc>
              <a:spcBef>
                <a:spcPts val="1600"/>
              </a:spcBef>
              <a:spcAft>
                <a:spcPts val="0"/>
              </a:spcAft>
              <a:buClr>
                <a:srgbClr val="C8BFB0"/>
              </a:buClr>
              <a:buSzPts val="1400"/>
              <a:buFont typeface="IBM Plex Sans"/>
              <a:buChar char="▫"/>
              <a:defRPr>
                <a:solidFill>
                  <a:srgbClr val="E1E1E1"/>
                </a:solidFill>
                <a:latin typeface="IBM Plex Sans"/>
                <a:ea typeface="IBM Plex Sans"/>
                <a:cs typeface="IBM Plex Sans"/>
                <a:sym typeface="IBM Plex Sans"/>
              </a:defRPr>
            </a:lvl7pPr>
            <a:lvl8pPr indent="-317500" lvl="7" marL="3657600" rtl="0">
              <a:lnSpc>
                <a:spcPct val="115000"/>
              </a:lnSpc>
              <a:spcBef>
                <a:spcPts val="1600"/>
              </a:spcBef>
              <a:spcAft>
                <a:spcPts val="0"/>
              </a:spcAft>
              <a:buClr>
                <a:srgbClr val="C8BFB0"/>
              </a:buClr>
              <a:buSzPts val="1400"/>
              <a:buFont typeface="IBM Plex Sans"/>
              <a:buChar char="▫"/>
              <a:defRPr>
                <a:solidFill>
                  <a:srgbClr val="E1E1E1"/>
                </a:solidFill>
                <a:latin typeface="IBM Plex Sans"/>
                <a:ea typeface="IBM Plex Sans"/>
                <a:cs typeface="IBM Plex Sans"/>
                <a:sym typeface="IBM Plex Sans"/>
              </a:defRPr>
            </a:lvl8pPr>
            <a:lvl9pPr indent="-317500" lvl="8" marL="4114800" rtl="0">
              <a:lnSpc>
                <a:spcPct val="115000"/>
              </a:lnSpc>
              <a:spcBef>
                <a:spcPts val="1600"/>
              </a:spcBef>
              <a:spcAft>
                <a:spcPts val="1600"/>
              </a:spcAft>
              <a:buClr>
                <a:srgbClr val="C8BFB0"/>
              </a:buClr>
              <a:buSzPts val="1400"/>
              <a:buFont typeface="IBM Plex Sans"/>
              <a:buChar char="▫"/>
              <a:defRPr>
                <a:solidFill>
                  <a:srgbClr val="E1E1E1"/>
                </a:solidFill>
                <a:latin typeface="IBM Plex Sans"/>
                <a:ea typeface="IBM Plex Sans"/>
                <a:cs typeface="IBM Plex Sans"/>
                <a:sym typeface="IBM Plex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311700" y="703375"/>
            <a:ext cx="7033800" cy="567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rgbClr val="808080"/>
                </a:solidFill>
                <a:latin typeface="IBM Plex Mono SemiBold"/>
                <a:ea typeface="IBM Plex Mono SemiBold"/>
                <a:cs typeface="IBM Plex Mono SemiBold"/>
                <a:sym typeface="IBM Plex Mono SemiBold"/>
              </a:defRPr>
            </a:lvl1pPr>
            <a:lvl2pPr lvl="1" rtl="0">
              <a:spcBef>
                <a:spcPts val="0"/>
              </a:spcBef>
              <a:spcAft>
                <a:spcPts val="0"/>
              </a:spcAft>
              <a:buNone/>
              <a:defRPr>
                <a:latin typeface="Arial"/>
                <a:ea typeface="Arial"/>
                <a:cs typeface="Arial"/>
                <a:sym typeface="Arial"/>
              </a:defRPr>
            </a:lvl2pPr>
            <a:lvl3pPr lvl="2" rtl="0">
              <a:spcBef>
                <a:spcPts val="0"/>
              </a:spcBef>
              <a:spcAft>
                <a:spcPts val="0"/>
              </a:spcAft>
              <a:buNone/>
              <a:defRPr>
                <a:latin typeface="Arial"/>
                <a:ea typeface="Arial"/>
                <a:cs typeface="Arial"/>
                <a:sym typeface="Arial"/>
              </a:defRPr>
            </a:lvl3pPr>
            <a:lvl4pPr lvl="3" rtl="0">
              <a:spcBef>
                <a:spcPts val="0"/>
              </a:spcBef>
              <a:spcAft>
                <a:spcPts val="0"/>
              </a:spcAft>
              <a:buNone/>
              <a:defRPr>
                <a:latin typeface="Arial"/>
                <a:ea typeface="Arial"/>
                <a:cs typeface="Arial"/>
                <a:sym typeface="Arial"/>
              </a:defRPr>
            </a:lvl4pPr>
            <a:lvl5pPr lvl="4" rtl="0">
              <a:spcBef>
                <a:spcPts val="0"/>
              </a:spcBef>
              <a:spcAft>
                <a:spcPts val="0"/>
              </a:spcAft>
              <a:buNone/>
              <a:defRPr>
                <a:latin typeface="Arial"/>
                <a:ea typeface="Arial"/>
                <a:cs typeface="Arial"/>
                <a:sym typeface="Arial"/>
              </a:defRPr>
            </a:lvl5pPr>
            <a:lvl6pPr lvl="5" rtl="0">
              <a:spcBef>
                <a:spcPts val="0"/>
              </a:spcBef>
              <a:spcAft>
                <a:spcPts val="0"/>
              </a:spcAft>
              <a:buNone/>
              <a:defRPr>
                <a:latin typeface="Arial"/>
                <a:ea typeface="Arial"/>
                <a:cs typeface="Arial"/>
                <a:sym typeface="Arial"/>
              </a:defRPr>
            </a:lvl6pPr>
            <a:lvl7pPr lvl="6" rtl="0">
              <a:spcBef>
                <a:spcPts val="0"/>
              </a:spcBef>
              <a:spcAft>
                <a:spcPts val="0"/>
              </a:spcAft>
              <a:buNone/>
              <a:defRPr>
                <a:latin typeface="Arial"/>
                <a:ea typeface="Arial"/>
                <a:cs typeface="Arial"/>
                <a:sym typeface="Arial"/>
              </a:defRPr>
            </a:lvl7pPr>
            <a:lvl8pPr lvl="7" rtl="0">
              <a:spcBef>
                <a:spcPts val="0"/>
              </a:spcBef>
              <a:spcAft>
                <a:spcPts val="0"/>
              </a:spcAft>
              <a:buNone/>
              <a:defRPr>
                <a:latin typeface="Arial"/>
                <a:ea typeface="Arial"/>
                <a:cs typeface="Arial"/>
                <a:sym typeface="Arial"/>
              </a:defRPr>
            </a:lvl8pPr>
            <a:lvl9pPr lvl="8" rtl="0">
              <a:spcBef>
                <a:spcPts val="0"/>
              </a:spcBef>
              <a:spcAft>
                <a:spcPts val="0"/>
              </a:spcAft>
              <a:buNone/>
              <a:defRPr>
                <a:latin typeface="Arial"/>
                <a:ea typeface="Arial"/>
                <a:cs typeface="Arial"/>
                <a:sym typeface="Arial"/>
              </a:defRPr>
            </a:lvl9pPr>
          </a:lstStyle>
          <a:p/>
        </p:txBody>
      </p:sp>
      <p:sp>
        <p:nvSpPr>
          <p:cNvPr id="10" name="Google Shape;10;p1"/>
          <p:cNvSpPr txBox="1"/>
          <p:nvPr/>
        </p:nvSpPr>
        <p:spPr>
          <a:xfrm>
            <a:off x="311700" y="4663225"/>
            <a:ext cx="1091400" cy="20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E1E1E1"/>
                </a:solidFill>
                <a:uFill>
                  <a:noFill/>
                </a:uFill>
                <a:latin typeface="IBM Plex Mono SemiBold"/>
                <a:ea typeface="IBM Plex Mono SemiBold"/>
                <a:cs typeface="IBM Plex Mono SemiBold"/>
                <a:sym typeface="IBM Plex Mono SemiBold"/>
                <a:hlinkClick r:id="rId2">
                  <a:extLst>
                    <a:ext uri="{A12FA001-AC4F-418D-AE19-62706E023703}">
                      <ahyp:hlinkClr val="tx"/>
                    </a:ext>
                  </a:extLst>
                </a:hlinkClick>
              </a:rPr>
              <a:t>@ondrejsika</a:t>
            </a:r>
            <a:endParaRPr sz="900">
              <a:solidFill>
                <a:srgbClr val="E1E1E1"/>
              </a:solidFill>
              <a:latin typeface="IBM Plex Mono SemiBold"/>
              <a:ea typeface="IBM Plex Mono SemiBold"/>
              <a:cs typeface="IBM Plex Mono SemiBold"/>
              <a:sym typeface="IBM Plex Mono SemiBold"/>
            </a:endParaRPr>
          </a:p>
        </p:txBody>
      </p:sp>
      <p:sp>
        <p:nvSpPr>
          <p:cNvPr id="11" name="Google Shape;11;p1"/>
          <p:cNvSpPr txBox="1"/>
          <p:nvPr/>
        </p:nvSpPr>
        <p:spPr>
          <a:xfrm>
            <a:off x="1249500" y="4663225"/>
            <a:ext cx="1192800" cy="20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hlink"/>
                </a:solidFill>
                <a:uFill>
                  <a:noFill/>
                </a:uFill>
                <a:latin typeface="IBM Plex Mono SemiBold"/>
                <a:ea typeface="IBM Plex Mono SemiBold"/>
                <a:cs typeface="IBM Plex Mono SemiBold"/>
                <a:sym typeface="IBM Plex Mono SemiBold"/>
                <a:hlinkClick r:id="rId3"/>
              </a:rPr>
              <a:t>ondrej@sika.io</a:t>
            </a:r>
            <a:endParaRPr sz="900">
              <a:solidFill>
                <a:srgbClr val="E1E1E1"/>
              </a:solidFill>
              <a:latin typeface="IBM Plex Mono SemiBold"/>
              <a:ea typeface="IBM Plex Mono SemiBold"/>
              <a:cs typeface="IBM Plex Mono SemiBold"/>
              <a:sym typeface="IBM Plex Mono SemiBold"/>
            </a:endParaRPr>
          </a:p>
        </p:txBody>
      </p:sp>
      <p:sp>
        <p:nvSpPr>
          <p:cNvPr id="12" name="Google Shape;12;p1"/>
          <p:cNvSpPr txBox="1"/>
          <p:nvPr/>
        </p:nvSpPr>
        <p:spPr>
          <a:xfrm>
            <a:off x="2375925" y="4663225"/>
            <a:ext cx="996300" cy="20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hlink"/>
                </a:solidFill>
                <a:uFill>
                  <a:noFill/>
                </a:uFill>
                <a:latin typeface="IBM Plex Mono SemiBold"/>
                <a:ea typeface="IBM Plex Mono SemiBold"/>
                <a:cs typeface="IBM Plex Mono SemiBold"/>
                <a:sym typeface="IBM Plex Mono SemiBold"/>
                <a:hlinkClick r:id="rId4"/>
              </a:rPr>
              <a:t>sika.io</a:t>
            </a:r>
            <a:endParaRPr sz="900">
              <a:solidFill>
                <a:srgbClr val="E1E1E1"/>
              </a:solidFill>
              <a:latin typeface="IBM Plex Mono SemiBold"/>
              <a:ea typeface="IBM Plex Mono SemiBold"/>
              <a:cs typeface="IBM Plex Mono SemiBold"/>
              <a:sym typeface="IBM Plex Mono SemiBold"/>
            </a:endParaRPr>
          </a:p>
        </p:txBody>
      </p:sp>
      <p:sp>
        <p:nvSpPr>
          <p:cNvPr id="13" name="Google Shape;13;p1"/>
          <p:cNvSpPr txBox="1"/>
          <p:nvPr/>
        </p:nvSpPr>
        <p:spPr>
          <a:xfrm>
            <a:off x="3002225" y="4663250"/>
            <a:ext cx="1295100" cy="20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hlink"/>
                </a:solidFill>
                <a:uFill>
                  <a:noFill/>
                </a:uFill>
                <a:latin typeface="IBM Plex Mono"/>
                <a:ea typeface="IBM Plex Mono"/>
                <a:cs typeface="IBM Plex Mono"/>
                <a:sym typeface="IBM Plex Mono"/>
                <a:hlinkClick r:id="rId5"/>
              </a:rPr>
              <a:t>/in/ondrejsika</a:t>
            </a:r>
            <a:endParaRPr b="1" sz="900">
              <a:solidFill>
                <a:srgbClr val="E1E1E1"/>
              </a:solidFill>
              <a:latin typeface="IBM Plex Mono"/>
              <a:ea typeface="IBM Plex Mono"/>
              <a:cs typeface="IBM Plex Mono"/>
              <a:sym typeface="IBM Plex Mono"/>
            </a:endParaRPr>
          </a:p>
        </p:txBody>
      </p:sp>
    </p:spTree>
  </p:cSld>
  <p:clrMap accent1="accent1" accent2="accent2" accent3="accent3" accent4="accent4" accent5="accent5" accent6="accent6" bg1="lt1" bg2="dk2" tx1="dk1" tx2="lt2" folHlink="folHlink" hlink="hlink"/>
  <p:sldLayoutIdLst>
    <p:sldLayoutId id="2147483648" r:id="rId6"/>
    <p:sldLayoutId id="2147483649" r:id="rId7"/>
    <p:sldLayoutId id="2147483650" r:id="rId8"/>
    <p:sldLayoutId id="2147483651" r:id="rId9"/>
    <p:sldLayoutId id="2147483652" r:id="rId10"/>
    <p:sldLayoutId id="2147483653" r:id="rId11"/>
    <p:sldLayoutId id="2147483654" r:id="rId12"/>
    <p:sldLayoutId id="2147483655" r:id="rId13"/>
    <p:sldLayoutId id="2147483656" r:id="rId14"/>
    <p:sldLayoutId id="2147483657" r:id="rId15"/>
    <p:sldLayoutId id="2147483658"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ondrej@sika.io" TargetMode="External"/><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idx="1" type="subTitle"/>
          </p:nvPr>
        </p:nvSpPr>
        <p:spPr>
          <a:xfrm>
            <a:off x="311700" y="3023225"/>
            <a:ext cx="8520600" cy="160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rgbClr val="FFFFFF"/>
                </a:solidFill>
              </a:rPr>
              <a:t>Ondřej Šika</a:t>
            </a:r>
            <a:endParaRPr sz="2400">
              <a:solidFill>
                <a:srgbClr val="FFFFFF"/>
              </a:solidFill>
            </a:endParaRPr>
          </a:p>
          <a:p>
            <a:pPr indent="0" lvl="0" marL="0" rtl="0" algn="l">
              <a:spcBef>
                <a:spcPts val="0"/>
              </a:spcBef>
              <a:spcAft>
                <a:spcPts val="0"/>
              </a:spcAft>
              <a:buClr>
                <a:schemeClr val="dk1"/>
              </a:buClr>
              <a:buSzPts val="1100"/>
              <a:buFont typeface="Arial"/>
              <a:buNone/>
            </a:pPr>
            <a:r>
              <a:rPr lang="en" sz="1200">
                <a:solidFill>
                  <a:srgbClr val="FFFFFF"/>
                </a:solidFill>
              </a:rPr>
              <a:t>Freelance &amp; SikaLabs s.r.o.</a:t>
            </a:r>
            <a:endParaRPr sz="1200">
              <a:solidFill>
                <a:srgbClr val="FFFFFF"/>
              </a:solidFill>
            </a:endParaRPr>
          </a:p>
          <a:p>
            <a:pPr indent="0" lvl="0" marL="0" rtl="0" algn="l">
              <a:spcBef>
                <a:spcPts val="0"/>
              </a:spcBef>
              <a:spcAft>
                <a:spcPts val="0"/>
              </a:spcAft>
              <a:buClr>
                <a:schemeClr val="dk1"/>
              </a:buClr>
              <a:buSzPts val="1100"/>
              <a:buFont typeface="Arial"/>
              <a:buNone/>
            </a:pPr>
            <a:r>
              <a:t/>
            </a:r>
            <a:endParaRPr sz="800">
              <a:solidFill>
                <a:srgbClr val="FFFFFF"/>
              </a:solidFill>
            </a:endParaRPr>
          </a:p>
          <a:p>
            <a:pPr indent="0" lvl="0" marL="0" rtl="0" algn="l">
              <a:spcBef>
                <a:spcPts val="0"/>
              </a:spcBef>
              <a:spcAft>
                <a:spcPts val="0"/>
              </a:spcAft>
              <a:buClr>
                <a:schemeClr val="dk1"/>
              </a:buClr>
              <a:buSzPts val="1100"/>
              <a:buFont typeface="Arial"/>
              <a:buNone/>
            </a:pPr>
            <a:r>
              <a:rPr lang="en" sz="1600">
                <a:solidFill>
                  <a:srgbClr val="FFFFFF"/>
                </a:solidFill>
                <a:uFill>
                  <a:noFill/>
                </a:uFill>
                <a:hlinkClick r:id="rId3">
                  <a:extLst>
                    <a:ext uri="{A12FA001-AC4F-418D-AE19-62706E023703}">
                      <ahyp:hlinkClr val="tx"/>
                    </a:ext>
                  </a:extLst>
                </a:hlinkClick>
              </a:rPr>
              <a:t>ondrej@sika.io</a:t>
            </a:r>
            <a:endParaRPr sz="1600">
              <a:solidFill>
                <a:srgbClr val="FFFFFF"/>
              </a:solidFill>
            </a:endParaRPr>
          </a:p>
          <a:p>
            <a:pPr indent="0" lvl="0" marL="0" rtl="0" algn="l">
              <a:spcBef>
                <a:spcPts val="0"/>
              </a:spcBef>
              <a:spcAft>
                <a:spcPts val="0"/>
              </a:spcAft>
              <a:buClr>
                <a:schemeClr val="dk1"/>
              </a:buClr>
              <a:buSzPts val="1100"/>
              <a:buFont typeface="Arial"/>
              <a:buNone/>
            </a:pPr>
            <a:r>
              <a:rPr lang="en" sz="1600">
                <a:solidFill>
                  <a:srgbClr val="FFFFFF"/>
                </a:solidFill>
              </a:rPr>
              <a:t>@ondrejsika</a:t>
            </a:r>
            <a:endParaRPr sz="1600">
              <a:solidFill>
                <a:srgbClr val="FFFFFF"/>
              </a:solidFill>
            </a:endParaRPr>
          </a:p>
          <a:p>
            <a:pPr indent="0" lvl="0" marL="0" rtl="0" algn="l">
              <a:spcBef>
                <a:spcPts val="0"/>
              </a:spcBef>
              <a:spcAft>
                <a:spcPts val="0"/>
              </a:spcAft>
              <a:buClr>
                <a:schemeClr val="dk1"/>
              </a:buClr>
              <a:buSzPts val="1100"/>
              <a:buFont typeface="Arial"/>
              <a:buNone/>
            </a:pPr>
            <a:r>
              <a:t/>
            </a:r>
            <a:endParaRPr sz="800">
              <a:solidFill>
                <a:srgbClr val="FFFFFF"/>
              </a:solidFill>
            </a:endParaRPr>
          </a:p>
          <a:p>
            <a:pPr indent="0" lvl="0" marL="0" rtl="0" algn="l">
              <a:spcBef>
                <a:spcPts val="0"/>
              </a:spcBef>
              <a:spcAft>
                <a:spcPts val="0"/>
              </a:spcAft>
              <a:buClr>
                <a:schemeClr val="dk1"/>
              </a:buClr>
              <a:buSzPts val="1100"/>
              <a:buFont typeface="Arial"/>
              <a:buNone/>
            </a:pPr>
            <a:r>
              <a:rPr lang="en" sz="1200">
                <a:solidFill>
                  <a:srgbClr val="FFFFFF"/>
                </a:solidFill>
              </a:rPr>
              <a:t>Konference EurOpen, </a:t>
            </a:r>
            <a:r>
              <a:rPr lang="en" sz="1100">
                <a:solidFill>
                  <a:srgbClr val="FFFFFF"/>
                </a:solidFill>
              </a:rPr>
              <a:t>Šlovice, 16. 5. 2023</a:t>
            </a:r>
            <a:endParaRPr sz="1100">
              <a:solidFill>
                <a:srgbClr val="FFFFFF"/>
              </a:solidFill>
            </a:endParaRPr>
          </a:p>
        </p:txBody>
      </p:sp>
      <p:sp>
        <p:nvSpPr>
          <p:cNvPr id="60" name="Google Shape;60;p13"/>
          <p:cNvSpPr txBox="1"/>
          <p:nvPr>
            <p:ph type="ctrTitle"/>
          </p:nvPr>
        </p:nvSpPr>
        <p:spPr>
          <a:xfrm>
            <a:off x="311700" y="469250"/>
            <a:ext cx="8520600" cy="232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100">
                <a:solidFill>
                  <a:schemeClr val="lt1"/>
                </a:solidFill>
              </a:rPr>
              <a:t>Docker Kontejnery</a:t>
            </a:r>
            <a:endParaRPr sz="4100">
              <a:solidFill>
                <a:schemeClr val="lt1"/>
              </a:solidFill>
            </a:endParaRPr>
          </a:p>
          <a:p>
            <a:pPr indent="0" lvl="0" marL="0" rtl="0" algn="l">
              <a:spcBef>
                <a:spcPts val="0"/>
              </a:spcBef>
              <a:spcAft>
                <a:spcPts val="0"/>
              </a:spcAft>
              <a:buClr>
                <a:schemeClr val="dk1"/>
              </a:buClr>
              <a:buSzPts val="1100"/>
              <a:buFont typeface="Arial"/>
              <a:buNone/>
            </a:pPr>
            <a:r>
              <a:rPr lang="en" sz="4100">
                <a:solidFill>
                  <a:schemeClr val="lt1"/>
                </a:solidFill>
              </a:rPr>
              <a:t>v Praxi</a:t>
            </a:r>
            <a:endParaRPr sz="4100">
              <a:solidFill>
                <a:schemeClr val="lt1"/>
              </a:solidFill>
            </a:endParaRPr>
          </a:p>
        </p:txBody>
      </p:sp>
      <p:pic>
        <p:nvPicPr>
          <p:cNvPr id="61" name="Google Shape;61;p13"/>
          <p:cNvPicPr preferRelativeResize="0"/>
          <p:nvPr/>
        </p:nvPicPr>
        <p:blipFill rotWithShape="1">
          <a:blip r:embed="rId4">
            <a:alphaModFix/>
          </a:blip>
          <a:srcRect b="0" l="-2280" r="2279" t="0"/>
          <a:stretch/>
        </p:blipFill>
        <p:spPr>
          <a:xfrm>
            <a:off x="5986875" y="-64593"/>
            <a:ext cx="2474875" cy="2474875"/>
          </a:xfrm>
          <a:prstGeom prst="rect">
            <a:avLst/>
          </a:prstGeom>
          <a:noFill/>
          <a:ln>
            <a:noFill/>
          </a:ln>
        </p:spPr>
      </p:pic>
      <p:pic>
        <p:nvPicPr>
          <p:cNvPr id="62" name="Google Shape;62;p13"/>
          <p:cNvPicPr preferRelativeResize="0"/>
          <p:nvPr/>
        </p:nvPicPr>
        <p:blipFill>
          <a:blip r:embed="rId5">
            <a:alphaModFix/>
          </a:blip>
          <a:stretch>
            <a:fillRect/>
          </a:stretch>
        </p:blipFill>
        <p:spPr>
          <a:xfrm>
            <a:off x="5208125" y="2079975"/>
            <a:ext cx="778749" cy="778775"/>
          </a:xfrm>
          <a:prstGeom prst="rect">
            <a:avLst/>
          </a:prstGeom>
          <a:noFill/>
          <a:ln>
            <a:noFill/>
          </a:ln>
        </p:spPr>
      </p:pic>
      <p:pic>
        <p:nvPicPr>
          <p:cNvPr id="63" name="Google Shape;63;p13"/>
          <p:cNvPicPr preferRelativeResize="0"/>
          <p:nvPr/>
        </p:nvPicPr>
        <p:blipFill>
          <a:blip r:embed="rId6">
            <a:alphaModFix/>
          </a:blip>
          <a:stretch>
            <a:fillRect/>
          </a:stretch>
        </p:blipFill>
        <p:spPr>
          <a:xfrm>
            <a:off x="5774975" y="1152850"/>
            <a:ext cx="3895025" cy="3990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Ondřej</a:t>
            </a:r>
            <a:r>
              <a:rPr lang="en"/>
              <a:t> Šika</a:t>
            </a:r>
            <a:endParaRPr/>
          </a:p>
        </p:txBody>
      </p:sp>
      <p:sp>
        <p:nvSpPr>
          <p:cNvPr id="69" name="Google Shape;69;p14"/>
          <p:cNvSpPr txBox="1"/>
          <p:nvPr>
            <p:ph idx="1" type="body"/>
          </p:nvPr>
        </p:nvSpPr>
        <p:spPr>
          <a:xfrm>
            <a:off x="311700" y="777950"/>
            <a:ext cx="4608600" cy="3440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a:t>Jsem DevOps lektor, architekt a konzultant z Prahy.</a:t>
            </a:r>
            <a:endParaRPr/>
          </a:p>
          <a:p>
            <a:pPr indent="0" lvl="0" marL="0" marR="0" rtl="0" algn="l">
              <a:lnSpc>
                <a:spcPct val="115000"/>
              </a:lnSpc>
              <a:spcBef>
                <a:spcPts val="1600"/>
              </a:spcBef>
              <a:spcAft>
                <a:spcPts val="0"/>
              </a:spcAft>
              <a:buNone/>
            </a:pPr>
            <a:r>
              <a:rPr lang="en"/>
              <a:t>Navrhnu a implementuji Vám na míru DevOps architekturu od verzování v Gitu po provoz v Cloudu.</a:t>
            </a:r>
            <a:endParaRPr/>
          </a:p>
          <a:p>
            <a:pPr indent="0" lvl="0" marL="0" marR="0" rtl="0" algn="l">
              <a:lnSpc>
                <a:spcPct val="115000"/>
              </a:lnSpc>
              <a:spcBef>
                <a:spcPts val="1600"/>
              </a:spcBef>
              <a:spcAft>
                <a:spcPts val="1600"/>
              </a:spcAft>
              <a:buNone/>
            </a:pPr>
            <a:r>
              <a:rPr lang="en"/>
              <a:t>Dělám populární školení, kde své znalosti předávám tak, abyste si mohli vše udělat sami a bez zbytečných přešlapů a slepých cest.</a:t>
            </a:r>
            <a:endParaRPr/>
          </a:p>
        </p:txBody>
      </p:sp>
      <p:pic>
        <p:nvPicPr>
          <p:cNvPr id="70" name="Google Shape;70;p14"/>
          <p:cNvPicPr preferRelativeResize="0"/>
          <p:nvPr/>
        </p:nvPicPr>
        <p:blipFill>
          <a:blip r:embed="rId3">
            <a:alphaModFix/>
          </a:blip>
          <a:stretch>
            <a:fillRect/>
          </a:stretch>
        </p:blipFill>
        <p:spPr>
          <a:xfrm>
            <a:off x="5286362" y="-1"/>
            <a:ext cx="3857640"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Můj Open Source DevOps Stack</a:t>
            </a:r>
            <a:endParaRPr/>
          </a:p>
        </p:txBody>
      </p:sp>
      <p:sp>
        <p:nvSpPr>
          <p:cNvPr id="76" name="Google Shape;76;p15"/>
          <p:cNvSpPr txBox="1"/>
          <p:nvPr>
            <p:ph idx="1" type="body"/>
          </p:nvPr>
        </p:nvSpPr>
        <p:spPr>
          <a:xfrm>
            <a:off x="311700" y="927127"/>
            <a:ext cx="7929000" cy="33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Git, Gitlab, Github - Versioning &amp; Collaboration</a:t>
            </a:r>
            <a:endParaRPr/>
          </a:p>
          <a:p>
            <a:pPr indent="-342900" lvl="0" marL="457200" rtl="0" algn="l">
              <a:spcBef>
                <a:spcPts val="0"/>
              </a:spcBef>
              <a:spcAft>
                <a:spcPts val="0"/>
              </a:spcAft>
              <a:buSzPts val="1800"/>
              <a:buChar char="-"/>
            </a:pPr>
            <a:r>
              <a:rPr lang="en"/>
              <a:t>Gitlab CI - Continuous Integration, </a:t>
            </a:r>
            <a:r>
              <a:rPr lang="en">
                <a:solidFill>
                  <a:schemeClr val="hlink"/>
                </a:solidFill>
              </a:rPr>
              <a:t>Continuous Deployment</a:t>
            </a:r>
            <a:endParaRPr/>
          </a:p>
          <a:p>
            <a:pPr indent="-342900" lvl="0" marL="457200" rtl="0" algn="l">
              <a:spcBef>
                <a:spcPts val="0"/>
              </a:spcBef>
              <a:spcAft>
                <a:spcPts val="0"/>
              </a:spcAft>
              <a:buSzPts val="1800"/>
              <a:buChar char="-"/>
            </a:pPr>
            <a:r>
              <a:rPr b="1" lang="en"/>
              <a:t>Docker</a:t>
            </a:r>
            <a:r>
              <a:rPr lang="en"/>
              <a:t>, </a:t>
            </a:r>
            <a:r>
              <a:rPr lang="en"/>
              <a:t>Kubernetes</a:t>
            </a:r>
            <a:r>
              <a:rPr lang="en"/>
              <a:t> - Containers &amp; Orchestration</a:t>
            </a:r>
            <a:endParaRPr/>
          </a:p>
          <a:p>
            <a:pPr indent="-342900" lvl="0" marL="457200" rtl="0" algn="l">
              <a:spcBef>
                <a:spcPts val="0"/>
              </a:spcBef>
              <a:spcAft>
                <a:spcPts val="0"/>
              </a:spcAft>
              <a:buSzPts val="1800"/>
              <a:buChar char="-"/>
            </a:pPr>
            <a:r>
              <a:rPr lang="en"/>
              <a:t>RKE2 &amp; Rancher - Kubernetes Provisioning</a:t>
            </a:r>
            <a:endParaRPr/>
          </a:p>
          <a:p>
            <a:pPr indent="-342900" lvl="0" marL="457200" rtl="0" algn="l">
              <a:spcBef>
                <a:spcPts val="0"/>
              </a:spcBef>
              <a:spcAft>
                <a:spcPts val="0"/>
              </a:spcAft>
              <a:buSzPts val="1800"/>
              <a:buChar char="-"/>
            </a:pPr>
            <a:r>
              <a:rPr lang="en"/>
              <a:t>Terraform - Infrastructure management</a:t>
            </a:r>
            <a:endParaRPr/>
          </a:p>
          <a:p>
            <a:pPr indent="-342900" lvl="0" marL="457200" rtl="0" algn="l">
              <a:spcBef>
                <a:spcPts val="0"/>
              </a:spcBef>
              <a:spcAft>
                <a:spcPts val="0"/>
              </a:spcAft>
              <a:buSzPts val="1800"/>
              <a:buChar char="-"/>
            </a:pPr>
            <a:r>
              <a:rPr lang="en"/>
              <a:t>Gobble - Configuration management</a:t>
            </a:r>
            <a:endParaRPr/>
          </a:p>
          <a:p>
            <a:pPr indent="-342900" lvl="0" marL="457200" rtl="0" algn="l">
              <a:spcBef>
                <a:spcPts val="0"/>
              </a:spcBef>
              <a:spcAft>
                <a:spcPts val="0"/>
              </a:spcAft>
              <a:buSzPts val="1800"/>
              <a:buChar char="-"/>
            </a:pPr>
            <a:r>
              <a:rPr lang="en"/>
              <a:t>Prometheus, Grafana - Monitoring Stack</a:t>
            </a:r>
            <a:endParaRPr/>
          </a:p>
          <a:p>
            <a:pPr indent="-342900" lvl="0" marL="457200" rtl="0" algn="l">
              <a:spcBef>
                <a:spcPts val="0"/>
              </a:spcBef>
              <a:spcAft>
                <a:spcPts val="0"/>
              </a:spcAft>
              <a:buSzPts val="1800"/>
              <a:buChar char="-"/>
            </a:pPr>
            <a:r>
              <a:rPr lang="en"/>
              <a:t>Elastic Stack / Loki - Log Management</a:t>
            </a:r>
            <a:endParaRPr/>
          </a:p>
          <a:p>
            <a:pPr indent="-342900" lvl="0" marL="457200" rtl="0" algn="l">
              <a:spcBef>
                <a:spcPts val="0"/>
              </a:spcBef>
              <a:spcAft>
                <a:spcPts val="0"/>
              </a:spcAft>
              <a:buSzPts val="1800"/>
              <a:buChar char="-"/>
            </a:pPr>
            <a:r>
              <a:rPr lang="en"/>
              <a:t>DigitalOcean, AWS, VMWare, Proxmox - Public or Private Cloud</a:t>
            </a:r>
            <a:endParaRPr/>
          </a:p>
          <a:p>
            <a:pPr indent="-342900" lvl="0" marL="457200" rtl="0" algn="l">
              <a:spcBef>
                <a:spcPts val="0"/>
              </a:spcBef>
              <a:spcAft>
                <a:spcPts val="0"/>
              </a:spcAft>
              <a:buSzPts val="1800"/>
              <a:buChar char="-"/>
            </a:pPr>
            <a:r>
              <a:rPr lang="en"/>
              <a:t>Ceph - On Premise Storage</a:t>
            </a:r>
            <a:endParaRPr/>
          </a:p>
          <a:p>
            <a:pPr indent="-342900" lvl="0" marL="457200" rtl="0" algn="l">
              <a:spcBef>
                <a:spcPts val="0"/>
              </a:spcBef>
              <a:spcAft>
                <a:spcPts val="0"/>
              </a:spcAft>
              <a:buSzPts val="1800"/>
              <a:buChar char="-"/>
            </a:pPr>
            <a:r>
              <a:rPr lang="en"/>
              <a:t>Tergum - Backups, DR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txBox="1"/>
          <p:nvPr>
            <p:ph idx="1" type="body"/>
          </p:nvPr>
        </p:nvSpPr>
        <p:spPr>
          <a:xfrm>
            <a:off x="311700" y="777950"/>
            <a:ext cx="8213100" cy="34404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8000"/>
              <a:t>Docker. Proč?</a:t>
            </a:r>
            <a:endParaRPr b="1" sz="8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Proč jsou kontejnery potřeba?</a:t>
            </a:r>
            <a:endParaRPr sz="3000"/>
          </a:p>
        </p:txBody>
      </p:sp>
      <p:sp>
        <p:nvSpPr>
          <p:cNvPr id="88" name="Google Shape;88;p17"/>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chemeClr val="hlink"/>
              </a:buClr>
              <a:buSzPts val="2400"/>
              <a:buChar char="-"/>
            </a:pPr>
            <a:r>
              <a:rPr lang="en" sz="2400">
                <a:solidFill>
                  <a:schemeClr val="hlink"/>
                </a:solidFill>
              </a:rPr>
              <a:t>Izolace aplikací</a:t>
            </a:r>
            <a:endParaRPr sz="2400">
              <a:solidFill>
                <a:schemeClr val="hlink"/>
              </a:solidFill>
            </a:endParaRPr>
          </a:p>
          <a:p>
            <a:pPr indent="-381000" lvl="0" marL="457200" rtl="0" algn="l">
              <a:spcBef>
                <a:spcPts val="0"/>
              </a:spcBef>
              <a:spcAft>
                <a:spcPts val="0"/>
              </a:spcAft>
              <a:buClr>
                <a:schemeClr val="hlink"/>
              </a:buClr>
              <a:buSzPts val="2400"/>
              <a:buChar char="-"/>
            </a:pPr>
            <a:r>
              <a:rPr lang="en" sz="2400">
                <a:solidFill>
                  <a:schemeClr val="hlink"/>
                </a:solidFill>
              </a:rPr>
              <a:t>Jednoduchá distribuce aplikací</a:t>
            </a:r>
            <a:endParaRPr sz="2400">
              <a:solidFill>
                <a:schemeClr val="hlink"/>
              </a:solidFill>
            </a:endParaRPr>
          </a:p>
          <a:p>
            <a:pPr indent="-381000" lvl="0" marL="457200" rtl="0" algn="l">
              <a:spcBef>
                <a:spcPts val="0"/>
              </a:spcBef>
              <a:spcAft>
                <a:spcPts val="0"/>
              </a:spcAft>
              <a:buClr>
                <a:schemeClr val="hlink"/>
              </a:buClr>
              <a:buSzPts val="2400"/>
              <a:buChar char="-"/>
            </a:pPr>
            <a:r>
              <a:rPr lang="en" sz="2400">
                <a:solidFill>
                  <a:schemeClr val="hlink"/>
                </a:solidFill>
              </a:rPr>
              <a:t>Jednoduchý</a:t>
            </a:r>
            <a:r>
              <a:rPr lang="en" sz="2400">
                <a:solidFill>
                  <a:schemeClr val="hlink"/>
                </a:solidFill>
              </a:rPr>
              <a:t> provoz aplikací</a:t>
            </a:r>
            <a:endParaRPr sz="2400">
              <a:solidFill>
                <a:schemeClr val="hlink"/>
              </a:solidFill>
            </a:endParaRPr>
          </a:p>
          <a:p>
            <a:pPr indent="-381000" lvl="0" marL="457200" rtl="0" algn="l">
              <a:spcBef>
                <a:spcPts val="0"/>
              </a:spcBef>
              <a:spcAft>
                <a:spcPts val="0"/>
              </a:spcAft>
              <a:buClr>
                <a:schemeClr val="hlink"/>
              </a:buClr>
              <a:buSzPts val="2400"/>
              <a:buChar char="-"/>
            </a:pPr>
            <a:r>
              <a:rPr lang="en" sz="2400">
                <a:solidFill>
                  <a:schemeClr val="hlink"/>
                </a:solidFill>
              </a:rPr>
              <a:t>Unifikace prostředí pro provoz aplikací</a:t>
            </a:r>
            <a:endParaRPr sz="2400">
              <a:solidFill>
                <a:schemeClr val="hlink"/>
              </a:solidFill>
            </a:endParaRPr>
          </a:p>
          <a:p>
            <a:pPr indent="-381000" lvl="0" marL="457200" rtl="0" algn="l">
              <a:spcBef>
                <a:spcPts val="0"/>
              </a:spcBef>
              <a:spcAft>
                <a:spcPts val="0"/>
              </a:spcAft>
              <a:buClr>
                <a:schemeClr val="hlink"/>
              </a:buClr>
              <a:buSzPts val="2400"/>
              <a:buChar char="-"/>
            </a:pPr>
            <a:r>
              <a:rPr lang="en" sz="2400">
                <a:solidFill>
                  <a:schemeClr val="hlink"/>
                </a:solidFill>
              </a:rPr>
              <a:t>Urychlení vývoje a testování</a:t>
            </a:r>
            <a:endParaRPr sz="2400">
              <a:solidFill>
                <a:schemeClr val="hlink"/>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8"/>
          <p:cNvSpPr txBox="1"/>
          <p:nvPr>
            <p:ph idx="1" type="body"/>
          </p:nvPr>
        </p:nvSpPr>
        <p:spPr>
          <a:xfrm>
            <a:off x="311700" y="777950"/>
            <a:ext cx="8213100" cy="34404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4500"/>
              <a:t>Jde to i bez Dockeru, ale…</a:t>
            </a:r>
            <a:endParaRPr b="1" sz="4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Před</a:t>
            </a:r>
            <a:r>
              <a:rPr lang="en" sz="3000"/>
              <a:t> Dockerem</a:t>
            </a:r>
            <a:endParaRPr sz="3000">
              <a:latin typeface="IBM Plex Sans"/>
              <a:ea typeface="IBM Plex Sans"/>
              <a:cs typeface="IBM Plex Sans"/>
              <a:sym typeface="IBM Plex Sans"/>
            </a:endParaRPr>
          </a:p>
        </p:txBody>
      </p:sp>
      <p:sp>
        <p:nvSpPr>
          <p:cNvPr id="100" name="Google Shape;100;p19"/>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chemeClr val="hlink"/>
              </a:buClr>
              <a:buSzPts val="2400"/>
              <a:buChar char="-"/>
            </a:pPr>
            <a:r>
              <a:rPr lang="en" sz="2400">
                <a:solidFill>
                  <a:schemeClr val="hlink"/>
                </a:solidFill>
              </a:rPr>
              <a:t>2 směry - Virtualizace a náznaky kontejnerizace</a:t>
            </a:r>
            <a:endParaRPr sz="2400">
              <a:solidFill>
                <a:schemeClr val="hlink"/>
              </a:solidFill>
            </a:endParaRPr>
          </a:p>
          <a:p>
            <a:pPr indent="-381000" lvl="0" marL="457200" rtl="0" algn="l">
              <a:spcBef>
                <a:spcPts val="0"/>
              </a:spcBef>
              <a:spcAft>
                <a:spcPts val="0"/>
              </a:spcAft>
              <a:buClr>
                <a:schemeClr val="hlink"/>
              </a:buClr>
              <a:buSzPts val="2400"/>
              <a:buChar char="-"/>
            </a:pPr>
            <a:r>
              <a:rPr lang="en" sz="2400">
                <a:solidFill>
                  <a:schemeClr val="hlink"/>
                </a:solidFill>
              </a:rPr>
              <a:t>Distribuce pomocí </a:t>
            </a:r>
            <a:r>
              <a:rPr lang="en" sz="2400">
                <a:solidFill>
                  <a:schemeClr val="hlink"/>
                </a:solidFill>
              </a:rPr>
              <a:t>balíčku</a:t>
            </a:r>
            <a:r>
              <a:rPr lang="en" sz="2400">
                <a:solidFill>
                  <a:schemeClr val="hlink"/>
                </a:solidFill>
              </a:rPr>
              <a:t> a VM Images (VMWare)</a:t>
            </a:r>
            <a:endParaRPr sz="2400">
              <a:solidFill>
                <a:schemeClr val="hlink"/>
              </a:solidFill>
            </a:endParaRPr>
          </a:p>
          <a:p>
            <a:pPr indent="-381000" lvl="0" marL="457200" rtl="0" algn="l">
              <a:spcBef>
                <a:spcPts val="0"/>
              </a:spcBef>
              <a:spcAft>
                <a:spcPts val="0"/>
              </a:spcAft>
              <a:buClr>
                <a:schemeClr val="hlink"/>
              </a:buClr>
              <a:buSzPts val="2400"/>
              <a:buChar char="-"/>
            </a:pPr>
            <a:r>
              <a:rPr lang="en" sz="2400">
                <a:solidFill>
                  <a:schemeClr val="hlink"/>
                </a:solidFill>
              </a:rPr>
              <a:t>Unifikace na </a:t>
            </a:r>
            <a:r>
              <a:rPr lang="en" sz="2400">
                <a:solidFill>
                  <a:schemeClr val="hlink"/>
                </a:solidFill>
              </a:rPr>
              <a:t>úrovni</a:t>
            </a:r>
            <a:r>
              <a:rPr lang="en" sz="2400">
                <a:solidFill>
                  <a:schemeClr val="hlink"/>
                </a:solidFill>
              </a:rPr>
              <a:t> VMs nebo Linuxu (... nic moc)</a:t>
            </a:r>
            <a:endParaRPr sz="2400">
              <a:solidFill>
                <a:schemeClr val="hlink"/>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Kontejnery vs Virtulizace před Dockerem</a:t>
            </a:r>
            <a:endParaRPr sz="2800"/>
          </a:p>
        </p:txBody>
      </p:sp>
      <p:sp>
        <p:nvSpPr>
          <p:cNvPr id="106" name="Google Shape;106;p20"/>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chemeClr val="hlink"/>
              </a:buClr>
              <a:buSzPts val="2400"/>
              <a:buChar char="-"/>
            </a:pPr>
            <a:r>
              <a:rPr b="1" lang="en" sz="2400">
                <a:solidFill>
                  <a:schemeClr val="hlink"/>
                </a:solidFill>
              </a:rPr>
              <a:t>Virtualizace</a:t>
            </a:r>
            <a:endParaRPr b="1" sz="2400">
              <a:solidFill>
                <a:schemeClr val="hlink"/>
              </a:solidFill>
            </a:endParaRPr>
          </a:p>
          <a:p>
            <a:pPr indent="-342900" lvl="1" marL="914400" rtl="0" algn="l">
              <a:spcBef>
                <a:spcPts val="0"/>
              </a:spcBef>
              <a:spcAft>
                <a:spcPts val="0"/>
              </a:spcAft>
              <a:buClr>
                <a:schemeClr val="hlink"/>
              </a:buClr>
              <a:buSzPts val="1800"/>
              <a:buChar char="-"/>
            </a:pPr>
            <a:r>
              <a:rPr lang="en" sz="1800">
                <a:solidFill>
                  <a:schemeClr val="hlink"/>
                </a:solidFill>
              </a:rPr>
              <a:t>Emulace HW</a:t>
            </a:r>
            <a:endParaRPr sz="1800">
              <a:solidFill>
                <a:schemeClr val="hlink"/>
              </a:solidFill>
            </a:endParaRPr>
          </a:p>
          <a:p>
            <a:pPr indent="-342900" lvl="1" marL="914400" rtl="0" algn="l">
              <a:spcBef>
                <a:spcPts val="0"/>
              </a:spcBef>
              <a:spcAft>
                <a:spcPts val="0"/>
              </a:spcAft>
              <a:buClr>
                <a:schemeClr val="hlink"/>
              </a:buClr>
              <a:buSzPts val="1800"/>
              <a:buChar char="-"/>
            </a:pPr>
            <a:r>
              <a:rPr lang="en" sz="1800">
                <a:solidFill>
                  <a:schemeClr val="hlink"/>
                </a:solidFill>
              </a:rPr>
              <a:t>VMWare, Virtual Box</a:t>
            </a:r>
            <a:br>
              <a:rPr lang="en" sz="1800">
                <a:solidFill>
                  <a:schemeClr val="hlink"/>
                </a:solidFill>
              </a:rPr>
            </a:br>
            <a:endParaRPr sz="1800">
              <a:solidFill>
                <a:schemeClr val="hlink"/>
              </a:solidFill>
            </a:endParaRPr>
          </a:p>
          <a:p>
            <a:pPr indent="-381000" lvl="0" marL="457200" rtl="0" algn="l">
              <a:spcBef>
                <a:spcPts val="0"/>
              </a:spcBef>
              <a:spcAft>
                <a:spcPts val="0"/>
              </a:spcAft>
              <a:buClr>
                <a:schemeClr val="hlink"/>
              </a:buClr>
              <a:buSzPts val="2400"/>
              <a:buChar char="-"/>
            </a:pPr>
            <a:r>
              <a:rPr b="1" lang="en" sz="2400">
                <a:solidFill>
                  <a:schemeClr val="hlink"/>
                </a:solidFill>
              </a:rPr>
              <a:t>Kontejnerizace</a:t>
            </a:r>
            <a:endParaRPr b="1" sz="2400">
              <a:solidFill>
                <a:schemeClr val="hlink"/>
              </a:solidFill>
            </a:endParaRPr>
          </a:p>
          <a:p>
            <a:pPr indent="-342900" lvl="1" marL="914400" rtl="0" algn="l">
              <a:spcBef>
                <a:spcPts val="0"/>
              </a:spcBef>
              <a:spcAft>
                <a:spcPts val="0"/>
              </a:spcAft>
              <a:buClr>
                <a:schemeClr val="hlink"/>
              </a:buClr>
              <a:buSzPts val="1800"/>
              <a:buChar char="-"/>
            </a:pPr>
            <a:r>
              <a:rPr lang="en" sz="1800">
                <a:solidFill>
                  <a:schemeClr val="hlink"/>
                </a:solidFill>
              </a:rPr>
              <a:t>Izolace v </a:t>
            </a:r>
            <a:r>
              <a:rPr lang="en" sz="1800">
                <a:solidFill>
                  <a:schemeClr val="hlink"/>
                </a:solidFill>
              </a:rPr>
              <a:t>rámci</a:t>
            </a:r>
            <a:r>
              <a:rPr lang="en" sz="1800">
                <a:solidFill>
                  <a:schemeClr val="hlink"/>
                </a:solidFill>
              </a:rPr>
              <a:t> jednoho Kernelu</a:t>
            </a:r>
            <a:endParaRPr sz="1800">
              <a:solidFill>
                <a:schemeClr val="hlink"/>
              </a:solidFill>
            </a:endParaRPr>
          </a:p>
          <a:p>
            <a:pPr indent="-342900" lvl="1" marL="914400" rtl="0" algn="l">
              <a:spcBef>
                <a:spcPts val="0"/>
              </a:spcBef>
              <a:spcAft>
                <a:spcPts val="0"/>
              </a:spcAft>
              <a:buClr>
                <a:schemeClr val="hlink"/>
              </a:buClr>
              <a:buSzPts val="1800"/>
              <a:buChar char="-"/>
            </a:pPr>
            <a:r>
              <a:rPr lang="en" sz="1800">
                <a:solidFill>
                  <a:schemeClr val="hlink"/>
                </a:solidFill>
              </a:rPr>
              <a:t>Chroot, BSD Jails, OpenVZ, XEN, LXC, … Docker</a:t>
            </a:r>
            <a:endParaRPr sz="1800">
              <a:solidFill>
                <a:schemeClr val="hlink"/>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Co je to Kontejner</a:t>
            </a:r>
            <a:endParaRPr sz="3000"/>
          </a:p>
        </p:txBody>
      </p:sp>
      <p:sp>
        <p:nvSpPr>
          <p:cNvPr id="112" name="Google Shape;112;p21"/>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Kontejner je forma izolace aplikace a její závislost od okolního prostředí, na kterém běží (podobně jako virtualizace). Kontejnery fungují na úrovni operačního systému (Kernelu), což znamená, že několik kontejnerů může běžet na jednom fyzickém nebo virtuálním stroji.</a:t>
            </a:r>
            <a:endParaRPr/>
          </a:p>
          <a:p>
            <a:pPr indent="0" lvl="0" marL="0" rtl="0" algn="l">
              <a:spcBef>
                <a:spcPts val="1600"/>
              </a:spcBef>
              <a:spcAft>
                <a:spcPts val="0"/>
              </a:spcAft>
              <a:buClr>
                <a:schemeClr val="dk1"/>
              </a:buClr>
              <a:buSzPts val="1100"/>
              <a:buFont typeface="Arial"/>
              <a:buNone/>
            </a:pPr>
            <a:r>
              <a:rPr lang="en"/>
              <a:t>Každý kontejner obsahuje </a:t>
            </a:r>
            <a:r>
              <a:rPr lang="en"/>
              <a:t>vlastní</a:t>
            </a:r>
            <a:r>
              <a:rPr lang="en"/>
              <a:t> souborový systém se všemi nástroji, knihovnami a soubory, které jsou potřebné pro běh aplikace, včetně souboru operačního systému. Díky tomu je možné spustit aplikaci na jakémkoliv serveru, bez nutnosti instalace jakychkoliv závislostí.</a:t>
            </a:r>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Co je to Docker</a:t>
            </a:r>
            <a:endParaRPr sz="3000"/>
          </a:p>
        </p:txBody>
      </p:sp>
      <p:sp>
        <p:nvSpPr>
          <p:cNvPr id="118" name="Google Shape;118;p22"/>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Docker je kontejnerizační platforma.</a:t>
            </a:r>
            <a:endParaRPr/>
          </a:p>
          <a:p>
            <a:pPr indent="0" lvl="0" marL="0" rtl="0" algn="l">
              <a:spcBef>
                <a:spcPts val="1600"/>
              </a:spcBef>
              <a:spcAft>
                <a:spcPts val="0"/>
              </a:spcAft>
              <a:buClr>
                <a:schemeClr val="dk1"/>
              </a:buClr>
              <a:buSzPts val="1100"/>
              <a:buFont typeface="Arial"/>
              <a:buNone/>
            </a:pPr>
            <a:r>
              <a:rPr lang="en"/>
              <a:t>Docker nám umožňuje velmi </a:t>
            </a:r>
            <a:r>
              <a:rPr lang="en"/>
              <a:t>jednoduše</a:t>
            </a:r>
            <a:r>
              <a:rPr lang="en"/>
              <a:t> pracovat s kontejnery. </a:t>
            </a:r>
            <a:r>
              <a:rPr lang="en"/>
              <a:t>Umožňuje</a:t>
            </a:r>
            <a:r>
              <a:rPr lang="en"/>
              <a:t> </a:t>
            </a:r>
            <a:r>
              <a:rPr lang="en"/>
              <a:t>nám</a:t>
            </a:r>
            <a:r>
              <a:rPr lang="en"/>
              <a:t> </a:t>
            </a:r>
            <a:r>
              <a:rPr lang="en"/>
              <a:t>vytvářet</a:t>
            </a:r>
            <a:r>
              <a:rPr lang="en"/>
              <a:t> a distribuovat images pro kontaineru a kontejnery spouštět.</a:t>
            </a:r>
            <a:endParaRPr/>
          </a:p>
          <a:p>
            <a:pPr indent="0" lvl="0" marL="0" rtl="0" algn="l">
              <a:spcBef>
                <a:spcPts val="1600"/>
              </a:spcBef>
              <a:spcAft>
                <a:spcPts val="0"/>
              </a:spcAft>
              <a:buClr>
                <a:schemeClr val="dk1"/>
              </a:buClr>
              <a:buSzPts val="1100"/>
              <a:buFont typeface="Arial"/>
              <a:buNone/>
            </a:pPr>
            <a:r>
              <a:rPr lang="en"/>
              <a:t>Docker není jediná implementace moderního přístupu práce s kontejnery, je tu například Podman, Containerd, … ale Docker byl </a:t>
            </a:r>
            <a:r>
              <a:rPr lang="en"/>
              <a:t>první,</a:t>
            </a:r>
            <a:r>
              <a:rPr lang="en"/>
              <a:t> kdo </a:t>
            </a:r>
            <a:r>
              <a:rPr lang="en"/>
              <a:t>změnil</a:t>
            </a:r>
            <a:r>
              <a:rPr lang="en"/>
              <a:t> přístup, jak se kontejnery využívají</a:t>
            </a:r>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Změna k přístupu ke kontejnerům</a:t>
            </a:r>
            <a:endParaRPr sz="2800"/>
          </a:p>
        </p:txBody>
      </p:sp>
      <p:sp>
        <p:nvSpPr>
          <p:cNvPr id="124" name="Google Shape;124;p23"/>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chemeClr val="hlink"/>
              </a:buClr>
              <a:buSzPts val="2400"/>
              <a:buChar char="-"/>
            </a:pPr>
            <a:r>
              <a:rPr b="1" lang="en" sz="2400">
                <a:solidFill>
                  <a:schemeClr val="hlink"/>
                </a:solidFill>
              </a:rPr>
              <a:t>Kontejnerizace == Lightweight </a:t>
            </a:r>
            <a:r>
              <a:rPr b="1" lang="en" sz="2400">
                <a:solidFill>
                  <a:schemeClr val="hlink"/>
                </a:solidFill>
              </a:rPr>
              <a:t>Virtualizace</a:t>
            </a:r>
            <a:endParaRPr b="1" sz="2400">
              <a:solidFill>
                <a:schemeClr val="hlink"/>
              </a:solidFill>
            </a:endParaRPr>
          </a:p>
          <a:p>
            <a:pPr indent="-342900" lvl="1" marL="914400" rtl="0" algn="l">
              <a:spcBef>
                <a:spcPts val="0"/>
              </a:spcBef>
              <a:spcAft>
                <a:spcPts val="0"/>
              </a:spcAft>
              <a:buClr>
                <a:schemeClr val="hlink"/>
              </a:buClr>
              <a:buSzPts val="1800"/>
              <a:buChar char="-"/>
            </a:pPr>
            <a:r>
              <a:rPr lang="en" sz="1800">
                <a:solidFill>
                  <a:schemeClr val="hlink"/>
                </a:solidFill>
              </a:rPr>
              <a:t>Kontejnery se používají jako "lehké" VMs - kontejner se vytvořil, spustil a pomoci SSH jsme se do něj připojili a pracovali jako s VM</a:t>
            </a:r>
            <a:endParaRPr sz="1800">
              <a:solidFill>
                <a:schemeClr val="hlink"/>
              </a:solidFill>
            </a:endParaRPr>
          </a:p>
          <a:p>
            <a:pPr indent="-342900" lvl="1" marL="914400" rtl="0" algn="l">
              <a:spcBef>
                <a:spcPts val="0"/>
              </a:spcBef>
              <a:spcAft>
                <a:spcPts val="0"/>
              </a:spcAft>
              <a:buClr>
                <a:schemeClr val="hlink"/>
              </a:buClr>
              <a:buSzPts val="1800"/>
              <a:buChar char="-"/>
            </a:pPr>
            <a:r>
              <a:rPr lang="en" sz="1800">
                <a:solidFill>
                  <a:schemeClr val="hlink"/>
                </a:solidFill>
              </a:rPr>
              <a:t>OpenVZ, XEN, LXC</a:t>
            </a:r>
            <a:br>
              <a:rPr lang="en" sz="1800">
                <a:solidFill>
                  <a:schemeClr val="hlink"/>
                </a:solidFill>
              </a:rPr>
            </a:br>
            <a:endParaRPr sz="1800">
              <a:solidFill>
                <a:schemeClr val="hlink"/>
              </a:solidFill>
            </a:endParaRPr>
          </a:p>
          <a:p>
            <a:pPr indent="-381000" lvl="0" marL="457200" rtl="0" algn="l">
              <a:spcBef>
                <a:spcPts val="0"/>
              </a:spcBef>
              <a:spcAft>
                <a:spcPts val="0"/>
              </a:spcAft>
              <a:buClr>
                <a:schemeClr val="hlink"/>
              </a:buClr>
              <a:buSzPts val="2400"/>
              <a:buChar char="-"/>
            </a:pPr>
            <a:r>
              <a:rPr b="1" lang="en" sz="2400">
                <a:solidFill>
                  <a:schemeClr val="hlink"/>
                </a:solidFill>
              </a:rPr>
              <a:t>Docker</a:t>
            </a:r>
            <a:endParaRPr b="1" sz="2400">
              <a:solidFill>
                <a:schemeClr val="hlink"/>
              </a:solidFill>
            </a:endParaRPr>
          </a:p>
          <a:p>
            <a:pPr indent="-342900" lvl="1" marL="914400" rtl="0" algn="l">
              <a:spcBef>
                <a:spcPts val="0"/>
              </a:spcBef>
              <a:spcAft>
                <a:spcPts val="0"/>
              </a:spcAft>
              <a:buClr>
                <a:schemeClr val="hlink"/>
              </a:buClr>
              <a:buSzPts val="1800"/>
              <a:buChar char="-"/>
            </a:pPr>
            <a:r>
              <a:rPr lang="en" sz="1800">
                <a:solidFill>
                  <a:schemeClr val="hlink"/>
                </a:solidFill>
              </a:rPr>
              <a:t>Docker změnil přístup k práci s kontejnery a </a:t>
            </a:r>
            <a:r>
              <a:rPr b="1" lang="en" sz="1800">
                <a:solidFill>
                  <a:schemeClr val="hlink"/>
                </a:solidFill>
              </a:rPr>
              <a:t>přinesl revoluci</a:t>
            </a:r>
            <a:endParaRPr b="1" sz="1800">
              <a:solidFill>
                <a:schemeClr val="hlink"/>
              </a:solidFill>
            </a:endParaRPr>
          </a:p>
          <a:p>
            <a:pPr indent="-342900" lvl="1" marL="914400" rtl="0" algn="l">
              <a:spcBef>
                <a:spcPts val="0"/>
              </a:spcBef>
              <a:spcAft>
                <a:spcPts val="0"/>
              </a:spcAft>
              <a:buClr>
                <a:schemeClr val="hlink"/>
              </a:buClr>
              <a:buSzPts val="1800"/>
              <a:buChar char="-"/>
            </a:pPr>
            <a:r>
              <a:rPr lang="en" sz="1800">
                <a:solidFill>
                  <a:schemeClr val="hlink"/>
                </a:solidFill>
              </a:rPr>
              <a:t>Docker kontejner se pouští z image, který se jednoduše</a:t>
            </a:r>
            <a:br>
              <a:rPr lang="en" sz="1800">
                <a:solidFill>
                  <a:schemeClr val="hlink"/>
                </a:solidFill>
              </a:rPr>
            </a:br>
            <a:r>
              <a:rPr lang="en" sz="1800">
                <a:solidFill>
                  <a:schemeClr val="hlink"/>
                </a:solidFill>
              </a:rPr>
              <a:t>sestavuje (build) a distribuuje</a:t>
            </a:r>
            <a:endParaRPr sz="1800">
              <a:solidFill>
                <a:schemeClr val="hlink"/>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Klíčová změna přístupu</a:t>
            </a:r>
            <a:endParaRPr sz="2800"/>
          </a:p>
        </p:txBody>
      </p:sp>
      <p:sp>
        <p:nvSpPr>
          <p:cNvPr id="130" name="Google Shape;130;p24"/>
          <p:cNvSpPr txBox="1"/>
          <p:nvPr>
            <p:ph idx="1" type="body"/>
          </p:nvPr>
        </p:nvSpPr>
        <p:spPr>
          <a:xfrm>
            <a:off x="311700" y="1250150"/>
            <a:ext cx="8428500" cy="2940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chemeClr val="hlink"/>
              </a:buClr>
              <a:buSzPts val="2400"/>
              <a:buChar char="-"/>
            </a:pPr>
            <a:r>
              <a:rPr b="1" lang="en" sz="2400">
                <a:solidFill>
                  <a:schemeClr val="hlink"/>
                </a:solidFill>
              </a:rPr>
              <a:t>Docker Run</a:t>
            </a:r>
            <a:endParaRPr b="1" sz="2400">
              <a:solidFill>
                <a:schemeClr val="hlink"/>
              </a:solidFill>
            </a:endParaRPr>
          </a:p>
          <a:p>
            <a:pPr indent="-342900" lvl="1" marL="914400" rtl="0" algn="l">
              <a:spcBef>
                <a:spcPts val="0"/>
              </a:spcBef>
              <a:spcAft>
                <a:spcPts val="0"/>
              </a:spcAft>
              <a:buClr>
                <a:schemeClr val="hlink"/>
              </a:buClr>
              <a:buSzPts val="1800"/>
              <a:buChar char="-"/>
            </a:pPr>
            <a:r>
              <a:rPr lang="en" sz="1800">
                <a:solidFill>
                  <a:schemeClr val="hlink"/>
                </a:solidFill>
              </a:rPr>
              <a:t>Pro spuštění kontejneru potřebujeme konkrétní image</a:t>
            </a:r>
            <a:br>
              <a:rPr lang="en" sz="1800">
                <a:solidFill>
                  <a:schemeClr val="hlink"/>
                </a:solidFill>
              </a:rPr>
            </a:br>
            <a:endParaRPr sz="1800">
              <a:solidFill>
                <a:schemeClr val="hlink"/>
              </a:solidFill>
            </a:endParaRPr>
          </a:p>
          <a:p>
            <a:pPr indent="-381000" lvl="0" marL="457200" rtl="0" algn="l">
              <a:spcBef>
                <a:spcPts val="0"/>
              </a:spcBef>
              <a:spcAft>
                <a:spcPts val="0"/>
              </a:spcAft>
              <a:buClr>
                <a:schemeClr val="hlink"/>
              </a:buClr>
              <a:buSzPts val="2400"/>
              <a:buChar char="-"/>
            </a:pPr>
            <a:r>
              <a:rPr b="1" lang="en" sz="2400">
                <a:solidFill>
                  <a:schemeClr val="hlink"/>
                </a:solidFill>
              </a:rPr>
              <a:t>Docker Build</a:t>
            </a:r>
            <a:endParaRPr b="1" sz="2400">
              <a:solidFill>
                <a:schemeClr val="hlink"/>
              </a:solidFill>
            </a:endParaRPr>
          </a:p>
          <a:p>
            <a:pPr indent="-342900" lvl="1" marL="914400" rtl="0" algn="l">
              <a:spcBef>
                <a:spcPts val="0"/>
              </a:spcBef>
              <a:spcAft>
                <a:spcPts val="0"/>
              </a:spcAft>
              <a:buClr>
                <a:schemeClr val="hlink"/>
              </a:buClr>
              <a:buSzPts val="1800"/>
              <a:buChar char="-"/>
            </a:pPr>
            <a:r>
              <a:rPr lang="en" sz="1800">
                <a:solidFill>
                  <a:schemeClr val="hlink"/>
                </a:solidFill>
              </a:rPr>
              <a:t>Docker image se velmi jednoduše sestaví - potřebujeme jen Docker</a:t>
            </a:r>
            <a:br>
              <a:rPr lang="en" sz="1800">
                <a:solidFill>
                  <a:schemeClr val="hlink"/>
                </a:solidFill>
              </a:rPr>
            </a:br>
            <a:endParaRPr sz="1800">
              <a:solidFill>
                <a:schemeClr val="hlink"/>
              </a:solidFill>
            </a:endParaRPr>
          </a:p>
          <a:p>
            <a:pPr indent="-381000" lvl="0" marL="457200" rtl="0" algn="l">
              <a:spcBef>
                <a:spcPts val="0"/>
              </a:spcBef>
              <a:spcAft>
                <a:spcPts val="0"/>
              </a:spcAft>
              <a:buClr>
                <a:schemeClr val="hlink"/>
              </a:buClr>
              <a:buSzPts val="2400"/>
              <a:buChar char="-"/>
            </a:pPr>
            <a:r>
              <a:rPr b="1" lang="en" sz="2400">
                <a:solidFill>
                  <a:schemeClr val="hlink"/>
                </a:solidFill>
              </a:rPr>
              <a:t>Docker Push / Pull</a:t>
            </a:r>
            <a:endParaRPr b="1" sz="2400">
              <a:solidFill>
                <a:schemeClr val="hlink"/>
              </a:solidFill>
            </a:endParaRPr>
          </a:p>
          <a:p>
            <a:pPr indent="-342900" lvl="1" marL="914400" rtl="0" algn="l">
              <a:spcBef>
                <a:spcPts val="0"/>
              </a:spcBef>
              <a:spcAft>
                <a:spcPts val="0"/>
              </a:spcAft>
              <a:buClr>
                <a:schemeClr val="hlink"/>
              </a:buClr>
              <a:buSzPts val="1800"/>
              <a:buChar char="-"/>
            </a:pPr>
            <a:r>
              <a:rPr lang="en" sz="1800">
                <a:solidFill>
                  <a:schemeClr val="hlink"/>
                </a:solidFill>
              </a:rPr>
              <a:t>Docker umožňuje velmi jednoduše distribuovat</a:t>
            </a:r>
            <a:br>
              <a:rPr lang="en" sz="1800">
                <a:solidFill>
                  <a:schemeClr val="hlink"/>
                </a:solidFill>
              </a:rPr>
            </a:br>
            <a:r>
              <a:rPr lang="en" sz="1800">
                <a:solidFill>
                  <a:schemeClr val="hlink"/>
                </a:solidFill>
              </a:rPr>
              <a:t>images pro kontejnery</a:t>
            </a:r>
            <a:endParaRPr>
              <a:solidFill>
                <a:schemeClr val="hlink"/>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5"/>
          <p:cNvPicPr preferRelativeResize="0"/>
          <p:nvPr/>
        </p:nvPicPr>
        <p:blipFill>
          <a:blip r:embed="rId3">
            <a:alphaModFix/>
          </a:blip>
          <a:stretch>
            <a:fillRect/>
          </a:stretch>
        </p:blipFill>
        <p:spPr>
          <a:xfrm>
            <a:off x="-265387" y="-259775"/>
            <a:ext cx="6720417" cy="4838700"/>
          </a:xfrm>
          <a:prstGeom prst="rect">
            <a:avLst/>
          </a:prstGeom>
          <a:noFill/>
          <a:ln>
            <a:noFill/>
          </a:ln>
        </p:spPr>
      </p:pic>
      <p:pic>
        <p:nvPicPr>
          <p:cNvPr id="136" name="Google Shape;136;p25"/>
          <p:cNvPicPr preferRelativeResize="0"/>
          <p:nvPr/>
        </p:nvPicPr>
        <p:blipFill>
          <a:blip r:embed="rId4">
            <a:alphaModFix/>
          </a:blip>
          <a:stretch>
            <a:fillRect/>
          </a:stretch>
        </p:blipFill>
        <p:spPr>
          <a:xfrm>
            <a:off x="3649800" y="2585850"/>
            <a:ext cx="5933274" cy="2462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Výhody kontejneru</a:t>
            </a:r>
            <a:endParaRPr sz="3000"/>
          </a:p>
        </p:txBody>
      </p:sp>
      <p:sp>
        <p:nvSpPr>
          <p:cNvPr id="142" name="Google Shape;142;p26"/>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Velmi jasná hranice mezi aplikací a platformou</a:t>
            </a:r>
            <a:endParaRPr/>
          </a:p>
          <a:p>
            <a:pPr indent="-342900" lvl="0" marL="457200" rtl="0" algn="l">
              <a:spcBef>
                <a:spcPts val="0"/>
              </a:spcBef>
              <a:spcAft>
                <a:spcPts val="0"/>
              </a:spcAft>
              <a:buSzPts val="1800"/>
              <a:buChar char="-"/>
            </a:pPr>
            <a:r>
              <a:rPr lang="en"/>
              <a:t>Distribuce univerzálních binárních obrazů</a:t>
            </a:r>
            <a:endParaRPr/>
          </a:p>
          <a:p>
            <a:pPr indent="-342900" lvl="0" marL="457200" rtl="0" algn="l">
              <a:spcBef>
                <a:spcPts val="0"/>
              </a:spcBef>
              <a:spcAft>
                <a:spcPts val="0"/>
              </a:spcAft>
              <a:buSzPts val="1800"/>
              <a:buChar char="-"/>
            </a:pPr>
            <a:r>
              <a:rPr lang="en"/>
              <a:t>Aplikace a data jsou striktně odděleny</a:t>
            </a:r>
            <a:endParaRPr/>
          </a:p>
          <a:p>
            <a:pPr indent="-342900" lvl="0" marL="457200" rtl="0" algn="l">
              <a:spcBef>
                <a:spcPts val="0"/>
              </a:spcBef>
              <a:spcAft>
                <a:spcPts val="0"/>
              </a:spcAft>
              <a:buSzPts val="1800"/>
              <a:buChar char="-"/>
            </a:pPr>
            <a:r>
              <a:rPr lang="en"/>
              <a:t>Jednoduchý a exaktně definovaný interface</a:t>
            </a:r>
            <a:endParaRPr/>
          </a:p>
          <a:p>
            <a:pPr indent="-342900" lvl="0" marL="457200" rtl="0" algn="l">
              <a:spcBef>
                <a:spcPts val="0"/>
              </a:spcBef>
              <a:spcAft>
                <a:spcPts val="0"/>
              </a:spcAft>
              <a:buSzPts val="1800"/>
              <a:buChar char="-"/>
            </a:pPr>
            <a:r>
              <a:rPr lang="en"/>
              <a:t>Izolace běžících aplikací</a:t>
            </a:r>
            <a:endParaRPr/>
          </a:p>
          <a:p>
            <a:pPr indent="-342900" lvl="0" marL="457200" rtl="0" algn="l">
              <a:spcBef>
                <a:spcPts val="0"/>
              </a:spcBef>
              <a:spcAft>
                <a:spcPts val="0"/>
              </a:spcAft>
              <a:buSzPts val="1800"/>
              <a:buChar char="-"/>
            </a:pPr>
            <a:r>
              <a:rPr lang="en"/>
              <a:t>Jednoduchý způsob běhu aplikací</a:t>
            </a:r>
            <a:endParaRPr/>
          </a:p>
          <a:p>
            <a:pPr indent="-342900" lvl="0" marL="457200" rtl="0" algn="l">
              <a:spcBef>
                <a:spcPts val="0"/>
              </a:spcBef>
              <a:spcAft>
                <a:spcPts val="0"/>
              </a:spcAft>
              <a:buSzPts val="1800"/>
              <a:buChar char="-"/>
            </a:pPr>
            <a:r>
              <a:rPr lang="en"/>
              <a:t>Auditovatelnost, předávací /schvalovací proces</a:t>
            </a:r>
            <a:endParaRPr/>
          </a:p>
          <a:p>
            <a:pPr indent="-342900" lvl="0" marL="457200" rtl="0" algn="l">
              <a:spcBef>
                <a:spcPts val="0"/>
              </a:spcBef>
              <a:spcAft>
                <a:spcPts val="0"/>
              </a:spcAft>
              <a:buSzPts val="1800"/>
              <a:buChar char="-"/>
            </a:pPr>
            <a:r>
              <a:rPr lang="en">
                <a:solidFill>
                  <a:schemeClr val="hlink"/>
                </a:solidFill>
              </a:rPr>
              <a:t>Checksums, </a:t>
            </a:r>
            <a:r>
              <a:rPr lang="en"/>
              <a:t>Docker Content Trust</a:t>
            </a:r>
            <a:endParaRPr/>
          </a:p>
          <a:p>
            <a:pPr indent="-342900" lvl="0" marL="457200" rtl="0" algn="l">
              <a:spcBef>
                <a:spcPts val="0"/>
              </a:spcBef>
              <a:spcAft>
                <a:spcPts val="0"/>
              </a:spcAft>
              <a:buSzPts val="1800"/>
              <a:buChar char="-"/>
            </a:pPr>
            <a:r>
              <a:rPr lang="en"/>
              <a:t>Security scans,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Jasná hranice mezi aplikací a platformou</a:t>
            </a:r>
            <a:endParaRPr/>
          </a:p>
        </p:txBody>
      </p:sp>
      <p:sp>
        <p:nvSpPr>
          <p:cNvPr id="148" name="Google Shape;148;p27"/>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Hranice mezi kontejnerem a kontejnerizační platformou je</a:t>
            </a:r>
            <a:endParaRPr/>
          </a:p>
          <a:p>
            <a:pPr indent="-342900" lvl="0" marL="457200" rtl="0" algn="l">
              <a:spcBef>
                <a:spcPts val="1600"/>
              </a:spcBef>
              <a:spcAft>
                <a:spcPts val="0"/>
              </a:spcAft>
              <a:buSzPts val="1800"/>
              <a:buChar char="-"/>
            </a:pPr>
            <a:r>
              <a:rPr lang="en"/>
              <a:t>Konfigurace pomocí ENV proměnných</a:t>
            </a:r>
            <a:endParaRPr/>
          </a:p>
          <a:p>
            <a:pPr indent="-342900" lvl="0" marL="457200" rtl="0" algn="l">
              <a:spcBef>
                <a:spcPts val="0"/>
              </a:spcBef>
              <a:spcAft>
                <a:spcPts val="0"/>
              </a:spcAft>
              <a:buSzPts val="1800"/>
              <a:buChar char="-"/>
            </a:pPr>
            <a:r>
              <a:rPr lang="en"/>
              <a:t>Kontejner image (obsahuje vše, co je pro běh aplikace potřeba)</a:t>
            </a:r>
            <a:endParaRPr/>
          </a:p>
          <a:p>
            <a:pPr indent="-342900" lvl="0" marL="457200" rtl="0" algn="l">
              <a:spcBef>
                <a:spcPts val="0"/>
              </a:spcBef>
              <a:spcAft>
                <a:spcPts val="0"/>
              </a:spcAft>
              <a:buSzPts val="1800"/>
              <a:buChar char="-"/>
            </a:pPr>
            <a:r>
              <a:rPr lang="en"/>
              <a:t>Exposed port (eg.: aplikace 8000, metriky 8001)</a:t>
            </a:r>
            <a:endParaRPr/>
          </a:p>
          <a:p>
            <a:pPr indent="-342900" lvl="0" marL="457200" rtl="0" algn="l">
              <a:spcBef>
                <a:spcPts val="0"/>
              </a:spcBef>
              <a:spcAft>
                <a:spcPts val="0"/>
              </a:spcAft>
              <a:buSzPts val="1800"/>
              <a:buChar char="-"/>
            </a:pPr>
            <a:r>
              <a:rPr lang="en"/>
              <a:t>Data volume mount (eg.: /var/lib/postgresql, …)</a:t>
            </a:r>
            <a:endParaRPr/>
          </a:p>
          <a:p>
            <a:pPr indent="-342900" lvl="0" marL="457200" rtl="0" algn="l">
              <a:spcBef>
                <a:spcPts val="0"/>
              </a:spcBef>
              <a:spcAft>
                <a:spcPts val="0"/>
              </a:spcAft>
              <a:buSzPts val="1800"/>
              <a:buChar char="-"/>
            </a:pPr>
            <a:r>
              <a:rPr lang="en"/>
              <a:t>Logy na STDOUT, STDERR - napojení na centrální log management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Distribuce univerzálních binárních obrazů</a:t>
            </a:r>
            <a:endParaRPr/>
          </a:p>
        </p:txBody>
      </p:sp>
      <p:sp>
        <p:nvSpPr>
          <p:cNvPr id="154" name="Google Shape;154;p28"/>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Kontejner</a:t>
            </a:r>
            <a:r>
              <a:rPr lang="en"/>
              <a:t> obsahuje vše, co je potřeba pro </a:t>
            </a:r>
            <a:r>
              <a:rPr lang="en"/>
              <a:t>běh</a:t>
            </a:r>
            <a:r>
              <a:rPr lang="en"/>
              <a:t> aplikace</a:t>
            </a:r>
            <a:endParaRPr/>
          </a:p>
          <a:p>
            <a:pPr indent="-317500" lvl="1" marL="914400" rtl="0" algn="l">
              <a:spcBef>
                <a:spcPts val="0"/>
              </a:spcBef>
              <a:spcAft>
                <a:spcPts val="0"/>
              </a:spcAft>
              <a:buSzPts val="1400"/>
              <a:buChar char="-"/>
            </a:pPr>
            <a:r>
              <a:rPr lang="en"/>
              <a:t>FS operačního systému</a:t>
            </a:r>
            <a:endParaRPr/>
          </a:p>
          <a:p>
            <a:pPr indent="-317500" lvl="1" marL="914400" rtl="0" algn="l">
              <a:spcBef>
                <a:spcPts val="0"/>
              </a:spcBef>
              <a:spcAft>
                <a:spcPts val="0"/>
              </a:spcAft>
              <a:buSzPts val="1400"/>
              <a:buChar char="-"/>
            </a:pPr>
            <a:r>
              <a:rPr lang="en"/>
              <a:t>Systémové knihovny</a:t>
            </a:r>
            <a:endParaRPr/>
          </a:p>
          <a:p>
            <a:pPr indent="-317500" lvl="1" marL="914400" rtl="0" algn="l">
              <a:spcBef>
                <a:spcPts val="0"/>
              </a:spcBef>
              <a:spcAft>
                <a:spcPts val="0"/>
              </a:spcAft>
              <a:buSzPts val="1400"/>
              <a:buChar char="-"/>
            </a:pPr>
            <a:r>
              <a:rPr lang="en"/>
              <a:t>Runtime environment (Java JRE)</a:t>
            </a:r>
            <a:endParaRPr/>
          </a:p>
          <a:p>
            <a:pPr indent="-317500" lvl="1" marL="914400" rtl="0" algn="l">
              <a:spcBef>
                <a:spcPts val="0"/>
              </a:spcBef>
              <a:spcAft>
                <a:spcPts val="0"/>
              </a:spcAft>
              <a:buSzPts val="1400"/>
              <a:buChar char="-"/>
            </a:pPr>
            <a:r>
              <a:rPr lang="en"/>
              <a:t>Aplikační závislosti</a:t>
            </a:r>
            <a:endParaRPr/>
          </a:p>
          <a:p>
            <a:pPr indent="-317500" lvl="1" marL="914400" rtl="0" algn="l">
              <a:spcBef>
                <a:spcPts val="0"/>
              </a:spcBef>
              <a:spcAft>
                <a:spcPts val="0"/>
              </a:spcAft>
              <a:buSzPts val="1400"/>
              <a:buChar char="-"/>
            </a:pPr>
            <a:r>
              <a:rPr lang="en"/>
              <a:t>Build aplikace nebo </a:t>
            </a:r>
            <a:r>
              <a:rPr lang="en"/>
              <a:t>zdrojové</a:t>
            </a:r>
            <a:r>
              <a:rPr lang="en"/>
              <a:t> kódy</a:t>
            </a:r>
            <a:endParaRPr/>
          </a:p>
          <a:p>
            <a:pPr indent="-342900" lvl="0" marL="457200" rtl="0" algn="l">
              <a:spcBef>
                <a:spcPts val="0"/>
              </a:spcBef>
              <a:spcAft>
                <a:spcPts val="0"/>
              </a:spcAft>
              <a:buSzPts val="1800"/>
              <a:buChar char="-"/>
            </a:pPr>
            <a:r>
              <a:rPr lang="en"/>
              <a:t>Naopak ne</a:t>
            </a:r>
            <a:r>
              <a:rPr lang="en"/>
              <a:t>obsahuje</a:t>
            </a:r>
            <a:endParaRPr/>
          </a:p>
          <a:p>
            <a:pPr indent="-317500" lvl="1" marL="914400" rtl="0" algn="l">
              <a:spcBef>
                <a:spcPts val="0"/>
              </a:spcBef>
              <a:spcAft>
                <a:spcPts val="0"/>
              </a:spcAft>
              <a:buSzPts val="1400"/>
              <a:buChar char="-"/>
            </a:pPr>
            <a:r>
              <a:rPr lang="en"/>
              <a:t>Konfiguraci</a:t>
            </a:r>
            <a:endParaRPr/>
          </a:p>
          <a:p>
            <a:pPr indent="-317500" lvl="1" marL="914400" rtl="0" algn="l">
              <a:spcBef>
                <a:spcPts val="0"/>
              </a:spcBef>
              <a:spcAft>
                <a:spcPts val="0"/>
              </a:spcAft>
              <a:buSzPts val="1400"/>
              <a:buChar char="-"/>
            </a:pPr>
            <a:r>
              <a:rPr lang="en"/>
              <a:t>Data</a:t>
            </a:r>
            <a:endParaRPr/>
          </a:p>
          <a:p>
            <a:pPr indent="-342900" lvl="0" marL="457200" rtl="0" algn="l">
              <a:spcBef>
                <a:spcPts val="0"/>
              </a:spcBef>
              <a:spcAft>
                <a:spcPts val="0"/>
              </a:spcAft>
              <a:buSzPts val="1800"/>
              <a:buChar char="-"/>
            </a:pPr>
            <a:r>
              <a:rPr lang="en"/>
              <a:t>Image je binárně kompatibilní pro různá prostředí i runtime</a:t>
            </a:r>
            <a:endParaRPr/>
          </a:p>
          <a:p>
            <a:pPr indent="-317500" lvl="1" marL="914400" rtl="0" algn="l">
              <a:spcBef>
                <a:spcPts val="0"/>
              </a:spcBef>
              <a:spcAft>
                <a:spcPts val="0"/>
              </a:spcAft>
              <a:buSzPts val="1400"/>
              <a:buChar char="-"/>
            </a:pPr>
            <a:r>
              <a:rPr lang="en"/>
              <a:t>Docker, Podman, Containerd</a:t>
            </a:r>
            <a:endParaRPr/>
          </a:p>
          <a:p>
            <a:pPr indent="-317500" lvl="1" marL="914400" rtl="0" algn="l">
              <a:spcBef>
                <a:spcPts val="0"/>
              </a:spcBef>
              <a:spcAft>
                <a:spcPts val="0"/>
              </a:spcAft>
              <a:buSzPts val="1400"/>
              <a:buChar char="-"/>
            </a:pPr>
            <a:r>
              <a:rPr lang="en"/>
              <a:t>Kubernetes, OpenShift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"Platform independent"</a:t>
            </a:r>
            <a:endParaRPr/>
          </a:p>
        </p:txBody>
      </p:sp>
      <p:sp>
        <p:nvSpPr>
          <p:cNvPr id="160" name="Google Shape;160;p29"/>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Aplikace, které běží v kontejnerech, nejsou závislé na runtime</a:t>
            </a:r>
            <a:endParaRPr/>
          </a:p>
          <a:p>
            <a:pPr indent="-342900" lvl="0" marL="457200" rtl="0" algn="l">
              <a:spcBef>
                <a:spcPts val="1600"/>
              </a:spcBef>
              <a:spcAft>
                <a:spcPts val="0"/>
              </a:spcAft>
              <a:buSzPts val="1800"/>
              <a:buChar char="-"/>
            </a:pPr>
            <a:r>
              <a:rPr lang="en"/>
              <a:t>Docker</a:t>
            </a:r>
            <a:endParaRPr/>
          </a:p>
          <a:p>
            <a:pPr indent="-342900" lvl="0" marL="457200" rtl="0" algn="l">
              <a:spcBef>
                <a:spcPts val="0"/>
              </a:spcBef>
              <a:spcAft>
                <a:spcPts val="0"/>
              </a:spcAft>
              <a:buSzPts val="1800"/>
              <a:buChar char="-"/>
            </a:pPr>
            <a:r>
              <a:rPr lang="en"/>
              <a:t>Containerd</a:t>
            </a:r>
            <a:endParaRPr/>
          </a:p>
          <a:p>
            <a:pPr indent="-342900" lvl="0" marL="457200" rtl="0" algn="l">
              <a:spcBef>
                <a:spcPts val="0"/>
              </a:spcBef>
              <a:spcAft>
                <a:spcPts val="0"/>
              </a:spcAft>
              <a:buSzPts val="1800"/>
              <a:buChar char="-"/>
            </a:pPr>
            <a:r>
              <a:rPr lang="en"/>
              <a:t>Podman, CRI-O, …</a:t>
            </a:r>
            <a:endParaRPr/>
          </a:p>
          <a:p>
            <a:pPr indent="0" lvl="0" marL="0" rtl="0" algn="l">
              <a:spcBef>
                <a:spcPts val="1600"/>
              </a:spcBef>
              <a:spcAft>
                <a:spcPts val="0"/>
              </a:spcAft>
              <a:buNone/>
            </a:pPr>
            <a:r>
              <a:rPr lang="en"/>
              <a:t>Různé orchestrátory</a:t>
            </a:r>
            <a:endParaRPr/>
          </a:p>
          <a:p>
            <a:pPr indent="-342900" lvl="0" marL="457200" rtl="0" algn="l">
              <a:spcBef>
                <a:spcPts val="1600"/>
              </a:spcBef>
              <a:spcAft>
                <a:spcPts val="0"/>
              </a:spcAft>
              <a:buSzPts val="1800"/>
              <a:buChar char="-"/>
            </a:pPr>
            <a:r>
              <a:rPr lang="en"/>
              <a:t>Docker Compose</a:t>
            </a:r>
            <a:endParaRPr/>
          </a:p>
          <a:p>
            <a:pPr indent="-342900" lvl="0" marL="457200" rtl="0" algn="l">
              <a:spcBef>
                <a:spcPts val="0"/>
              </a:spcBef>
              <a:spcAft>
                <a:spcPts val="0"/>
              </a:spcAft>
              <a:buSzPts val="1800"/>
              <a:buChar char="-"/>
            </a:pPr>
            <a:r>
              <a:rPr lang="en"/>
              <a:t>Kubernetes</a:t>
            </a:r>
            <a:endParaRPr/>
          </a:p>
          <a:p>
            <a:pPr indent="-342900" lvl="0" marL="457200" rtl="0" algn="l">
              <a:spcBef>
                <a:spcPts val="0"/>
              </a:spcBef>
              <a:spcAft>
                <a:spcPts val="0"/>
              </a:spcAft>
              <a:buSzPts val="1800"/>
              <a:buChar char="-"/>
            </a:pPr>
            <a:r>
              <a:rPr lang="en"/>
              <a:t>OpenShift / OKD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Container Registry</a:t>
            </a:r>
            <a:endParaRPr/>
          </a:p>
        </p:txBody>
      </p:sp>
      <p:sp>
        <p:nvSpPr>
          <p:cNvPr id="166" name="Google Shape;166;p30"/>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Container registry jsou preferovaný způsob distribuce kontejnerů</a:t>
            </a:r>
            <a:endParaRPr/>
          </a:p>
          <a:p>
            <a:pPr indent="-317500" lvl="1" marL="914400" rtl="0" algn="l">
              <a:spcBef>
                <a:spcPts val="0"/>
              </a:spcBef>
              <a:spcAft>
                <a:spcPts val="0"/>
              </a:spcAft>
              <a:buSzPts val="1400"/>
              <a:buChar char="-"/>
            </a:pPr>
            <a:r>
              <a:rPr lang="en"/>
              <a:t>docker pull, docker push, …</a:t>
            </a:r>
            <a:endParaRPr/>
          </a:p>
          <a:p>
            <a:pPr indent="-342900" lvl="0" marL="457200" rtl="0" algn="l">
              <a:spcBef>
                <a:spcPts val="0"/>
              </a:spcBef>
              <a:spcAft>
                <a:spcPts val="0"/>
              </a:spcAft>
              <a:buSzPts val="1800"/>
              <a:buChar char="-"/>
            </a:pPr>
            <a:r>
              <a:rPr lang="en"/>
              <a:t>Container registry je standard, který používá</a:t>
            </a:r>
            <a:endParaRPr/>
          </a:p>
          <a:p>
            <a:pPr indent="-317500" lvl="1" marL="914400" rtl="0" algn="l">
              <a:spcBef>
                <a:spcPts val="0"/>
              </a:spcBef>
              <a:spcAft>
                <a:spcPts val="0"/>
              </a:spcAft>
              <a:buSzPts val="1400"/>
              <a:buChar char="-"/>
            </a:pPr>
            <a:r>
              <a:rPr lang="en"/>
              <a:t>Gitlab, Github</a:t>
            </a:r>
            <a:endParaRPr/>
          </a:p>
          <a:p>
            <a:pPr indent="-317500" lvl="1" marL="914400" rtl="0" algn="l">
              <a:spcBef>
                <a:spcPts val="0"/>
              </a:spcBef>
              <a:spcAft>
                <a:spcPts val="0"/>
              </a:spcAft>
              <a:buSzPts val="1400"/>
              <a:buChar char="-"/>
            </a:pPr>
            <a:r>
              <a:rPr lang="en"/>
              <a:t>Harbor</a:t>
            </a:r>
            <a:endParaRPr/>
          </a:p>
          <a:p>
            <a:pPr indent="-317500" lvl="1" marL="914400" rtl="0" algn="l">
              <a:spcBef>
                <a:spcPts val="0"/>
              </a:spcBef>
              <a:spcAft>
                <a:spcPts val="0"/>
              </a:spcAft>
              <a:buSzPts val="1400"/>
              <a:buChar char="-"/>
            </a:pPr>
            <a:r>
              <a:rPr lang="en"/>
              <a:t>Artifactory</a:t>
            </a:r>
            <a:endParaRPr/>
          </a:p>
          <a:p>
            <a:pPr indent="-317500" lvl="1" marL="914400" rtl="0" algn="l">
              <a:spcBef>
                <a:spcPts val="0"/>
              </a:spcBef>
              <a:spcAft>
                <a:spcPts val="0"/>
              </a:spcAft>
              <a:buSzPts val="1400"/>
              <a:buChar char="-"/>
            </a:pPr>
            <a:r>
              <a:rPr lang="en"/>
              <a:t>Nexus</a:t>
            </a:r>
            <a:br>
              <a:rPr lang="en"/>
            </a:br>
            <a:endParaRPr/>
          </a:p>
          <a:p>
            <a:pPr indent="-342900" lvl="0" marL="457200" rtl="0" algn="l">
              <a:spcBef>
                <a:spcPts val="0"/>
              </a:spcBef>
              <a:spcAft>
                <a:spcPts val="0"/>
              </a:spcAft>
              <a:buSzPts val="1800"/>
              <a:buChar char="-"/>
            </a:pPr>
            <a:r>
              <a:rPr lang="en"/>
              <a:t>Odevzdání práce je push container images do registrů zákazníka</a:t>
            </a:r>
            <a:endParaRPr/>
          </a:p>
          <a:p>
            <a:pPr indent="-342900" lvl="0" marL="457200" rtl="0" algn="l">
              <a:spcBef>
                <a:spcPts val="0"/>
              </a:spcBef>
              <a:spcAft>
                <a:spcPts val="0"/>
              </a:spcAft>
              <a:buSzPts val="1800"/>
              <a:buChar char="-"/>
            </a:pPr>
            <a:r>
              <a:rPr lang="en"/>
              <a:t>Zákazník může mirrorovat registry od dodavatele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1"/>
          <p:cNvSpPr txBox="1"/>
          <p:nvPr>
            <p:ph idx="1" type="body"/>
          </p:nvPr>
        </p:nvSpPr>
        <p:spPr>
          <a:xfrm>
            <a:off x="311700" y="777950"/>
            <a:ext cx="8213100" cy="34404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6000"/>
              <a:t>Docker Compose</a:t>
            </a:r>
            <a:endParaRPr b="1" sz="6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2"/>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78" name="Google Shape;178;p32"/>
          <p:cNvPicPr preferRelativeResize="0"/>
          <p:nvPr/>
        </p:nvPicPr>
        <p:blipFill>
          <a:blip r:embed="rId3">
            <a:alphaModFix/>
          </a:blip>
          <a:stretch>
            <a:fillRect/>
          </a:stretch>
        </p:blipFill>
        <p:spPr>
          <a:xfrm>
            <a:off x="1777900" y="541375"/>
            <a:ext cx="5588190" cy="40607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Co je to Docker Compose</a:t>
            </a:r>
            <a:endParaRPr sz="3000"/>
          </a:p>
        </p:txBody>
      </p:sp>
      <p:sp>
        <p:nvSpPr>
          <p:cNvPr id="184" name="Google Shape;184;p33"/>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Docker Compose je způsob,, jak jednoduše definovat vše, co je potřebné k buildu, distribuci a spuštění aplikace v jednom YAML souboru.</a:t>
            </a:r>
            <a:endParaRPr/>
          </a:p>
          <a:p>
            <a:pPr indent="0" lvl="0" marL="0" rtl="0" algn="l">
              <a:spcBef>
                <a:spcPts val="1600"/>
              </a:spcBef>
              <a:spcAft>
                <a:spcPts val="0"/>
              </a:spcAft>
              <a:buClr>
                <a:schemeClr val="dk1"/>
              </a:buClr>
              <a:buSzPts val="1100"/>
              <a:buFont typeface="Arial"/>
              <a:buNone/>
            </a:pPr>
            <a:r>
              <a:rPr lang="en"/>
              <a:t>Docker Compose nám také umožní velmi jednoduše spouštět aplikace, které mají více různých komponent (db, app, ..)</a:t>
            </a:r>
            <a:endParaRPr/>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Proč použít </a:t>
            </a:r>
            <a:r>
              <a:rPr lang="en" sz="3000"/>
              <a:t>Docker Compose</a:t>
            </a:r>
            <a:endParaRPr sz="3000"/>
          </a:p>
        </p:txBody>
      </p:sp>
      <p:sp>
        <p:nvSpPr>
          <p:cNvPr id="190" name="Google Shape;190;p34"/>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Velmi jednoduché používání</a:t>
            </a:r>
            <a:endParaRPr/>
          </a:p>
          <a:p>
            <a:pPr indent="-342900" lvl="0" marL="457200" rtl="0" algn="l">
              <a:spcBef>
                <a:spcPts val="0"/>
              </a:spcBef>
              <a:spcAft>
                <a:spcPts val="0"/>
              </a:spcAft>
              <a:buSzPts val="1800"/>
              <a:buChar char="-"/>
            </a:pPr>
            <a:r>
              <a:rPr lang="en"/>
              <a:t>Nativní nástroj od Dockeru</a:t>
            </a:r>
            <a:endParaRPr/>
          </a:p>
          <a:p>
            <a:pPr indent="-342900" lvl="0" marL="457200" rtl="0" algn="l">
              <a:spcBef>
                <a:spcPts val="0"/>
              </a:spcBef>
              <a:spcAft>
                <a:spcPts val="0"/>
              </a:spcAft>
              <a:buSzPts val="1800"/>
              <a:buChar char="-"/>
            </a:pPr>
            <a:r>
              <a:rPr lang="en"/>
              <a:t>Ideální</a:t>
            </a:r>
            <a:r>
              <a:rPr lang="en"/>
              <a:t> pro </a:t>
            </a:r>
            <a:r>
              <a:rPr lang="en"/>
              <a:t>lokální</a:t>
            </a:r>
            <a:r>
              <a:rPr lang="en"/>
              <a:t> spouštění a vývoj</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5"/>
          <p:cNvSpPr txBox="1"/>
          <p:nvPr>
            <p:ph idx="1" type="body"/>
          </p:nvPr>
        </p:nvSpPr>
        <p:spPr>
          <a:xfrm>
            <a:off x="311700" y="777950"/>
            <a:ext cx="8213100" cy="34404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6000"/>
              <a:t>Kubernetes</a:t>
            </a:r>
            <a:endParaRPr b="1" sz="6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36"/>
          <p:cNvPicPr preferRelativeResize="0"/>
          <p:nvPr/>
        </p:nvPicPr>
        <p:blipFill>
          <a:blip r:embed="rId3">
            <a:alphaModFix/>
          </a:blip>
          <a:stretch>
            <a:fillRect/>
          </a:stretch>
        </p:blipFill>
        <p:spPr>
          <a:xfrm>
            <a:off x="-347275" y="-242700"/>
            <a:ext cx="5151057" cy="4060750"/>
          </a:xfrm>
          <a:prstGeom prst="rect">
            <a:avLst/>
          </a:prstGeom>
          <a:noFill/>
          <a:ln>
            <a:noFill/>
          </a:ln>
        </p:spPr>
      </p:pic>
      <p:pic>
        <p:nvPicPr>
          <p:cNvPr id="203" name="Google Shape;203;p36"/>
          <p:cNvPicPr preferRelativeResize="0"/>
          <p:nvPr/>
        </p:nvPicPr>
        <p:blipFill>
          <a:blip r:embed="rId4">
            <a:alphaModFix/>
          </a:blip>
          <a:stretch>
            <a:fillRect/>
          </a:stretch>
        </p:blipFill>
        <p:spPr>
          <a:xfrm>
            <a:off x="3711650" y="2211475"/>
            <a:ext cx="5767926" cy="29320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Co je to Kubernetes</a:t>
            </a:r>
            <a:endParaRPr sz="3000"/>
          </a:p>
        </p:txBody>
      </p:sp>
      <p:sp>
        <p:nvSpPr>
          <p:cNvPr id="209" name="Google Shape;209;p37"/>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Kubernetes je platforma pro provoz </a:t>
            </a:r>
            <a:r>
              <a:rPr b="1" lang="en"/>
              <a:t>aplikací</a:t>
            </a:r>
            <a:r>
              <a:rPr b="1" lang="en"/>
              <a:t>.</a:t>
            </a:r>
            <a:endParaRPr b="1"/>
          </a:p>
          <a:p>
            <a:pPr indent="0" lvl="0" marL="0" rtl="0" algn="l">
              <a:spcBef>
                <a:spcPts val="1600"/>
              </a:spcBef>
              <a:spcAft>
                <a:spcPts val="0"/>
              </a:spcAft>
              <a:buNone/>
            </a:pPr>
            <a:r>
              <a:rPr lang="en"/>
              <a:t>Kubernetes nám </a:t>
            </a:r>
            <a:r>
              <a:rPr lang="en"/>
              <a:t>umožňuje</a:t>
            </a:r>
            <a:r>
              <a:rPr lang="en"/>
              <a:t> </a:t>
            </a:r>
            <a:r>
              <a:rPr lang="en"/>
              <a:t>efektivně</a:t>
            </a:r>
            <a:r>
              <a:rPr lang="en"/>
              <a:t> spravovat velké množství aplikací na </a:t>
            </a:r>
            <a:r>
              <a:rPr lang="en"/>
              <a:t>více</a:t>
            </a:r>
            <a:r>
              <a:rPr lang="en"/>
              <a:t> serverech z jednoho mista a </a:t>
            </a:r>
            <a:r>
              <a:rPr lang="en"/>
              <a:t>unifikovaným</a:t>
            </a:r>
            <a:r>
              <a:rPr lang="en"/>
              <a:t> způsobem..</a:t>
            </a:r>
            <a:endParaRPr/>
          </a:p>
          <a:p>
            <a:pPr indent="0" lvl="0" marL="0" rtl="0" algn="l">
              <a:spcBef>
                <a:spcPts val="1600"/>
              </a:spcBef>
              <a:spcAft>
                <a:spcPts val="0"/>
              </a:spcAft>
              <a:buNone/>
            </a:pPr>
            <a:r>
              <a:rPr lang="en"/>
              <a:t>Práce s Kubernetes je o trochu složitější, než se samotným Dockerem, případně Docker Compose, ale poskytuje nám mnoho výhod, jako je vysoká dostupnost, minimalizace manuálních činností, škálování, balíčky, … </a:t>
            </a:r>
            <a:endParaRPr/>
          </a:p>
          <a:p>
            <a:pPr indent="0" lvl="0" marL="0" rtl="0" algn="l">
              <a:spcBef>
                <a:spcPts val="1600"/>
              </a:spcBef>
              <a:spcAft>
                <a:spcPts val="1600"/>
              </a:spcAft>
              <a:buNone/>
            </a:pPr>
            <a:r>
              <a:rPr lang="en"/>
              <a:t>Kubernetes je často next-step pro </a:t>
            </a:r>
            <a:r>
              <a:rPr lang="en"/>
              <a:t>prostředí, </a:t>
            </a:r>
            <a:r>
              <a:rPr lang="en"/>
              <a:t>kde docker na</a:t>
            </a:r>
            <a:br>
              <a:rPr lang="en"/>
            </a:br>
            <a:r>
              <a:rPr lang="en"/>
              <a:t>jednom serveru přestává stačit…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Proč používat Kubernetes?</a:t>
            </a:r>
            <a:endParaRPr/>
          </a:p>
        </p:txBody>
      </p:sp>
      <p:sp>
        <p:nvSpPr>
          <p:cNvPr id="215" name="Google Shape;215;p38"/>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solidFill>
                  <a:schemeClr val="hlink"/>
                </a:solidFill>
              </a:rPr>
              <a:t>Unifikace prostředí pro provoz aplikací</a:t>
            </a:r>
            <a:endParaRPr/>
          </a:p>
          <a:p>
            <a:pPr indent="-342900" lvl="0" marL="457200" rtl="0" algn="l">
              <a:spcBef>
                <a:spcPts val="0"/>
              </a:spcBef>
              <a:spcAft>
                <a:spcPts val="0"/>
              </a:spcAft>
              <a:buSzPts val="1800"/>
              <a:buChar char="-"/>
            </a:pPr>
            <a:r>
              <a:rPr lang="en"/>
              <a:t>De-facto standard provozu software</a:t>
            </a:r>
            <a:endParaRPr/>
          </a:p>
          <a:p>
            <a:pPr indent="-342900" lvl="0" marL="457200" rtl="0" algn="l">
              <a:spcBef>
                <a:spcPts val="0"/>
              </a:spcBef>
              <a:spcAft>
                <a:spcPts val="0"/>
              </a:spcAft>
              <a:buSzPts val="1800"/>
              <a:buChar char="-"/>
            </a:pPr>
            <a:r>
              <a:rPr lang="en"/>
              <a:t>Ovládání pomocí YAML souboru + Helm Balíčky  (GitOps)</a:t>
            </a:r>
            <a:endParaRPr/>
          </a:p>
          <a:p>
            <a:pPr indent="-342900" lvl="0" marL="457200" rtl="0" algn="l">
              <a:spcBef>
                <a:spcPts val="0"/>
              </a:spcBef>
              <a:spcAft>
                <a:spcPts val="0"/>
              </a:spcAft>
              <a:buSzPts val="1800"/>
              <a:buChar char="-"/>
            </a:pPr>
            <a:r>
              <a:rPr lang="en">
                <a:solidFill>
                  <a:schemeClr val="hlink"/>
                </a:solidFill>
              </a:rPr>
              <a:t>Deployment (deklarativní) požadovaného stavu</a:t>
            </a:r>
            <a:endParaRPr/>
          </a:p>
          <a:p>
            <a:pPr indent="-342900" lvl="0" marL="457200" rtl="0" algn="l">
              <a:spcBef>
                <a:spcPts val="0"/>
              </a:spcBef>
              <a:spcAft>
                <a:spcPts val="0"/>
              </a:spcAft>
              <a:buSzPts val="1800"/>
              <a:buChar char="-"/>
            </a:pPr>
            <a:r>
              <a:rPr lang="en"/>
              <a:t>Přístup ke clusteru místo k jednotlivým serverům</a:t>
            </a:r>
            <a:endParaRPr/>
          </a:p>
          <a:p>
            <a:pPr indent="-342900" lvl="0" marL="457200" rtl="0" algn="l">
              <a:spcBef>
                <a:spcPts val="0"/>
              </a:spcBef>
              <a:spcAft>
                <a:spcPts val="0"/>
              </a:spcAft>
              <a:buSzPts val="1800"/>
              <a:buChar char="-"/>
            </a:pPr>
            <a:r>
              <a:rPr lang="en"/>
              <a:t>Automatizace manuálních tasků</a:t>
            </a:r>
            <a:endParaRPr/>
          </a:p>
          <a:p>
            <a:pPr indent="-342900" lvl="0" marL="457200" rtl="0" algn="l">
              <a:spcBef>
                <a:spcPts val="0"/>
              </a:spcBef>
              <a:spcAft>
                <a:spcPts val="0"/>
              </a:spcAft>
              <a:buSzPts val="1800"/>
              <a:buChar char="-"/>
            </a:pPr>
            <a:r>
              <a:rPr lang="en"/>
              <a:t>Autoscaling</a:t>
            </a:r>
            <a:endParaRPr/>
          </a:p>
          <a:p>
            <a:pPr indent="-342900" lvl="0" marL="457200" rtl="0" algn="l">
              <a:spcBef>
                <a:spcPts val="0"/>
              </a:spcBef>
              <a:spcAft>
                <a:spcPts val="0"/>
              </a:spcAft>
              <a:buSzPts val="1800"/>
              <a:buChar char="-"/>
            </a:pPr>
            <a:r>
              <a:rPr lang="en"/>
              <a:t>Opensource, pod CNCF</a:t>
            </a:r>
            <a:endParaRPr/>
          </a:p>
          <a:p>
            <a:pPr indent="-342900" lvl="0" marL="457200" rtl="0" algn="l">
              <a:spcBef>
                <a:spcPts val="0"/>
              </a:spcBef>
              <a:spcAft>
                <a:spcPts val="0"/>
              </a:spcAft>
              <a:buSzPts val="1800"/>
              <a:buChar char="-"/>
            </a:pPr>
            <a:r>
              <a:rPr lang="en"/>
              <a:t>Velký ekosystém kolem Kubernetes</a:t>
            </a:r>
            <a:endParaRPr/>
          </a:p>
          <a:p>
            <a:pPr indent="-342900" lvl="0" marL="457200" rtl="0" algn="l">
              <a:spcBef>
                <a:spcPts val="0"/>
              </a:spcBef>
              <a:spcAft>
                <a:spcPts val="0"/>
              </a:spcAft>
              <a:buSzPts val="1800"/>
              <a:buChar char="-"/>
            </a:pPr>
            <a:r>
              <a:rPr lang="en"/>
              <a:t>Jednoduchý provoz v cloudu i on-premise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9"/>
          <p:cNvSpPr txBox="1"/>
          <p:nvPr>
            <p:ph idx="1" type="body"/>
          </p:nvPr>
        </p:nvSpPr>
        <p:spPr>
          <a:xfrm>
            <a:off x="311700" y="777950"/>
            <a:ext cx="8213100" cy="34404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5000"/>
              <a:t>Demo time 🎉🎉</a:t>
            </a:r>
            <a:endParaRPr b="1" sz="5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0"/>
          <p:cNvSpPr txBox="1"/>
          <p:nvPr>
            <p:ph idx="1" type="body"/>
          </p:nvPr>
        </p:nvSpPr>
        <p:spPr>
          <a:xfrm>
            <a:off x="311700" y="777950"/>
            <a:ext cx="8213100" cy="34404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5000"/>
              <a:t>Závěr</a:t>
            </a:r>
            <a:endParaRPr b="1" sz="5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Docker nám přináší mnoho výhod</a:t>
            </a:r>
            <a:endParaRPr sz="3000"/>
          </a:p>
        </p:txBody>
      </p:sp>
      <p:sp>
        <p:nvSpPr>
          <p:cNvPr id="233" name="Google Shape;233;p41"/>
          <p:cNvSpPr txBox="1"/>
          <p:nvPr>
            <p:ph idx="1" type="body"/>
          </p:nvPr>
        </p:nvSpPr>
        <p:spPr>
          <a:xfrm>
            <a:off x="311700" y="1250138"/>
            <a:ext cx="7929000" cy="2940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chemeClr val="hlink"/>
              </a:buClr>
              <a:buSzPts val="2400"/>
              <a:buChar char="-"/>
            </a:pPr>
            <a:r>
              <a:rPr lang="en" sz="2400">
                <a:solidFill>
                  <a:schemeClr val="hlink"/>
                </a:solidFill>
              </a:rPr>
              <a:t>Izoluje aplikace</a:t>
            </a:r>
            <a:endParaRPr sz="2400">
              <a:solidFill>
                <a:schemeClr val="hlink"/>
              </a:solidFill>
            </a:endParaRPr>
          </a:p>
          <a:p>
            <a:pPr indent="-381000" lvl="0" marL="457200" rtl="0" algn="l">
              <a:spcBef>
                <a:spcPts val="0"/>
              </a:spcBef>
              <a:spcAft>
                <a:spcPts val="0"/>
              </a:spcAft>
              <a:buClr>
                <a:schemeClr val="hlink"/>
              </a:buClr>
              <a:buSzPts val="2400"/>
              <a:buChar char="-"/>
            </a:pPr>
            <a:r>
              <a:rPr lang="en" sz="2400">
                <a:solidFill>
                  <a:schemeClr val="hlink"/>
                </a:solidFill>
              </a:rPr>
              <a:t>Unifikuje prostředí pro provoz aplikací</a:t>
            </a:r>
            <a:endParaRPr sz="2400">
              <a:solidFill>
                <a:schemeClr val="hlink"/>
              </a:solidFill>
            </a:endParaRPr>
          </a:p>
          <a:p>
            <a:pPr indent="-381000" lvl="0" marL="457200" rtl="0" algn="l">
              <a:spcBef>
                <a:spcPts val="0"/>
              </a:spcBef>
              <a:spcAft>
                <a:spcPts val="0"/>
              </a:spcAft>
              <a:buClr>
                <a:schemeClr val="hlink"/>
              </a:buClr>
              <a:buSzPts val="2400"/>
              <a:buChar char="-"/>
            </a:pPr>
            <a:r>
              <a:rPr lang="en" sz="2400">
                <a:solidFill>
                  <a:schemeClr val="hlink"/>
                </a:solidFill>
              </a:rPr>
              <a:t>Definuje interface mezi aplikací a platformou</a:t>
            </a:r>
            <a:endParaRPr sz="2400">
              <a:solidFill>
                <a:schemeClr val="hlink"/>
              </a:solidFill>
            </a:endParaRPr>
          </a:p>
          <a:p>
            <a:pPr indent="-381000" lvl="0" marL="457200" rtl="0" algn="l">
              <a:spcBef>
                <a:spcPts val="0"/>
              </a:spcBef>
              <a:spcAft>
                <a:spcPts val="0"/>
              </a:spcAft>
              <a:buClr>
                <a:schemeClr val="hlink"/>
              </a:buClr>
              <a:buSzPts val="2400"/>
              <a:buChar char="-"/>
            </a:pPr>
            <a:r>
              <a:rPr lang="en" sz="2400">
                <a:solidFill>
                  <a:schemeClr val="hlink"/>
                </a:solidFill>
              </a:rPr>
              <a:t>Usnadňuje vývoj, distribuci a běh aplikací</a:t>
            </a:r>
            <a:endParaRPr sz="2400">
              <a:solidFill>
                <a:schemeClr val="hlink"/>
              </a:solidFill>
            </a:endParaRPr>
          </a:p>
          <a:p>
            <a:pPr indent="0" lvl="0" marL="0" rtl="0" algn="l">
              <a:spcBef>
                <a:spcPts val="1600"/>
              </a:spcBef>
              <a:spcAft>
                <a:spcPts val="16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2"/>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2"/>
          <p:cNvSpPr txBox="1"/>
          <p:nvPr>
            <p:ph idx="1" type="body"/>
          </p:nvPr>
        </p:nvSpPr>
        <p:spPr>
          <a:xfrm>
            <a:off x="311700" y="777950"/>
            <a:ext cx="8213100" cy="34404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7500"/>
              <a:t>Díky za pozornost</a:t>
            </a:r>
            <a:endParaRPr b="1" sz="75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3"/>
          <p:cNvSpPr txBox="1"/>
          <p:nvPr>
            <p:ph type="title"/>
          </p:nvPr>
        </p:nvSpPr>
        <p:spPr>
          <a:xfrm>
            <a:off x="311700" y="2052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3"/>
          <p:cNvSpPr txBox="1"/>
          <p:nvPr>
            <p:ph idx="1" type="body"/>
          </p:nvPr>
        </p:nvSpPr>
        <p:spPr>
          <a:xfrm>
            <a:off x="311700" y="777950"/>
            <a:ext cx="8213100" cy="34404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1" lang="en" sz="7500"/>
              <a:t>Otázky?</a:t>
            </a:r>
            <a:endParaRPr b="1" sz="75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4"/>
          <p:cNvSpPr txBox="1"/>
          <p:nvPr>
            <p:ph type="title"/>
          </p:nvPr>
        </p:nvSpPr>
        <p:spPr>
          <a:xfrm>
            <a:off x="283100" y="712150"/>
            <a:ext cx="8518200" cy="3835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0" lang="en" sz="2400">
                <a:solidFill>
                  <a:srgbClr val="FFFFFF"/>
                </a:solidFill>
              </a:rPr>
              <a:t>Email</a:t>
            </a:r>
            <a:br>
              <a:rPr lang="en">
                <a:solidFill>
                  <a:srgbClr val="FFFFFF"/>
                </a:solidFill>
              </a:rPr>
            </a:br>
            <a:r>
              <a:rPr lang="en" sz="4200">
                <a:solidFill>
                  <a:srgbClr val="FFFFFF"/>
                </a:solidFill>
              </a:rPr>
              <a:t>ondrej@sika.io</a:t>
            </a:r>
            <a:endParaRPr sz="4200">
              <a:solidFill>
                <a:srgbClr val="FFFFFF"/>
              </a:solidFill>
            </a:endParaRPr>
          </a:p>
          <a:p>
            <a:pPr indent="0" lvl="0" marL="0" rtl="0" algn="l">
              <a:spcBef>
                <a:spcPts val="0"/>
              </a:spcBef>
              <a:spcAft>
                <a:spcPts val="0"/>
              </a:spcAft>
              <a:buNone/>
            </a:pPr>
            <a:r>
              <a:t/>
            </a:r>
            <a:endParaRPr sz="1600">
              <a:solidFill>
                <a:srgbClr val="FFFFFF"/>
              </a:solidFill>
            </a:endParaRPr>
          </a:p>
          <a:p>
            <a:pPr indent="0" lvl="0" marL="0" rtl="0" algn="l">
              <a:spcBef>
                <a:spcPts val="0"/>
              </a:spcBef>
              <a:spcAft>
                <a:spcPts val="0"/>
              </a:spcAft>
              <a:buNone/>
            </a:pPr>
            <a:r>
              <a:rPr b="0" lang="en" sz="2400">
                <a:solidFill>
                  <a:schemeClr val="lt1"/>
                </a:solidFill>
              </a:rPr>
              <a:t>Twitter</a:t>
            </a:r>
            <a:endParaRPr b="0" sz="2400">
              <a:solidFill>
                <a:srgbClr val="FFFFFF"/>
              </a:solidFill>
            </a:endParaRPr>
          </a:p>
          <a:p>
            <a:pPr indent="0" lvl="0" marL="0" rtl="0" algn="l">
              <a:spcBef>
                <a:spcPts val="0"/>
              </a:spcBef>
              <a:spcAft>
                <a:spcPts val="0"/>
              </a:spcAft>
              <a:buNone/>
            </a:pPr>
            <a:r>
              <a:rPr lang="en" sz="4200">
                <a:solidFill>
                  <a:schemeClr val="lt1"/>
                </a:solidFill>
              </a:rPr>
              <a:t>@ondrejsika</a:t>
            </a:r>
            <a:endParaRPr sz="4200">
              <a:solidFill>
                <a:schemeClr val="lt1"/>
              </a:solidFill>
            </a:endParaRPr>
          </a:p>
          <a:p>
            <a:pPr indent="0" lvl="0" marL="0" rtl="0" algn="l">
              <a:spcBef>
                <a:spcPts val="0"/>
              </a:spcBef>
              <a:spcAft>
                <a:spcPts val="0"/>
              </a:spcAft>
              <a:buNone/>
            </a:pPr>
            <a:r>
              <a:t/>
            </a:r>
            <a:endParaRPr sz="1600">
              <a:solidFill>
                <a:schemeClr val="lt1"/>
              </a:solidFill>
            </a:endParaRPr>
          </a:p>
          <a:p>
            <a:pPr indent="0" lvl="0" marL="0" rtl="0" algn="l">
              <a:spcBef>
                <a:spcPts val="0"/>
              </a:spcBef>
              <a:spcAft>
                <a:spcPts val="0"/>
              </a:spcAft>
              <a:buNone/>
            </a:pPr>
            <a:r>
              <a:rPr b="0" lang="en" sz="2400">
                <a:solidFill>
                  <a:schemeClr val="lt1"/>
                </a:solidFill>
              </a:rPr>
              <a:t>LinkedIn</a:t>
            </a:r>
            <a:endParaRPr b="0" sz="2400">
              <a:solidFill>
                <a:schemeClr val="lt1"/>
              </a:solidFill>
            </a:endParaRPr>
          </a:p>
          <a:p>
            <a:pPr indent="0" lvl="0" marL="0" rtl="0" algn="l">
              <a:spcBef>
                <a:spcPts val="0"/>
              </a:spcBef>
              <a:spcAft>
                <a:spcPts val="0"/>
              </a:spcAft>
              <a:buNone/>
            </a:pPr>
            <a:r>
              <a:rPr lang="en" sz="4200">
                <a:solidFill>
                  <a:schemeClr val="lt1"/>
                </a:solidFill>
              </a:rPr>
              <a:t>/in/ondrejsika</a:t>
            </a:r>
            <a:endParaRPr sz="4200">
              <a:solidFill>
                <a:srgbClr val="FFFFFF"/>
              </a:solidFill>
            </a:endParaRPr>
          </a:p>
        </p:txBody>
      </p:sp>
      <p:pic>
        <p:nvPicPr>
          <p:cNvPr id="251" name="Google Shape;251;p44"/>
          <p:cNvPicPr preferRelativeResize="0"/>
          <p:nvPr/>
        </p:nvPicPr>
        <p:blipFill>
          <a:blip r:embed="rId3">
            <a:alphaModFix/>
          </a:blip>
          <a:stretch>
            <a:fillRect/>
          </a:stretch>
        </p:blipFill>
        <p:spPr>
          <a:xfrm>
            <a:off x="5774975" y="1152850"/>
            <a:ext cx="3895025" cy="3990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ndrej Sika - prezentace tmava v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E1E1E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