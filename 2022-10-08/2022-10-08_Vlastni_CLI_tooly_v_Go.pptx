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y="5143500" cx="9144000"/>
  <p:notesSz cx="6858000" cy="9144000"/>
  <p:embeddedFontLst>
    <p:embeddedFont>
      <p:font typeface="IBM Plex Sans"/>
      <p:regular r:id="rId52"/>
      <p:bold r:id="rId53"/>
      <p:italic r:id="rId54"/>
      <p:boldItalic r:id="rId55"/>
    </p:embeddedFont>
    <p:embeddedFont>
      <p:font typeface="Overpass"/>
      <p:regular r:id="rId56"/>
      <p:bold r:id="rId57"/>
      <p:italic r:id="rId58"/>
      <p:boldItalic r:id="rId59"/>
    </p:embeddedFont>
    <p:embeddedFont>
      <p:font typeface="IBM Plex Mono SemiBold"/>
      <p:regular r:id="rId60"/>
      <p:bold r:id="rId61"/>
      <p:italic r:id="rId62"/>
      <p:boldItalic r:id="rId63"/>
    </p:embeddedFont>
    <p:embeddedFont>
      <p:font typeface="Overpass SemiBold"/>
      <p:regular r:id="rId64"/>
      <p:bold r:id="rId65"/>
      <p:italic r:id="rId66"/>
      <p:boldItalic r:id="rId67"/>
    </p:embeddedFont>
    <p:embeddedFont>
      <p:font typeface="IBM Plex Mono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IBMPlexMono-boldItalic.fntdata"/><Relationship Id="rId70" Type="http://schemas.openxmlformats.org/officeDocument/2006/relationships/font" Target="fonts/IBMPlexMono-italic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IBMPlexMonoSemiBold-italic.fntdata"/><Relationship Id="rId61" Type="http://schemas.openxmlformats.org/officeDocument/2006/relationships/font" Target="fonts/IBMPlexMonoSemiBold-bold.fntdata"/><Relationship Id="rId20" Type="http://schemas.openxmlformats.org/officeDocument/2006/relationships/slide" Target="slides/slide16.xml"/><Relationship Id="rId64" Type="http://schemas.openxmlformats.org/officeDocument/2006/relationships/font" Target="fonts/OverpassSemiBold-regular.fntdata"/><Relationship Id="rId63" Type="http://schemas.openxmlformats.org/officeDocument/2006/relationships/font" Target="fonts/IBMPlexMonoSemiBold-boldItalic.fntdata"/><Relationship Id="rId22" Type="http://schemas.openxmlformats.org/officeDocument/2006/relationships/slide" Target="slides/slide18.xml"/><Relationship Id="rId66" Type="http://schemas.openxmlformats.org/officeDocument/2006/relationships/font" Target="fonts/OverpassSemiBold-italic.fntdata"/><Relationship Id="rId21" Type="http://schemas.openxmlformats.org/officeDocument/2006/relationships/slide" Target="slides/slide17.xml"/><Relationship Id="rId65" Type="http://schemas.openxmlformats.org/officeDocument/2006/relationships/font" Target="fonts/OverpassSemiBold-bold.fntdata"/><Relationship Id="rId24" Type="http://schemas.openxmlformats.org/officeDocument/2006/relationships/slide" Target="slides/slide20.xml"/><Relationship Id="rId68" Type="http://schemas.openxmlformats.org/officeDocument/2006/relationships/font" Target="fonts/IBMPlexMono-regular.fntdata"/><Relationship Id="rId23" Type="http://schemas.openxmlformats.org/officeDocument/2006/relationships/slide" Target="slides/slide19.xml"/><Relationship Id="rId67" Type="http://schemas.openxmlformats.org/officeDocument/2006/relationships/font" Target="fonts/OverpassSemiBold-boldItalic.fntdata"/><Relationship Id="rId60" Type="http://schemas.openxmlformats.org/officeDocument/2006/relationships/font" Target="fonts/IBMPlexMonoSemiBold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IBMPlexMono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IBMPlexSans-bold.fntdata"/><Relationship Id="rId52" Type="http://schemas.openxmlformats.org/officeDocument/2006/relationships/font" Target="fonts/IBMPlexSans-regular.fntdata"/><Relationship Id="rId11" Type="http://schemas.openxmlformats.org/officeDocument/2006/relationships/slide" Target="slides/slide7.xml"/><Relationship Id="rId55" Type="http://schemas.openxmlformats.org/officeDocument/2006/relationships/font" Target="fonts/IBMPlexSans-boldItalic.fntdata"/><Relationship Id="rId10" Type="http://schemas.openxmlformats.org/officeDocument/2006/relationships/slide" Target="slides/slide6.xml"/><Relationship Id="rId54" Type="http://schemas.openxmlformats.org/officeDocument/2006/relationships/font" Target="fonts/IBMPlexSans-italic.fntdata"/><Relationship Id="rId13" Type="http://schemas.openxmlformats.org/officeDocument/2006/relationships/slide" Target="slides/slide9.xml"/><Relationship Id="rId57" Type="http://schemas.openxmlformats.org/officeDocument/2006/relationships/font" Target="fonts/Overpass-bold.fntdata"/><Relationship Id="rId12" Type="http://schemas.openxmlformats.org/officeDocument/2006/relationships/slide" Target="slides/slide8.xml"/><Relationship Id="rId56" Type="http://schemas.openxmlformats.org/officeDocument/2006/relationships/font" Target="fonts/Overpass-regular.fntdata"/><Relationship Id="rId15" Type="http://schemas.openxmlformats.org/officeDocument/2006/relationships/slide" Target="slides/slide11.xml"/><Relationship Id="rId59" Type="http://schemas.openxmlformats.org/officeDocument/2006/relationships/font" Target="fonts/Overpass-boldItalic.fntdata"/><Relationship Id="rId14" Type="http://schemas.openxmlformats.org/officeDocument/2006/relationships/slide" Target="slides/slide10.xml"/><Relationship Id="rId58" Type="http://schemas.openxmlformats.org/officeDocument/2006/relationships/font" Target="fonts/Overpass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296ab4fe0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296ab4fe0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eccbacf5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eccbacf5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296ab4fe0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296ab4fe0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3b82cec8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33b82cec8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3b82cec8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33b82cec8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3b82cec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33b82cec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3b82cec8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33b82cec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3b82cec8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33b82cec8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eccbacf5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2eccbacf5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3b82cec8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33b82cec8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3b82cec8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33b82cec8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3b82cec8a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3b82cec8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3b82cec8a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33b82cec8a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33b82cec8a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33b82cec8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3b82cec8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33b82cec8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4273bf01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f4273bf01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f4273bf01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f4273bf01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3b82cec8a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3b82cec8a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33b82cec8a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33b82cec8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3b82cec8a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33b82cec8a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33b82cec8a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33b82cec8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33b82cec8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33b82cec8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3b82cec8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33b82cec8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15f1727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415f1727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f4273bf0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f4273bf0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33b82cec8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33b82cec8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f4273bf01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f4273bf01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f4273bf01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f4273bf01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33b82cec8a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33b82cec8a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f4273bf01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f4273bf01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33b82cec8a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33b82cec8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f4273bf01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f4273bf01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3b82cec8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33b82cec8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33b82cec8a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33b82cec8a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33b82cec8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33b82cec8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33b82cec8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33b82cec8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33b82cec8a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33b82cec8a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33b82cec8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33b82cec8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33b82cec8a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33b82cec8a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33b82cec8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33b82cec8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33b82cec8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33b82cec8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2ecd28166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2ecd28166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2ecd28166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2ecd28166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296ab4fe0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296ab4fe0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296ab4fe0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296ab4fe0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b82cec8a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b82cec8a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sz="2800">
                <a:latin typeface="Overpass"/>
                <a:ea typeface="Overpass"/>
                <a:cs typeface="Overpass"/>
                <a:sym typeface="Overpas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147950"/>
            <a:ext cx="5874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verpass SemiBold"/>
              <a:buNone/>
              <a:defRPr sz="21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verpass"/>
              <a:buNone/>
              <a:defRPr>
                <a:latin typeface="Overpass"/>
                <a:ea typeface="Overpass"/>
                <a:cs typeface="Overpass"/>
                <a:sym typeface="Overpass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2.jpg"/><Relationship Id="rId2" Type="http://schemas.openxmlformats.org/officeDocument/2006/relationships/hyperlink" Target="https://twitter.com/ondrejsika" TargetMode="External"/><Relationship Id="rId3" Type="http://schemas.openxmlformats.org/officeDocument/2006/relationships/hyperlink" Target="mailto:ondrej@sika.io" TargetMode="External"/><Relationship Id="rId4" Type="http://schemas.openxmlformats.org/officeDocument/2006/relationships/hyperlink" Target="https://sika.io" TargetMode="External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1.xml"/><Relationship Id="rId5" Type="http://schemas.openxmlformats.org/officeDocument/2006/relationships/hyperlink" Target="https://linkedin.com/in/ondrejsika" TargetMode="External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2500"/>
              <a:buFont typeface="IBM Plex Mono"/>
              <a:buNone/>
              <a:defRPr b="1" sz="2500">
                <a:solidFill>
                  <a:srgbClr val="E1E1E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BFB0"/>
              </a:buClr>
              <a:buSzPts val="1800"/>
              <a:buFont typeface="IBM Plex Sans"/>
              <a:buChar char="■"/>
              <a:defRPr sz="1800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◻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1E1E1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11700" y="703375"/>
            <a:ext cx="703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808080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/>
        </p:nvSpPr>
        <p:spPr>
          <a:xfrm>
            <a:off x="311700" y="4663225"/>
            <a:ext cx="1091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1E1E1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@ondrejsika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249500" y="4663225"/>
            <a:ext cx="11928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3"/>
              </a:rPr>
              <a:t>ondrej@sika.io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75925" y="4663225"/>
            <a:ext cx="9963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4"/>
              </a:rPr>
              <a:t>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3002225" y="4663250"/>
            <a:ext cx="1295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hlink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5"/>
              </a:rPr>
              <a:t>/in/ondrejsika</a:t>
            </a:r>
            <a:endParaRPr b="1" sz="900">
              <a:solidFill>
                <a:srgbClr val="E1E1E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ondrej@sika.io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3289450"/>
            <a:ext cx="8520600" cy="13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Ondřej Šika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ondrej@sika.io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@ondrejsika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jOpenSpace, 8. 10. 2022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 txBox="1"/>
          <p:nvPr>
            <p:ph type="ctrTitle"/>
          </p:nvPr>
        </p:nvSpPr>
        <p:spPr>
          <a:xfrm>
            <a:off x="311700" y="420850"/>
            <a:ext cx="8520600" cy="23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/>
              <a:t>Vlastní CLI tooly v Go</a:t>
            </a:r>
            <a:endParaRPr sz="4000"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 b="-24343" l="0" r="-27388" t="-3044"/>
          <a:stretch/>
        </p:blipFill>
        <p:spPr>
          <a:xfrm>
            <a:off x="2338650" y="2172852"/>
            <a:ext cx="3044550" cy="30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200" y="1449900"/>
            <a:ext cx="1513300" cy="12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Ondřej Šika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777950"/>
            <a:ext cx="4608600" cy="3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Jsem DevOps lektor, architekt a konzultant z Prahy.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Navrhnu a implementuji Vám na míru DevOps architekturu od verzování v Gitu po provoz v Cloudu.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Dělám populární školení, kde své znalosti předávám tak, abyste si mohli vše udělat sami a bez zbytečných přešlapů a slepých cest.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62" y="-1"/>
            <a:ext cx="385764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</a:rPr>
              <a:t>Píšu knihu o DevOps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777950"/>
            <a:ext cx="44232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Kultura DevOps</a:t>
            </a:r>
            <a:endParaRPr b="1"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Moderní DevOps Stack</a:t>
            </a:r>
            <a:endParaRPr b="1"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Jak navrhnout moderní DevOps architekturu</a:t>
            </a:r>
            <a:endParaRPr b="1"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Kontejnery, Kubernetes, Terraform, ... deep dive</a:t>
            </a:r>
            <a:endParaRPr b="1"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Automatizace a GitOps</a:t>
            </a:r>
            <a:endParaRPr b="1"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Mnoho příkladů a ukázek</a:t>
            </a:r>
            <a:endParaRPr b="1" sz="20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4500"/>
              <a:t>kniha.sika.io</a:t>
            </a:r>
            <a:endParaRPr b="1" sz="4500"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310" y="0"/>
            <a:ext cx="424767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Vlastní CLI Tool. Proč?</a:t>
            </a:r>
            <a:endParaRPr b="1"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777950"/>
            <a:ext cx="84216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Zjednodušení opakujících se tasků</a:t>
            </a:r>
            <a:endParaRPr b="1" sz="38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5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3800"/>
              <a:t>Člověk je líný a chce si ulehčit práci</a:t>
            </a:r>
            <a:endParaRPr b="1" sz="3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to znamená v praxi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Generování kódu při vývoji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Práce s Kubernetes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Generování dat pro testování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Samotné testování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Automatické commit messages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Utility pro shell</a:t>
            </a:r>
            <a:endParaRPr b="1" sz="20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000"/>
              <a:t>...</a:t>
            </a:r>
            <a:endParaRPr b="1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Řešení?</a:t>
            </a:r>
            <a:endParaRPr b="1" sz="5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Shell Scripty 🎉</a:t>
            </a:r>
            <a:endParaRPr b="1"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Shell Scripty </a:t>
            </a:r>
            <a:r>
              <a:rPr b="1" lang="en" sz="5000"/>
              <a:t>😔</a:t>
            </a:r>
            <a:endParaRPr b="1" sz="5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 Scripty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Jednou je napíšeme a příště jen pouštíme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Shell funguje všude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Jednoduše se píše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Jeden Git repozitář, kde jsou všechny skripty uloženy</a:t>
            </a:r>
            <a:endParaRPr b="1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Ale …</a:t>
            </a:r>
            <a:endParaRPr b="1" sz="5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 </a:t>
            </a:r>
            <a:r>
              <a:rPr lang="en"/>
              <a:t>...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Je všude opravdu Bash, ZSH nebo Shell?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Píší se opravdu tak jednoduše? 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Distribuce Git repozitáře do kontejneru?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Distribuce bez internetu?</a:t>
            </a:r>
            <a:endParaRPr b="1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 funguje všude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/>
              <a:t>Ne všude je shell. Není například na Windows. Pokud chceme, aby naše utility fungovaly i tam, musíme zvolit něco jiného.</a:t>
            </a:r>
            <a:endParaRPr b="1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 se j</a:t>
            </a:r>
            <a:r>
              <a:rPr lang="en"/>
              <a:t>ednoduše píše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Pokud píšete jednoduchý skript na pár řádků, pak ano.</a:t>
            </a:r>
            <a:endParaRPr b="1" sz="20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000"/>
              <a:t>Ale pokud chcete parametrizovat, složitější funkcionalitu, používat api a knihovny, autocomplete, … tak pak už zas tak dobře ne.</a:t>
            </a:r>
            <a:endParaRPr b="1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Distribuce shell scriptů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Skripty v jednom Git repozitáři jsou fajn ale …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Distribuce do míst bez Gitu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Používání v CI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Používání v kontejneru</a:t>
            </a:r>
            <a:endParaRPr b="1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Ř</a:t>
            </a:r>
            <a:r>
              <a:rPr b="1" lang="en" sz="5000"/>
              <a:t>ešení?</a:t>
            </a:r>
            <a:endParaRPr b="1" sz="5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Python</a:t>
            </a:r>
            <a:r>
              <a:rPr b="1" lang="en" sz="5000"/>
              <a:t> 🎉</a:t>
            </a:r>
            <a:endParaRPr b="1" sz="5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Python</a:t>
            </a:r>
            <a:r>
              <a:rPr b="1" lang="en" sz="5000"/>
              <a:t> 😔</a:t>
            </a:r>
            <a:endParaRPr b="1" sz="5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Python jeden problém řeší, ostatní zhoršuje</a:t>
            </a:r>
            <a:endParaRPr b="1" sz="5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řeší: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Jednodušší a rychlejší vývoj než v SH / BASH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Používaní knihoven, práce s API, SDKs, …</a:t>
            </a:r>
            <a:endParaRPr b="1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zhoršuje: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Python není všude a když je, tak v různých verzích (2 vs 3)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Instalace závislosti a knihoven není ideální (virtualenv …)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Distribuce pořád není jedna binárka</a:t>
            </a:r>
            <a:endParaRPr b="1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Ř</a:t>
            </a:r>
            <a:r>
              <a:rPr b="1" lang="en" sz="5000"/>
              <a:t>ešení?</a:t>
            </a:r>
            <a:endParaRPr b="1" sz="5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887" y="541375"/>
            <a:ext cx="2984216" cy="40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CLI tool v Go </a:t>
            </a:r>
            <a:r>
              <a:rPr b="1" lang="en" sz="5000">
                <a:solidFill>
                  <a:schemeClr val="hlink"/>
                </a:solidFill>
              </a:rPr>
              <a:t>🎉🎉🎉</a:t>
            </a:r>
            <a:endParaRPr b="1" sz="5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Proč CLI tool v Go?</a:t>
            </a:r>
            <a:endParaRPr b="1" sz="5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Staticky linkované binárky</a:t>
            </a:r>
            <a:endParaRPr/>
          </a:p>
        </p:txBody>
      </p:sp>
      <p:sp>
        <p:nvSpPr>
          <p:cNvPr id="214" name="Google Shape;214;p38"/>
          <p:cNvSpPr txBox="1"/>
          <p:nvPr>
            <p:ph idx="1" type="body"/>
          </p:nvPr>
        </p:nvSpPr>
        <p:spPr>
          <a:xfrm>
            <a:off x="311700" y="962625"/>
            <a:ext cx="85206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Go nepotřebuje pro svůj běh NIC (žádné závislosti)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Velmi jednoduchý způsob jak vytvořit staticky linkovanou binárku</a:t>
            </a:r>
            <a:endParaRPr b="1" sz="20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	</a:t>
            </a:r>
            <a:r>
              <a:rPr b="1" lang="en" sz="2000">
                <a:latin typeface="IBM Plex Mono"/>
                <a:ea typeface="IBM Plex Mono"/>
                <a:cs typeface="IBM Plex Mono"/>
                <a:sym typeface="IBM Plex Mono"/>
              </a:rPr>
              <a:t>CGO_ENABLED=0 go build</a:t>
            </a:r>
            <a:endParaRPr b="1" sz="2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Binárka pro každý OS a arch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◻"/>
            </a:pPr>
            <a:r>
              <a:rPr b="1" lang="en" sz="2000"/>
              <a:t>Linux, Mac, Windows, …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◻"/>
            </a:pPr>
            <a:r>
              <a:rPr b="1" lang="en" sz="2000"/>
              <a:t>amd64, arm64, …</a:t>
            </a:r>
            <a:endParaRPr b="1" sz="2000"/>
          </a:p>
        </p:txBody>
      </p:sp>
      <p:pic>
        <p:nvPicPr>
          <p:cNvPr id="215" name="Google Shape;2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1450" y="3023100"/>
            <a:ext cx="4406800" cy="158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Goreleaser</a:t>
            </a:r>
            <a:endParaRPr/>
          </a:p>
        </p:txBody>
      </p:sp>
      <p:sp>
        <p:nvSpPr>
          <p:cNvPr id="221" name="Google Shape;221;p39"/>
          <p:cNvSpPr txBox="1"/>
          <p:nvPr>
            <p:ph idx="1" type="body"/>
          </p:nvPr>
        </p:nvSpPr>
        <p:spPr>
          <a:xfrm>
            <a:off x="311700" y="1250150"/>
            <a:ext cx="82203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Build binárek (pro všechny platformy)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Build &amp; push Docker image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upload binárek na Github / Gitlab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Vytvoří Brew a Scoop balíčky</a:t>
            </a:r>
            <a:endParaRPr b="1" sz="2000"/>
          </a:p>
        </p:txBody>
      </p:sp>
      <p:pic>
        <p:nvPicPr>
          <p:cNvPr id="222" name="Google Shape;2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8350" y="205250"/>
            <a:ext cx="3163950" cy="31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Distribuce Go binárek</a:t>
            </a:r>
            <a:endParaRPr/>
          </a:p>
        </p:txBody>
      </p:sp>
      <p:sp>
        <p:nvSpPr>
          <p:cNvPr id="228" name="Google Shape;228;p40"/>
          <p:cNvSpPr txBox="1"/>
          <p:nvPr>
            <p:ph idx="1" type="body"/>
          </p:nvPr>
        </p:nvSpPr>
        <p:spPr>
          <a:xfrm>
            <a:off x="311700" y="1250150"/>
            <a:ext cx="82203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Díky Goreleaseru máme distribuci velmi jednoduchou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brew install my-cli-tool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curl -fsSL https://…/my-cli-tool/master/install.sh | sh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scoop install https://…/scoop-bucket/master/my-cli-tool.json</a:t>
            </a:r>
            <a:endParaRPr b="1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1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Cobra &amp; Viper</a:t>
            </a:r>
            <a:endParaRPr b="1" sz="5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Cobra</a:t>
            </a:r>
            <a:endParaRPr/>
          </a:p>
        </p:txBody>
      </p:sp>
      <p:sp>
        <p:nvSpPr>
          <p:cNvPr id="240" name="Google Shape;240;p42"/>
          <p:cNvSpPr txBox="1"/>
          <p:nvPr>
            <p:ph idx="1" type="body"/>
          </p:nvPr>
        </p:nvSpPr>
        <p:spPr>
          <a:xfrm>
            <a:off x="311700" y="1250150"/>
            <a:ext cx="84639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Cobra je skvělá knihovna pro psaní CLI nástrojů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Používá ji většina CLI nástrojů jako je Docker, Kubernetes, Helm, ArgoCD, …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Velmi jednoduše a příjemně se používá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Automaticky generuje completion pro BASH, ZSH, Powershell, </a:t>
            </a:r>
            <a:r>
              <a:rPr b="1" lang="en" sz="2000"/>
              <a:t>…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Generuje dokumentaci</a:t>
            </a:r>
            <a:endParaRPr b="1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Viper</a:t>
            </a:r>
            <a:endParaRPr/>
          </a:p>
        </p:txBody>
      </p:sp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311700" y="1250150"/>
            <a:ext cx="84639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Viper je knihovna na práci s konfiguračními soubory a ENV variables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setting defaults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reading from JSON, TOML, YAML, …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reading from environment variables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reading from remote config systems (etcd or Consul)</a:t>
            </a:r>
            <a:endParaRPr b="1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Completion</a:t>
            </a:r>
            <a:endParaRPr/>
          </a:p>
        </p:txBody>
      </p:sp>
      <p:sp>
        <p:nvSpPr>
          <p:cNvPr id="252" name="Google Shape;252;p44"/>
          <p:cNvSpPr txBox="1"/>
          <p:nvPr>
            <p:ph idx="1" type="body"/>
          </p:nvPr>
        </p:nvSpPr>
        <p:spPr>
          <a:xfrm>
            <a:off x="311700" y="1250150"/>
            <a:ext cx="86649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Podporuje BASH, ZSH, FISH a PowerShell</a:t>
            </a:r>
            <a:endParaRPr b="1" sz="20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Source in current shell</a:t>
            </a:r>
            <a:br>
              <a:rPr b="1" lang="en" sz="2000"/>
            </a:br>
            <a:r>
              <a:rPr b="1" lang="en" sz="2000"/>
              <a:t>	</a:t>
            </a:r>
            <a:r>
              <a:rPr b="1" lang="en" sz="2000">
                <a:latin typeface="IBM Plex Mono"/>
                <a:ea typeface="IBM Plex Mono"/>
                <a:cs typeface="IBM Plex Mono"/>
                <a:sym typeface="IBM Plex Mono"/>
              </a:rPr>
              <a:t>. &lt;(my-cli-tool completion bash)</a:t>
            </a:r>
            <a:endParaRPr b="1" sz="2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Add to .bashrc</a:t>
            </a:r>
            <a:br>
              <a:rPr b="1" lang="en" sz="2000"/>
            </a:br>
            <a:r>
              <a:rPr b="1" lang="en" sz="2000"/>
              <a:t>	</a:t>
            </a:r>
            <a:r>
              <a:rPr b="1" lang="en" sz="2000">
                <a:latin typeface="IBM Plex Mono"/>
                <a:ea typeface="IBM Plex Mono"/>
                <a:cs typeface="IBM Plex Mono"/>
                <a:sym typeface="IBM Plex Mono"/>
              </a:rPr>
              <a:t>echo ". &lt;(my-cli-tool completion bash)" &gt;&gt; ~/.bashrc</a:t>
            </a:r>
            <a:endParaRPr b="1" sz="2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Generovaná Dokumentace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13" y="961150"/>
            <a:ext cx="7418476" cy="36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6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Moje CLI tooly  v Go</a:t>
            </a:r>
            <a:endParaRPr b="1" sz="5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Moje CLI tooly v Go</a:t>
            </a:r>
            <a:endParaRPr/>
          </a:p>
        </p:txBody>
      </p:sp>
      <p:sp>
        <p:nvSpPr>
          <p:cNvPr id="270" name="Google Shape;270;p47"/>
          <p:cNvSpPr txBox="1"/>
          <p:nvPr>
            <p:ph idx="1" type="body"/>
          </p:nvPr>
        </p:nvSpPr>
        <p:spPr>
          <a:xfrm>
            <a:off x="311700" y="1250150"/>
            <a:ext cx="84639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slu - všechny možné </a:t>
            </a:r>
            <a:r>
              <a:rPr b="1" lang="en" sz="2000"/>
              <a:t>utility, co se můžou hodit (SikaLabs Utils)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training-cli - Nástroj pro zjednodušení přípravy mých školení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tergum - Backup nástroj</a:t>
            </a:r>
            <a:endParaRPr b="1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8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github.com/sikalabs/slu</a:t>
            </a:r>
            <a:endParaRPr b="1" sz="5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934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23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8096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320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3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800"/>
              <a:t>github.com/ondrejsika/training-cli</a:t>
            </a:r>
            <a:endParaRPr b="1" sz="3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320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5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Shrnutí</a:t>
            </a:r>
            <a:endParaRPr b="1" sz="5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Shrnutí</a:t>
            </a:r>
            <a:endParaRPr/>
          </a:p>
        </p:txBody>
      </p:sp>
      <p:sp>
        <p:nvSpPr>
          <p:cNvPr id="324" name="Google Shape;324;p56"/>
          <p:cNvSpPr txBox="1"/>
          <p:nvPr>
            <p:ph idx="1" type="body"/>
          </p:nvPr>
        </p:nvSpPr>
        <p:spPr>
          <a:xfrm>
            <a:off x="311700" y="1250150"/>
            <a:ext cx="8142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CLI tooly v Go jsou super, vyzkoušeno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Skvěle se používají a distribuují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n" sz="2000"/>
              <a:t>Jednoduše a rychle se vyvíjí</a:t>
            </a:r>
            <a:endParaRPr b="1"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Díky za pozornost</a:t>
            </a:r>
            <a:endParaRPr b="1" sz="75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8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Otázky?</a:t>
            </a:r>
            <a:endParaRPr b="1" sz="75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9"/>
          <p:cNvSpPr txBox="1"/>
          <p:nvPr>
            <p:ph type="title"/>
          </p:nvPr>
        </p:nvSpPr>
        <p:spPr>
          <a:xfrm>
            <a:off x="283100" y="712150"/>
            <a:ext cx="8518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</a:rPr>
              <a:t>Email</a:t>
            </a:r>
            <a:br>
              <a:rPr lang="en">
                <a:solidFill>
                  <a:srgbClr val="FFFFFF"/>
                </a:solidFill>
              </a:rPr>
            </a:br>
            <a:r>
              <a:rPr lang="en" sz="4200">
                <a:solidFill>
                  <a:srgbClr val="FFFFFF"/>
                </a:solidFill>
              </a:rPr>
              <a:t>ondrej@sika.io</a:t>
            </a:r>
            <a:endParaRPr sz="4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Twitter</a:t>
            </a:r>
            <a:endParaRPr b="0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@ondrejsika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LinkedIn</a:t>
            </a:r>
            <a:endParaRPr b="0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/in/ondrejsika</a:t>
            </a:r>
            <a:endParaRPr sz="4200">
              <a:solidFill>
                <a:srgbClr val="FFFFFF"/>
              </a:solidFill>
            </a:endParaRPr>
          </a:p>
        </p:txBody>
      </p:sp>
      <p:pic>
        <p:nvPicPr>
          <p:cNvPr id="342" name="Google Shape;34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drej Sika - prezentace tmava v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E1E1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